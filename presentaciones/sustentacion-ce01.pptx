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 David Robert Yucra Mamani) "Buenas tardes. Vamos a sustentar la línea CE01 de nuestro perfil de egreso: cuatro entregables que explican por qué se construyó la Plataforma CERMAT, no solo cómo. Tenemos 15 minutos, así que vamos directo al punto."</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 David Robert Yucra Mamani) "El orden es siempre el mismo: primero por qué era necesario el proyecto, después por qué esta solución y no otra, cómo se organizó, y qué cambió en la práctica. Cada uno de nosotros expone un entregable."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"Antes de hablar del sistema, hay que entender la academia: es un negocio donde los padres eligen según qué tan organizada se ve la institución. Por eso el seguimiento del alumno no es un detalle técnico, es el argumento de venta de CERMAT."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"Hicimos este FODA sobre la academia, no sobre el sistema. Las dos fortalezas que mencionamos — portales por rol y QR — ya existen, no son promesas. Y las amenazas, como la protección de datos de menores, las resolvemos en la línea de infraestructura."</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nivel de madurez digital era medio-alto para el sector — ya hay una plataforma en producción — pero antes de ella, CERMAT operaba exactamente como el resto de academias de la zona: cuadernos, Excel y mensajería informal."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"Esta frase es el punto de partida de todo el perfil de egreso: el Business Case la retoma para justificar la inversión, y la línea de Ingeniería de Software la resuelve técnicamente."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son objetivos a futuro: los tres ya están en producción. Eso es lo que hace que este business case sea distinto — no estamos proyectando, estamos evaluando algo que ya funciona."</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diferencia no está en el costo — el SaaS incluso pesa parecido en costo aparente. Está en el ajuste al flujo real: sedes, ciclos, turnos y grupos de CERMAT no son genéricos, y una plataforma propia es la única opción que se adapta al 100% y deja los datos en manos de la institución."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"Aclaramos siempre que estas cifras son estimadas para fines de sustentación, no reemplazan la contabilidad formal de la institución — eso es parte de la honestidad técnica de todo este perfil de egreso."</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riesgo más real es el primero: somos un equipo pequeño. Por eso insistimos tanto en documentar todo — este perfil de egreso es, literalmente, la mitigación de ese riesgo."</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"Marcamos con claridad qué NO incluye esta fase — pasarela de pagos automática y app móvil nativa — para que el jurado vea que el alcance fue una decisión consciente, no un olvido."</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"Cada rama de esta EDT no es teórica: corresponde uno a uno con una carpeta features/ real del repositorio, con su propio esquema de datos y sus propias pantallas."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"Más de 90 documentos de fase y auditoría respaldan este cronograma — no es una promesa retroactiva, es historial real verificable por control de versiones."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"Decidimos ser honestos: no forzamos una notación Scrum que no usamos de verdad. Nuestro backlog priorizado por dominio funciona igual, solo que con otro nombre — fases, no sprints."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"Antes, confirmar una matrícula tomaba de un día a varios días, y el padre no recibía ninguna confirmación formal — todo dependía de una llamada o de la memoria de secretaría."</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"Esto no es diagrama de intención: está implementado en features/enrollments del repositorio, con auditoría propia documentando la deduplicación."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"Este cuadro es el cierre de la línea CE01: el diagnóstico identificó el problema, el business case lo justificó económicamente, el plan lo organizó, y este modelado prueba, dimensión por dimensión, que el proceso realmente mejoró."</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 David Robert Yucra Mamani) "Con esto cerramos la línea CE01. Quedamos atentos a sus preguntas."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B2559"/>
        </a:solidFill>
        <a:effectLst/>
      </p:bgPr>
    </p:bg>
    <p:spTree>
      <p:nvGrpSpPr>
        <p:cNvPr id="1" name=""/>
        <p:cNvGrpSpPr/>
        <p:nvPr/>
      </p:nvGrpSpPr>
      <p:grpSpPr/>
      <p:sp>
        <p:nvSpPr>
          <p:cNvPr id="2" name="TextBox 1"/>
          <p:cNvSpPr txBox="1"/>
          <p:nvPr/>
        </p:nvSpPr>
        <p:spPr>
          <a:xfrm>
            <a:off x="731520" y="822960"/>
            <a:ext cx="9144000" cy="320040"/>
          </a:xfrm>
          <a:prstGeom prst="rect">
            <a:avLst/>
          </a:prstGeom>
          <a:noFill/>
        </p:spPr>
        <p:txBody>
          <a:bodyPr wrap="square" anchor="t" lIns="0" rIns="0" tIns="0" bIns="0">
            <a:spAutoFit/>
          </a:bodyPr>
          <a:lstStyle/>
          <a:p>
            <a:pPr algn="l">
              <a:lnSpc>
                <a:spcPct val="100000"/>
              </a:lnSpc>
              <a:spcAft>
                <a:spcPts val="0"/>
              </a:spcAft>
            </a:pPr>
            <a:r>
              <a:rPr sz="1250" b="1" i="0">
                <a:solidFill>
                  <a:srgbClr val="AAB6FF"/>
                </a:solidFill>
                <a:latin typeface="Segoe UI"/>
              </a:rPr>
              <a:t>SUSTENTACIÓN · LÍNEA CE01 — GESTIÓN DE TECNOLOGÍAS DE INFORMACIÓN</a:t>
            </a:r>
          </a:p>
        </p:txBody>
      </p:sp>
      <p:sp>
        <p:nvSpPr>
          <p:cNvPr id="3" name="TextBox 2"/>
          <p:cNvSpPr txBox="1"/>
          <p:nvPr/>
        </p:nvSpPr>
        <p:spPr>
          <a:xfrm>
            <a:off x="731520" y="1371600"/>
            <a:ext cx="10515600" cy="2011680"/>
          </a:xfrm>
          <a:prstGeom prst="rect">
            <a:avLst/>
          </a:prstGeom>
          <a:noFill/>
        </p:spPr>
        <p:txBody>
          <a:bodyPr wrap="square" anchor="t" lIns="0" rIns="0" tIns="0" bIns="0">
            <a:spAutoFit/>
          </a:bodyPr>
          <a:lstStyle/>
          <a:p>
            <a:pPr algn="l">
              <a:lnSpc>
                <a:spcPct val="105000"/>
              </a:lnSpc>
              <a:spcAft>
                <a:spcPts val="0"/>
              </a:spcAft>
            </a:pPr>
            <a:r>
              <a:rPr sz="3800" b="0" i="0">
                <a:solidFill>
                  <a:srgbClr val="FFFFFF"/>
                </a:solidFill>
                <a:latin typeface="Segoe UI"/>
              </a:rPr>
              <a:t>Diagnóstico, Business Case,</a:t>
            </a:r>
          </a:p>
          <a:p>
            <a:pPr algn="l">
              <a:lnSpc>
                <a:spcPct val="105000"/>
              </a:lnSpc>
              <a:spcAft>
                <a:spcPts val="0"/>
              </a:spcAft>
            </a:pPr>
            <a:r>
              <a:rPr sz="3800" b="0" i="0">
                <a:solidFill>
                  <a:srgbClr val="FFFFFF"/>
                </a:solidFill>
                <a:latin typeface="Segoe UI"/>
              </a:rPr>
              <a:t>Plan de Gestión y Modelado de Procesos</a:t>
            </a:r>
          </a:p>
        </p:txBody>
      </p:sp>
      <p:sp>
        <p:nvSpPr>
          <p:cNvPr id="4" name="TextBox 3"/>
          <p:cNvSpPr txBox="1"/>
          <p:nvPr/>
        </p:nvSpPr>
        <p:spPr>
          <a:xfrm>
            <a:off x="731520" y="3246120"/>
            <a:ext cx="8686800" cy="640080"/>
          </a:xfrm>
          <a:prstGeom prst="rect">
            <a:avLst/>
          </a:prstGeom>
          <a:noFill/>
        </p:spPr>
        <p:txBody>
          <a:bodyPr wrap="square" anchor="t" lIns="0" rIns="0" tIns="0" bIns="0">
            <a:spAutoFit/>
          </a:bodyPr>
          <a:lstStyle/>
          <a:p>
            <a:pPr algn="l">
              <a:lnSpc>
                <a:spcPct val="100000"/>
              </a:lnSpc>
              <a:spcAft>
                <a:spcPts val="0"/>
              </a:spcAft>
            </a:pPr>
            <a:r>
              <a:rPr sz="1500" b="0" i="0">
                <a:solidFill>
                  <a:srgbClr val="9AA4DE"/>
                </a:solidFill>
                <a:latin typeface="Segoe UI"/>
              </a:rPr>
              <a:t>Plataforma Web Integral de Gestión Académica CERMAT — un sistema en producción, no un prototipo.</a:t>
            </a:r>
          </a:p>
        </p:txBody>
      </p:sp>
      <p:sp>
        <p:nvSpPr>
          <p:cNvPr id="5" name="Rectangle 4"/>
          <p:cNvSpPr/>
          <p:nvPr/>
        </p:nvSpPr>
        <p:spPr>
          <a:xfrm>
            <a:off x="731520" y="3977639"/>
            <a:ext cx="10515600" cy="12700"/>
          </a:xfrm>
          <a:prstGeom prst="rect">
            <a:avLst/>
          </a:prstGeom>
          <a:solidFill>
            <a:srgbClr val="333C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4206240"/>
            <a:ext cx="2423160" cy="274320"/>
          </a:xfrm>
          <a:prstGeom prst="rect">
            <a:avLst/>
          </a:prstGeom>
          <a:noFill/>
        </p:spPr>
        <p:txBody>
          <a:bodyPr wrap="square" anchor="t" lIns="0" rIns="0" tIns="0" bIns="0">
            <a:spAutoFit/>
          </a:bodyPr>
          <a:lstStyle/>
          <a:p>
            <a:pPr algn="l">
              <a:lnSpc>
                <a:spcPct val="100000"/>
              </a:lnSpc>
              <a:spcAft>
                <a:spcPts val="0"/>
              </a:spcAft>
            </a:pPr>
            <a:r>
              <a:rPr sz="1050" b="1" i="0">
                <a:solidFill>
                  <a:srgbClr val="8B96E0"/>
                </a:solidFill>
                <a:latin typeface="Segoe UI"/>
              </a:rPr>
              <a:t>LÍDER</a:t>
            </a:r>
          </a:p>
        </p:txBody>
      </p:sp>
      <p:sp>
        <p:nvSpPr>
          <p:cNvPr id="7" name="TextBox 6"/>
          <p:cNvSpPr txBox="1"/>
          <p:nvPr/>
        </p:nvSpPr>
        <p:spPr>
          <a:xfrm>
            <a:off x="731520" y="4498848"/>
            <a:ext cx="2423160" cy="548640"/>
          </a:xfrm>
          <a:prstGeom prst="rect">
            <a:avLst/>
          </a:prstGeom>
          <a:noFill/>
        </p:spPr>
        <p:txBody>
          <a:bodyPr wrap="square" anchor="t" lIns="0" rIns="0" tIns="0" bIns="0">
            <a:spAutoFit/>
          </a:bodyPr>
          <a:lstStyle/>
          <a:p>
            <a:pPr algn="l">
              <a:lnSpc>
                <a:spcPct val="100000"/>
              </a:lnSpc>
              <a:spcAft>
                <a:spcPts val="0"/>
              </a:spcAft>
            </a:pPr>
            <a:r>
              <a:rPr sz="1400" b="0" i="0">
                <a:solidFill>
                  <a:srgbClr val="FFFFFF"/>
                </a:solidFill>
                <a:latin typeface="Segoe UI"/>
              </a:rPr>
              <a:t>David Robert Yucra Mamani</a:t>
            </a:r>
          </a:p>
        </p:txBody>
      </p:sp>
      <p:sp>
        <p:nvSpPr>
          <p:cNvPr id="8" name="TextBox 7"/>
          <p:cNvSpPr txBox="1"/>
          <p:nvPr/>
        </p:nvSpPr>
        <p:spPr>
          <a:xfrm>
            <a:off x="3337560" y="4206240"/>
            <a:ext cx="2423160" cy="274320"/>
          </a:xfrm>
          <a:prstGeom prst="rect">
            <a:avLst/>
          </a:prstGeom>
          <a:noFill/>
        </p:spPr>
        <p:txBody>
          <a:bodyPr wrap="square" anchor="t" lIns="0" rIns="0" tIns="0" bIns="0">
            <a:spAutoFit/>
          </a:bodyPr>
          <a:lstStyle/>
          <a:p>
            <a:pPr algn="l">
              <a:lnSpc>
                <a:spcPct val="100000"/>
              </a:lnSpc>
              <a:spcAft>
                <a:spcPts val="0"/>
              </a:spcAft>
            </a:pPr>
            <a:r>
              <a:rPr sz="1050" b="1" i="0">
                <a:solidFill>
                  <a:srgbClr val="8B96E0"/>
                </a:solidFill>
                <a:latin typeface="Segoe UI"/>
              </a:rPr>
              <a:t>INTEGRANTE</a:t>
            </a:r>
          </a:p>
        </p:txBody>
      </p:sp>
      <p:sp>
        <p:nvSpPr>
          <p:cNvPr id="9" name="TextBox 8"/>
          <p:cNvSpPr txBox="1"/>
          <p:nvPr/>
        </p:nvSpPr>
        <p:spPr>
          <a:xfrm>
            <a:off x="3337560" y="4498848"/>
            <a:ext cx="2423160" cy="548640"/>
          </a:xfrm>
          <a:prstGeom prst="rect">
            <a:avLst/>
          </a:prstGeom>
          <a:noFill/>
        </p:spPr>
        <p:txBody>
          <a:bodyPr wrap="square" anchor="t" lIns="0" rIns="0" tIns="0" bIns="0">
            <a:spAutoFit/>
          </a:bodyPr>
          <a:lstStyle/>
          <a:p>
            <a:pPr algn="l">
              <a:lnSpc>
                <a:spcPct val="100000"/>
              </a:lnSpc>
              <a:spcAft>
                <a:spcPts val="0"/>
              </a:spcAft>
            </a:pPr>
            <a:r>
              <a:rPr sz="1400" b="0" i="0">
                <a:solidFill>
                  <a:srgbClr val="FFFFFF"/>
                </a:solidFill>
                <a:latin typeface="Segoe UI"/>
              </a:rPr>
              <a:t>Gladys Rosaura Yana Pari</a:t>
            </a:r>
          </a:p>
        </p:txBody>
      </p:sp>
      <p:sp>
        <p:nvSpPr>
          <p:cNvPr id="10" name="TextBox 9"/>
          <p:cNvSpPr txBox="1"/>
          <p:nvPr/>
        </p:nvSpPr>
        <p:spPr>
          <a:xfrm>
            <a:off x="5943600" y="4206240"/>
            <a:ext cx="2423160" cy="274320"/>
          </a:xfrm>
          <a:prstGeom prst="rect">
            <a:avLst/>
          </a:prstGeom>
          <a:noFill/>
        </p:spPr>
        <p:txBody>
          <a:bodyPr wrap="square" anchor="t" lIns="0" rIns="0" tIns="0" bIns="0">
            <a:spAutoFit/>
          </a:bodyPr>
          <a:lstStyle/>
          <a:p>
            <a:pPr algn="l">
              <a:lnSpc>
                <a:spcPct val="100000"/>
              </a:lnSpc>
              <a:spcAft>
                <a:spcPts val="0"/>
              </a:spcAft>
            </a:pPr>
            <a:r>
              <a:rPr sz="1050" b="1" i="0">
                <a:solidFill>
                  <a:srgbClr val="8B96E0"/>
                </a:solidFill>
                <a:latin typeface="Segoe UI"/>
              </a:rPr>
              <a:t>INTEGRANTE</a:t>
            </a:r>
          </a:p>
        </p:txBody>
      </p:sp>
      <p:sp>
        <p:nvSpPr>
          <p:cNvPr id="11" name="TextBox 10"/>
          <p:cNvSpPr txBox="1"/>
          <p:nvPr/>
        </p:nvSpPr>
        <p:spPr>
          <a:xfrm>
            <a:off x="5943600" y="4498848"/>
            <a:ext cx="2423160" cy="548640"/>
          </a:xfrm>
          <a:prstGeom prst="rect">
            <a:avLst/>
          </a:prstGeom>
          <a:noFill/>
        </p:spPr>
        <p:txBody>
          <a:bodyPr wrap="square" anchor="t" lIns="0" rIns="0" tIns="0" bIns="0">
            <a:spAutoFit/>
          </a:bodyPr>
          <a:lstStyle/>
          <a:p>
            <a:pPr algn="l">
              <a:lnSpc>
                <a:spcPct val="100000"/>
              </a:lnSpc>
              <a:spcAft>
                <a:spcPts val="0"/>
              </a:spcAft>
            </a:pPr>
            <a:r>
              <a:rPr sz="1400" b="0" i="0">
                <a:solidFill>
                  <a:srgbClr val="FFFFFF"/>
                </a:solidFill>
                <a:latin typeface="Segoe UI"/>
              </a:rPr>
              <a:t>Denilson Leeke Mamani Flores</a:t>
            </a:r>
          </a:p>
        </p:txBody>
      </p:sp>
      <p:sp>
        <p:nvSpPr>
          <p:cNvPr id="12" name="TextBox 11"/>
          <p:cNvSpPr txBox="1"/>
          <p:nvPr/>
        </p:nvSpPr>
        <p:spPr>
          <a:xfrm>
            <a:off x="8549640" y="4206240"/>
            <a:ext cx="2423160" cy="274320"/>
          </a:xfrm>
          <a:prstGeom prst="rect">
            <a:avLst/>
          </a:prstGeom>
          <a:noFill/>
        </p:spPr>
        <p:txBody>
          <a:bodyPr wrap="square" anchor="t" lIns="0" rIns="0" tIns="0" bIns="0">
            <a:spAutoFit/>
          </a:bodyPr>
          <a:lstStyle/>
          <a:p>
            <a:pPr algn="l">
              <a:lnSpc>
                <a:spcPct val="100000"/>
              </a:lnSpc>
              <a:spcAft>
                <a:spcPts val="0"/>
              </a:spcAft>
            </a:pPr>
            <a:r>
              <a:rPr sz="1050" b="1" i="0">
                <a:solidFill>
                  <a:srgbClr val="8B96E0"/>
                </a:solidFill>
                <a:latin typeface="Segoe UI"/>
              </a:rPr>
              <a:t>INTEGRANTE</a:t>
            </a:r>
          </a:p>
        </p:txBody>
      </p:sp>
      <p:sp>
        <p:nvSpPr>
          <p:cNvPr id="13" name="TextBox 12"/>
          <p:cNvSpPr txBox="1"/>
          <p:nvPr/>
        </p:nvSpPr>
        <p:spPr>
          <a:xfrm>
            <a:off x="8549640" y="4498848"/>
            <a:ext cx="2423160" cy="548640"/>
          </a:xfrm>
          <a:prstGeom prst="rect">
            <a:avLst/>
          </a:prstGeom>
          <a:noFill/>
        </p:spPr>
        <p:txBody>
          <a:bodyPr wrap="square" anchor="t" lIns="0" rIns="0" tIns="0" bIns="0">
            <a:spAutoFit/>
          </a:bodyPr>
          <a:lstStyle/>
          <a:p>
            <a:pPr algn="l">
              <a:lnSpc>
                <a:spcPct val="100000"/>
              </a:lnSpc>
              <a:spcAft>
                <a:spcPts val="0"/>
              </a:spcAft>
            </a:pPr>
            <a:r>
              <a:rPr sz="1400" b="0" i="0">
                <a:solidFill>
                  <a:srgbClr val="FFFFFF"/>
                </a:solidFill>
                <a:latin typeface="Segoe UI"/>
              </a:rPr>
              <a:t>Cárdenas Vilca Rennzo</a:t>
            </a:r>
          </a:p>
        </p:txBody>
      </p:sp>
      <p:sp>
        <p:nvSpPr>
          <p:cNvPr id="14" name="TextBox 13"/>
          <p:cNvSpPr txBox="1"/>
          <p:nvPr/>
        </p:nvSpPr>
        <p:spPr>
          <a:xfrm>
            <a:off x="731520" y="5349240"/>
            <a:ext cx="10058400" cy="365760"/>
          </a:xfrm>
          <a:prstGeom prst="rect">
            <a:avLst/>
          </a:prstGeom>
          <a:noFill/>
        </p:spPr>
        <p:txBody>
          <a:bodyPr wrap="square" anchor="t" lIns="0" rIns="0" tIns="0" bIns="0">
            <a:spAutoFit/>
          </a:bodyPr>
          <a:lstStyle/>
          <a:p>
            <a:pPr algn="l">
              <a:lnSpc>
                <a:spcPct val="100000"/>
              </a:lnSpc>
              <a:spcAft>
                <a:spcPts val="0"/>
              </a:spcAft>
            </a:pPr>
            <a:r>
              <a:rPr sz="1150" b="0" i="0">
                <a:solidFill>
                  <a:srgbClr val="9AA4DE"/>
                </a:solidFill>
                <a:latin typeface="Segoe UI"/>
              </a:rPr>
              <a:t>Academia La Prepa Cermat · Azángaro, Perú      9° ciclo      Perfil de Egreso (EPE) 2026</a:t>
            </a:r>
          </a:p>
        </p:txBody>
      </p:sp>
      <p:sp>
        <p:nvSpPr>
          <p:cNvPr id="15" name="TextBox 14"/>
          <p:cNvSpPr txBox="1"/>
          <p:nvPr/>
        </p:nvSpPr>
        <p:spPr>
          <a:xfrm>
            <a:off x="731520" y="5852160"/>
            <a:ext cx="10058400" cy="365760"/>
          </a:xfrm>
          <a:prstGeom prst="rect">
            <a:avLst/>
          </a:prstGeom>
          <a:noFill/>
        </p:spPr>
        <p:txBody>
          <a:bodyPr wrap="square" anchor="t" lIns="0" rIns="0" tIns="0" bIns="0">
            <a:spAutoFit/>
          </a:bodyPr>
          <a:lstStyle/>
          <a:p>
            <a:pPr algn="l">
              <a:lnSpc>
                <a:spcPct val="100000"/>
              </a:lnSpc>
              <a:spcAft>
                <a:spcPts val="0"/>
              </a:spcAft>
            </a:pPr>
            <a:r>
              <a:rPr sz="1150" b="1" i="0">
                <a:solidFill>
                  <a:srgbClr val="AAB6FF"/>
                </a:solidFill>
                <a:latin typeface="Segoe UI"/>
              </a:rPr>
              <a:t>Duración objetivo: 15 minutos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6F7FB"/>
        </a:solidFill>
        <a:effectLst/>
      </p:bgPr>
    </p:bg>
    <p:spTree>
      <p:nvGrpSpPr>
        <p:cNvPr id="1" name=""/>
        <p:cNvGrpSpPr/>
        <p:nvPr/>
      </p:nvGrpSpPr>
      <p:grpSpPr/>
      <p:sp>
        <p:nvSpPr>
          <p:cNvPr id="2" name="TextBox 1"/>
          <p:cNvSpPr txBox="1"/>
          <p:nvPr/>
        </p:nvSpPr>
        <p:spPr>
          <a:xfrm>
            <a:off x="731520" y="640080"/>
            <a:ext cx="7315200" cy="320040"/>
          </a:xfrm>
          <a:prstGeom prst="rect">
            <a:avLst/>
          </a:prstGeom>
          <a:noFill/>
        </p:spPr>
        <p:txBody>
          <a:bodyPr wrap="square" anchor="t" lIns="0" rIns="0" tIns="0" bIns="0">
            <a:spAutoFit/>
          </a:bodyPr>
          <a:lstStyle/>
          <a:p>
            <a:pPr algn="l">
              <a:lnSpc>
                <a:spcPct val="100000"/>
              </a:lnSpc>
              <a:spcAft>
                <a:spcPts val="0"/>
              </a:spcAft>
            </a:pPr>
            <a:r>
              <a:rPr sz="1250" b="1" i="0">
                <a:solidFill>
                  <a:srgbClr val="3B5BDB"/>
                </a:solidFill>
                <a:latin typeface="Segoe UI"/>
              </a:rPr>
              <a:t>AGENDA · 15 MINUTOS</a:t>
            </a:r>
          </a:p>
        </p:txBody>
      </p:sp>
      <p:sp>
        <p:nvSpPr>
          <p:cNvPr id="3" name="TextBox 2"/>
          <p:cNvSpPr txBox="1"/>
          <p:nvPr/>
        </p:nvSpPr>
        <p:spPr>
          <a:xfrm>
            <a:off x="731520" y="1005840"/>
            <a:ext cx="9601200" cy="822960"/>
          </a:xfrm>
          <a:prstGeom prst="rect">
            <a:avLst/>
          </a:prstGeom>
          <a:noFill/>
        </p:spPr>
        <p:txBody>
          <a:bodyPr wrap="square" anchor="t" lIns="0" rIns="0" tIns="0" bIns="0">
            <a:spAutoFit/>
          </a:bodyPr>
          <a:lstStyle/>
          <a:p>
            <a:pPr algn="l">
              <a:lnSpc>
                <a:spcPct val="100000"/>
              </a:lnSpc>
              <a:spcAft>
                <a:spcPts val="0"/>
              </a:spcAft>
            </a:pPr>
            <a:r>
              <a:rPr sz="2600" b="0" i="0">
                <a:solidFill>
                  <a:srgbClr val="1B2559"/>
                </a:solidFill>
                <a:latin typeface="Segoe UI"/>
              </a:rPr>
              <a:t>Cuatro entregables, un mismo hilo: del diagnóstico a la ejecución</a:t>
            </a:r>
          </a:p>
        </p:txBody>
      </p:sp>
      <p:sp>
        <p:nvSpPr>
          <p:cNvPr id="4" name="Rectangle 3"/>
          <p:cNvSpPr/>
          <p:nvPr/>
        </p:nvSpPr>
        <p:spPr>
          <a:xfrm>
            <a:off x="731520" y="2011680"/>
            <a:ext cx="10698480" cy="12700"/>
          </a:xfrm>
          <a:prstGeom prst="rect">
            <a:avLst/>
          </a:prstGeom>
          <a:solidFill>
            <a:srgbClr val="D8DC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731520" y="2834640"/>
            <a:ext cx="10698480" cy="12700"/>
          </a:xfrm>
          <a:prstGeom prst="rect">
            <a:avLst/>
          </a:prstGeom>
          <a:solidFill>
            <a:srgbClr val="D8DC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2057400"/>
            <a:ext cx="822960" cy="457200"/>
          </a:xfrm>
          <a:prstGeom prst="rect">
            <a:avLst/>
          </a:prstGeom>
          <a:noFill/>
        </p:spPr>
        <p:txBody>
          <a:bodyPr wrap="square" anchor="t" lIns="0" rIns="0" tIns="0" bIns="0">
            <a:spAutoFit/>
          </a:bodyPr>
          <a:lstStyle/>
          <a:p>
            <a:pPr algn="l">
              <a:lnSpc>
                <a:spcPct val="100000"/>
              </a:lnSpc>
              <a:spcAft>
                <a:spcPts val="0"/>
              </a:spcAft>
            </a:pPr>
            <a:r>
              <a:rPr sz="2000" b="1" i="0">
                <a:solidFill>
                  <a:srgbClr val="3B5BDB"/>
                </a:solidFill>
                <a:latin typeface="Segoe UI"/>
              </a:rPr>
              <a:t>E1</a:t>
            </a:r>
          </a:p>
        </p:txBody>
      </p:sp>
      <p:sp>
        <p:nvSpPr>
          <p:cNvPr id="7" name="TextBox 6"/>
          <p:cNvSpPr txBox="1"/>
          <p:nvPr/>
        </p:nvSpPr>
        <p:spPr>
          <a:xfrm>
            <a:off x="1691640" y="2057400"/>
            <a:ext cx="6035040" cy="457200"/>
          </a:xfrm>
          <a:prstGeom prst="rect">
            <a:avLst/>
          </a:prstGeom>
          <a:noFill/>
        </p:spPr>
        <p:txBody>
          <a:bodyPr wrap="square" anchor="t" lIns="0" rIns="0" tIns="0" bIns="0">
            <a:spAutoFit/>
          </a:bodyPr>
          <a:lstStyle/>
          <a:p>
            <a:pPr algn="l">
              <a:lnSpc>
                <a:spcPct val="100000"/>
              </a:lnSpc>
              <a:spcAft>
                <a:spcPts val="0"/>
              </a:spcAft>
            </a:pPr>
            <a:r>
              <a:rPr sz="1550" b="0" i="0">
                <a:solidFill>
                  <a:srgbClr val="1B2559"/>
                </a:solidFill>
                <a:latin typeface="Segoe UI"/>
              </a:rPr>
              <a:t>Diagnóstico Organizacional y Alineamiento Estratégico</a:t>
            </a:r>
          </a:p>
        </p:txBody>
      </p:sp>
      <p:sp>
        <p:nvSpPr>
          <p:cNvPr id="8" name="TextBox 7"/>
          <p:cNvSpPr txBox="1"/>
          <p:nvPr/>
        </p:nvSpPr>
        <p:spPr>
          <a:xfrm>
            <a:off x="1691640" y="2441448"/>
            <a:ext cx="6035040" cy="320040"/>
          </a:xfrm>
          <a:prstGeom prst="rect">
            <a:avLst/>
          </a:prstGeom>
          <a:noFill/>
        </p:spPr>
        <p:txBody>
          <a:bodyPr wrap="square" anchor="t" lIns="0" rIns="0" tIns="0" bIns="0">
            <a:spAutoFit/>
          </a:bodyPr>
          <a:lstStyle/>
          <a:p>
            <a:pPr algn="l">
              <a:lnSpc>
                <a:spcPct val="100000"/>
              </a:lnSpc>
              <a:spcAft>
                <a:spcPts val="0"/>
              </a:spcAft>
            </a:pPr>
            <a:r>
              <a:rPr sz="1050" b="0" i="0">
                <a:solidFill>
                  <a:srgbClr val="454F78"/>
                </a:solidFill>
                <a:latin typeface="Segoe UI"/>
              </a:rPr>
              <a:t>CE0111–CE0115</a:t>
            </a:r>
          </a:p>
        </p:txBody>
      </p:sp>
      <p:sp>
        <p:nvSpPr>
          <p:cNvPr id="9" name="TextBox 8"/>
          <p:cNvSpPr txBox="1"/>
          <p:nvPr/>
        </p:nvSpPr>
        <p:spPr>
          <a:xfrm>
            <a:off x="7909560" y="2148840"/>
            <a:ext cx="2377440" cy="365760"/>
          </a:xfrm>
          <a:prstGeom prst="rect">
            <a:avLst/>
          </a:prstGeom>
          <a:noFill/>
        </p:spPr>
        <p:txBody>
          <a:bodyPr wrap="square" anchor="t" lIns="0" rIns="0" tIns="0" bIns="0">
            <a:spAutoFit/>
          </a:bodyPr>
          <a:lstStyle/>
          <a:p>
            <a:pPr algn="l">
              <a:lnSpc>
                <a:spcPct val="100000"/>
              </a:lnSpc>
              <a:spcAft>
                <a:spcPts val="0"/>
              </a:spcAft>
            </a:pPr>
            <a:r>
              <a:rPr sz="1150" b="0" i="0">
                <a:solidFill>
                  <a:srgbClr val="454F78"/>
                </a:solidFill>
                <a:latin typeface="Segoe UI"/>
              </a:rPr>
              <a:t>Expone: David Robert Yucra Mamani</a:t>
            </a:r>
          </a:p>
        </p:txBody>
      </p:sp>
      <p:sp>
        <p:nvSpPr>
          <p:cNvPr id="10" name="TextBox 9"/>
          <p:cNvSpPr txBox="1"/>
          <p:nvPr/>
        </p:nvSpPr>
        <p:spPr>
          <a:xfrm>
            <a:off x="10378440" y="2148840"/>
            <a:ext cx="1005840" cy="365760"/>
          </a:xfrm>
          <a:prstGeom prst="rect">
            <a:avLst/>
          </a:prstGeom>
          <a:noFill/>
        </p:spPr>
        <p:txBody>
          <a:bodyPr wrap="square" anchor="t" lIns="0" rIns="0" tIns="0" bIns="0">
            <a:spAutoFit/>
          </a:bodyPr>
          <a:lstStyle/>
          <a:p>
            <a:pPr algn="r">
              <a:lnSpc>
                <a:spcPct val="100000"/>
              </a:lnSpc>
              <a:spcAft>
                <a:spcPts val="0"/>
              </a:spcAft>
            </a:pPr>
            <a:r>
              <a:rPr sz="1300" b="1" i="0">
                <a:solidFill>
                  <a:srgbClr val="1B2559"/>
                </a:solidFill>
                <a:latin typeface="Segoe UI"/>
              </a:rPr>
              <a:t>3:30</a:t>
            </a:r>
          </a:p>
        </p:txBody>
      </p:sp>
      <p:sp>
        <p:nvSpPr>
          <p:cNvPr id="11" name="Rectangle 10"/>
          <p:cNvSpPr/>
          <p:nvPr/>
        </p:nvSpPr>
        <p:spPr>
          <a:xfrm>
            <a:off x="731520" y="3703320"/>
            <a:ext cx="10698480" cy="12700"/>
          </a:xfrm>
          <a:prstGeom prst="rect">
            <a:avLst/>
          </a:prstGeom>
          <a:solidFill>
            <a:srgbClr val="D8DC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2926080"/>
            <a:ext cx="822960" cy="457200"/>
          </a:xfrm>
          <a:prstGeom prst="rect">
            <a:avLst/>
          </a:prstGeom>
          <a:noFill/>
        </p:spPr>
        <p:txBody>
          <a:bodyPr wrap="square" anchor="t" lIns="0" rIns="0" tIns="0" bIns="0">
            <a:spAutoFit/>
          </a:bodyPr>
          <a:lstStyle/>
          <a:p>
            <a:pPr algn="l">
              <a:lnSpc>
                <a:spcPct val="100000"/>
              </a:lnSpc>
              <a:spcAft>
                <a:spcPts val="0"/>
              </a:spcAft>
            </a:pPr>
            <a:r>
              <a:rPr sz="2000" b="1" i="0">
                <a:solidFill>
                  <a:srgbClr val="3B5BDB"/>
                </a:solidFill>
                <a:latin typeface="Segoe UI"/>
              </a:rPr>
              <a:t>E2</a:t>
            </a:r>
          </a:p>
        </p:txBody>
      </p:sp>
      <p:sp>
        <p:nvSpPr>
          <p:cNvPr id="13" name="TextBox 12"/>
          <p:cNvSpPr txBox="1"/>
          <p:nvPr/>
        </p:nvSpPr>
        <p:spPr>
          <a:xfrm>
            <a:off x="1691640" y="2926080"/>
            <a:ext cx="6035040" cy="457200"/>
          </a:xfrm>
          <a:prstGeom prst="rect">
            <a:avLst/>
          </a:prstGeom>
          <a:noFill/>
        </p:spPr>
        <p:txBody>
          <a:bodyPr wrap="square" anchor="t" lIns="0" rIns="0" tIns="0" bIns="0">
            <a:spAutoFit/>
          </a:bodyPr>
          <a:lstStyle/>
          <a:p>
            <a:pPr algn="l">
              <a:lnSpc>
                <a:spcPct val="100000"/>
              </a:lnSpc>
              <a:spcAft>
                <a:spcPts val="0"/>
              </a:spcAft>
            </a:pPr>
            <a:r>
              <a:rPr sz="1550" b="0" i="0">
                <a:solidFill>
                  <a:srgbClr val="1B2559"/>
                </a:solidFill>
                <a:latin typeface="Segoe UI"/>
              </a:rPr>
              <a:t>Business Case del Proyecto</a:t>
            </a:r>
          </a:p>
        </p:txBody>
      </p:sp>
      <p:sp>
        <p:nvSpPr>
          <p:cNvPr id="14" name="TextBox 13"/>
          <p:cNvSpPr txBox="1"/>
          <p:nvPr/>
        </p:nvSpPr>
        <p:spPr>
          <a:xfrm>
            <a:off x="1691640" y="3310128"/>
            <a:ext cx="6035040" cy="320040"/>
          </a:xfrm>
          <a:prstGeom prst="rect">
            <a:avLst/>
          </a:prstGeom>
          <a:noFill/>
        </p:spPr>
        <p:txBody>
          <a:bodyPr wrap="square" anchor="t" lIns="0" rIns="0" tIns="0" bIns="0">
            <a:spAutoFit/>
          </a:bodyPr>
          <a:lstStyle/>
          <a:p>
            <a:pPr algn="l">
              <a:lnSpc>
                <a:spcPct val="100000"/>
              </a:lnSpc>
              <a:spcAft>
                <a:spcPts val="0"/>
              </a:spcAft>
            </a:pPr>
            <a:r>
              <a:rPr sz="1050" b="0" i="0">
                <a:solidFill>
                  <a:srgbClr val="454F78"/>
                </a:solidFill>
                <a:latin typeface="Segoe UI"/>
              </a:rPr>
              <a:t>CE0113</a:t>
            </a:r>
          </a:p>
        </p:txBody>
      </p:sp>
      <p:sp>
        <p:nvSpPr>
          <p:cNvPr id="15" name="TextBox 14"/>
          <p:cNvSpPr txBox="1"/>
          <p:nvPr/>
        </p:nvSpPr>
        <p:spPr>
          <a:xfrm>
            <a:off x="7909560" y="3017520"/>
            <a:ext cx="2377440" cy="365760"/>
          </a:xfrm>
          <a:prstGeom prst="rect">
            <a:avLst/>
          </a:prstGeom>
          <a:noFill/>
        </p:spPr>
        <p:txBody>
          <a:bodyPr wrap="square" anchor="t" lIns="0" rIns="0" tIns="0" bIns="0">
            <a:spAutoFit/>
          </a:bodyPr>
          <a:lstStyle/>
          <a:p>
            <a:pPr algn="l">
              <a:lnSpc>
                <a:spcPct val="100000"/>
              </a:lnSpc>
              <a:spcAft>
                <a:spcPts val="0"/>
              </a:spcAft>
            </a:pPr>
            <a:r>
              <a:rPr sz="1150" b="0" i="0">
                <a:solidFill>
                  <a:srgbClr val="454F78"/>
                </a:solidFill>
                <a:latin typeface="Segoe UI"/>
              </a:rPr>
              <a:t>Expone: Denilson Leeke Mamani Flores</a:t>
            </a:r>
          </a:p>
        </p:txBody>
      </p:sp>
      <p:sp>
        <p:nvSpPr>
          <p:cNvPr id="16" name="TextBox 15"/>
          <p:cNvSpPr txBox="1"/>
          <p:nvPr/>
        </p:nvSpPr>
        <p:spPr>
          <a:xfrm>
            <a:off x="10378440" y="3017520"/>
            <a:ext cx="1005840" cy="365760"/>
          </a:xfrm>
          <a:prstGeom prst="rect">
            <a:avLst/>
          </a:prstGeom>
          <a:noFill/>
        </p:spPr>
        <p:txBody>
          <a:bodyPr wrap="square" anchor="t" lIns="0" rIns="0" tIns="0" bIns="0">
            <a:spAutoFit/>
          </a:bodyPr>
          <a:lstStyle/>
          <a:p>
            <a:pPr algn="r">
              <a:lnSpc>
                <a:spcPct val="100000"/>
              </a:lnSpc>
              <a:spcAft>
                <a:spcPts val="0"/>
              </a:spcAft>
            </a:pPr>
            <a:r>
              <a:rPr sz="1300" b="1" i="0">
                <a:solidFill>
                  <a:srgbClr val="1B2559"/>
                </a:solidFill>
                <a:latin typeface="Segoe UI"/>
              </a:rPr>
              <a:t>3:00</a:t>
            </a:r>
          </a:p>
        </p:txBody>
      </p:sp>
      <p:sp>
        <p:nvSpPr>
          <p:cNvPr id="17" name="Rectangle 16"/>
          <p:cNvSpPr/>
          <p:nvPr/>
        </p:nvSpPr>
        <p:spPr>
          <a:xfrm>
            <a:off x="731520" y="4572000"/>
            <a:ext cx="10698480" cy="12700"/>
          </a:xfrm>
          <a:prstGeom prst="rect">
            <a:avLst/>
          </a:prstGeom>
          <a:solidFill>
            <a:srgbClr val="D8DC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1520" y="3794760"/>
            <a:ext cx="822960" cy="457200"/>
          </a:xfrm>
          <a:prstGeom prst="rect">
            <a:avLst/>
          </a:prstGeom>
          <a:noFill/>
        </p:spPr>
        <p:txBody>
          <a:bodyPr wrap="square" anchor="t" lIns="0" rIns="0" tIns="0" bIns="0">
            <a:spAutoFit/>
          </a:bodyPr>
          <a:lstStyle/>
          <a:p>
            <a:pPr algn="l">
              <a:lnSpc>
                <a:spcPct val="100000"/>
              </a:lnSpc>
              <a:spcAft>
                <a:spcPts val="0"/>
              </a:spcAft>
            </a:pPr>
            <a:r>
              <a:rPr sz="2000" b="1" i="0">
                <a:solidFill>
                  <a:srgbClr val="3B5BDB"/>
                </a:solidFill>
                <a:latin typeface="Segoe UI"/>
              </a:rPr>
              <a:t>E3</a:t>
            </a:r>
          </a:p>
        </p:txBody>
      </p:sp>
      <p:sp>
        <p:nvSpPr>
          <p:cNvPr id="19" name="TextBox 18"/>
          <p:cNvSpPr txBox="1"/>
          <p:nvPr/>
        </p:nvSpPr>
        <p:spPr>
          <a:xfrm>
            <a:off x="1691640" y="3794760"/>
            <a:ext cx="6035040" cy="457200"/>
          </a:xfrm>
          <a:prstGeom prst="rect">
            <a:avLst/>
          </a:prstGeom>
          <a:noFill/>
        </p:spPr>
        <p:txBody>
          <a:bodyPr wrap="square" anchor="t" lIns="0" rIns="0" tIns="0" bIns="0">
            <a:spAutoFit/>
          </a:bodyPr>
          <a:lstStyle/>
          <a:p>
            <a:pPr algn="l">
              <a:lnSpc>
                <a:spcPct val="100000"/>
              </a:lnSpc>
              <a:spcAft>
                <a:spcPts val="0"/>
              </a:spcAft>
            </a:pPr>
            <a:r>
              <a:rPr sz="1550" b="0" i="0">
                <a:solidFill>
                  <a:srgbClr val="1B2559"/>
                </a:solidFill>
                <a:latin typeface="Segoe UI"/>
              </a:rPr>
              <a:t>Plan de Gestión del Proyecto</a:t>
            </a:r>
          </a:p>
        </p:txBody>
      </p:sp>
      <p:sp>
        <p:nvSpPr>
          <p:cNvPr id="20" name="TextBox 19"/>
          <p:cNvSpPr txBox="1"/>
          <p:nvPr/>
        </p:nvSpPr>
        <p:spPr>
          <a:xfrm>
            <a:off x="1691640" y="4178808"/>
            <a:ext cx="6035040" cy="320040"/>
          </a:xfrm>
          <a:prstGeom prst="rect">
            <a:avLst/>
          </a:prstGeom>
          <a:noFill/>
        </p:spPr>
        <p:txBody>
          <a:bodyPr wrap="square" anchor="t" lIns="0" rIns="0" tIns="0" bIns="0">
            <a:spAutoFit/>
          </a:bodyPr>
          <a:lstStyle/>
          <a:p>
            <a:pPr algn="l">
              <a:lnSpc>
                <a:spcPct val="100000"/>
              </a:lnSpc>
              <a:spcAft>
                <a:spcPts val="0"/>
              </a:spcAft>
            </a:pPr>
            <a:r>
              <a:rPr sz="1050" b="0" i="0">
                <a:solidFill>
                  <a:srgbClr val="454F78"/>
                </a:solidFill>
                <a:latin typeface="Segoe UI"/>
              </a:rPr>
              <a:t>CE0121–CE0125</a:t>
            </a:r>
          </a:p>
        </p:txBody>
      </p:sp>
      <p:sp>
        <p:nvSpPr>
          <p:cNvPr id="21" name="TextBox 20"/>
          <p:cNvSpPr txBox="1"/>
          <p:nvPr/>
        </p:nvSpPr>
        <p:spPr>
          <a:xfrm>
            <a:off x="7909560" y="3886200"/>
            <a:ext cx="2377440" cy="365760"/>
          </a:xfrm>
          <a:prstGeom prst="rect">
            <a:avLst/>
          </a:prstGeom>
          <a:noFill/>
        </p:spPr>
        <p:txBody>
          <a:bodyPr wrap="square" anchor="t" lIns="0" rIns="0" tIns="0" bIns="0">
            <a:spAutoFit/>
          </a:bodyPr>
          <a:lstStyle/>
          <a:p>
            <a:pPr algn="l">
              <a:lnSpc>
                <a:spcPct val="100000"/>
              </a:lnSpc>
              <a:spcAft>
                <a:spcPts val="0"/>
              </a:spcAft>
            </a:pPr>
            <a:r>
              <a:rPr sz="1150" b="0" i="0">
                <a:solidFill>
                  <a:srgbClr val="454F78"/>
                </a:solidFill>
                <a:latin typeface="Segoe UI"/>
              </a:rPr>
              <a:t>Expone: Cárdenas Vilca Rennzo</a:t>
            </a:r>
          </a:p>
        </p:txBody>
      </p:sp>
      <p:sp>
        <p:nvSpPr>
          <p:cNvPr id="22" name="TextBox 21"/>
          <p:cNvSpPr txBox="1"/>
          <p:nvPr/>
        </p:nvSpPr>
        <p:spPr>
          <a:xfrm>
            <a:off x="10378440" y="3886200"/>
            <a:ext cx="1005840" cy="365760"/>
          </a:xfrm>
          <a:prstGeom prst="rect">
            <a:avLst/>
          </a:prstGeom>
          <a:noFill/>
        </p:spPr>
        <p:txBody>
          <a:bodyPr wrap="square" anchor="t" lIns="0" rIns="0" tIns="0" bIns="0">
            <a:spAutoFit/>
          </a:bodyPr>
          <a:lstStyle/>
          <a:p>
            <a:pPr algn="r">
              <a:lnSpc>
                <a:spcPct val="100000"/>
              </a:lnSpc>
              <a:spcAft>
                <a:spcPts val="0"/>
              </a:spcAft>
            </a:pPr>
            <a:r>
              <a:rPr sz="1300" b="1" i="0">
                <a:solidFill>
                  <a:srgbClr val="1B2559"/>
                </a:solidFill>
                <a:latin typeface="Segoe UI"/>
              </a:rPr>
              <a:t>3:15</a:t>
            </a:r>
          </a:p>
        </p:txBody>
      </p:sp>
      <p:sp>
        <p:nvSpPr>
          <p:cNvPr id="23" name="Rectangle 22"/>
          <p:cNvSpPr/>
          <p:nvPr/>
        </p:nvSpPr>
        <p:spPr>
          <a:xfrm>
            <a:off x="731520" y="5440680"/>
            <a:ext cx="10698480" cy="12700"/>
          </a:xfrm>
          <a:prstGeom prst="rect">
            <a:avLst/>
          </a:prstGeom>
          <a:solidFill>
            <a:srgbClr val="D8DC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31520" y="4663440"/>
            <a:ext cx="822960" cy="457200"/>
          </a:xfrm>
          <a:prstGeom prst="rect">
            <a:avLst/>
          </a:prstGeom>
          <a:noFill/>
        </p:spPr>
        <p:txBody>
          <a:bodyPr wrap="square" anchor="t" lIns="0" rIns="0" tIns="0" bIns="0">
            <a:spAutoFit/>
          </a:bodyPr>
          <a:lstStyle/>
          <a:p>
            <a:pPr algn="l">
              <a:lnSpc>
                <a:spcPct val="100000"/>
              </a:lnSpc>
              <a:spcAft>
                <a:spcPts val="0"/>
              </a:spcAft>
            </a:pPr>
            <a:r>
              <a:rPr sz="2000" b="1" i="0">
                <a:solidFill>
                  <a:srgbClr val="3B5BDB"/>
                </a:solidFill>
                <a:latin typeface="Segoe UI"/>
              </a:rPr>
              <a:t>E4</a:t>
            </a:r>
          </a:p>
        </p:txBody>
      </p:sp>
      <p:sp>
        <p:nvSpPr>
          <p:cNvPr id="25" name="TextBox 24"/>
          <p:cNvSpPr txBox="1"/>
          <p:nvPr/>
        </p:nvSpPr>
        <p:spPr>
          <a:xfrm>
            <a:off x="1691640" y="4663440"/>
            <a:ext cx="6035040" cy="457200"/>
          </a:xfrm>
          <a:prstGeom prst="rect">
            <a:avLst/>
          </a:prstGeom>
          <a:noFill/>
        </p:spPr>
        <p:txBody>
          <a:bodyPr wrap="square" anchor="t" lIns="0" rIns="0" tIns="0" bIns="0">
            <a:spAutoFit/>
          </a:bodyPr>
          <a:lstStyle/>
          <a:p>
            <a:pPr algn="l">
              <a:lnSpc>
                <a:spcPct val="100000"/>
              </a:lnSpc>
              <a:spcAft>
                <a:spcPts val="0"/>
              </a:spcAft>
            </a:pPr>
            <a:r>
              <a:rPr sz="1550" b="0" i="0">
                <a:solidFill>
                  <a:srgbClr val="1B2559"/>
                </a:solidFill>
                <a:latin typeface="Segoe UI"/>
              </a:rPr>
              <a:t>Modelado de Procesos AS-IS / TO-BE</a:t>
            </a:r>
          </a:p>
        </p:txBody>
      </p:sp>
      <p:sp>
        <p:nvSpPr>
          <p:cNvPr id="26" name="TextBox 25"/>
          <p:cNvSpPr txBox="1"/>
          <p:nvPr/>
        </p:nvSpPr>
        <p:spPr>
          <a:xfrm>
            <a:off x="1691640" y="5047488"/>
            <a:ext cx="6035040" cy="320040"/>
          </a:xfrm>
          <a:prstGeom prst="rect">
            <a:avLst/>
          </a:prstGeom>
          <a:noFill/>
        </p:spPr>
        <p:txBody>
          <a:bodyPr wrap="square" anchor="t" lIns="0" rIns="0" tIns="0" bIns="0">
            <a:spAutoFit/>
          </a:bodyPr>
          <a:lstStyle/>
          <a:p>
            <a:pPr algn="l">
              <a:lnSpc>
                <a:spcPct val="100000"/>
              </a:lnSpc>
              <a:spcAft>
                <a:spcPts val="0"/>
              </a:spcAft>
            </a:pPr>
            <a:r>
              <a:rPr sz="1050" b="0" i="0">
                <a:solidFill>
                  <a:srgbClr val="454F78"/>
                </a:solidFill>
                <a:latin typeface="Segoe UI"/>
              </a:rPr>
              <a:t>CE0131–CE0135</a:t>
            </a:r>
          </a:p>
        </p:txBody>
      </p:sp>
      <p:sp>
        <p:nvSpPr>
          <p:cNvPr id="27" name="TextBox 26"/>
          <p:cNvSpPr txBox="1"/>
          <p:nvPr/>
        </p:nvSpPr>
        <p:spPr>
          <a:xfrm>
            <a:off x="7909560" y="4754880"/>
            <a:ext cx="2377440" cy="365760"/>
          </a:xfrm>
          <a:prstGeom prst="rect">
            <a:avLst/>
          </a:prstGeom>
          <a:noFill/>
        </p:spPr>
        <p:txBody>
          <a:bodyPr wrap="square" anchor="t" lIns="0" rIns="0" tIns="0" bIns="0">
            <a:spAutoFit/>
          </a:bodyPr>
          <a:lstStyle/>
          <a:p>
            <a:pPr algn="l">
              <a:lnSpc>
                <a:spcPct val="100000"/>
              </a:lnSpc>
              <a:spcAft>
                <a:spcPts val="0"/>
              </a:spcAft>
            </a:pPr>
            <a:r>
              <a:rPr sz="1150" b="0" i="0">
                <a:solidFill>
                  <a:srgbClr val="454F78"/>
                </a:solidFill>
                <a:latin typeface="Segoe UI"/>
              </a:rPr>
              <a:t>Expone: Gladys Rosaura Yana Pari</a:t>
            </a:r>
          </a:p>
        </p:txBody>
      </p:sp>
      <p:sp>
        <p:nvSpPr>
          <p:cNvPr id="28" name="TextBox 27"/>
          <p:cNvSpPr txBox="1"/>
          <p:nvPr/>
        </p:nvSpPr>
        <p:spPr>
          <a:xfrm>
            <a:off x="10378440" y="4754880"/>
            <a:ext cx="1005840" cy="365760"/>
          </a:xfrm>
          <a:prstGeom prst="rect">
            <a:avLst/>
          </a:prstGeom>
          <a:noFill/>
        </p:spPr>
        <p:txBody>
          <a:bodyPr wrap="square" anchor="t" lIns="0" rIns="0" tIns="0" bIns="0">
            <a:spAutoFit/>
          </a:bodyPr>
          <a:lstStyle/>
          <a:p>
            <a:pPr algn="r">
              <a:lnSpc>
                <a:spcPct val="100000"/>
              </a:lnSpc>
              <a:spcAft>
                <a:spcPts val="0"/>
              </a:spcAft>
            </a:pPr>
            <a:r>
              <a:rPr sz="1300" b="1" i="0">
                <a:solidFill>
                  <a:srgbClr val="1B2559"/>
                </a:solidFill>
                <a:latin typeface="Segoe UI"/>
              </a:rPr>
              <a:t>2:35</a:t>
            </a:r>
          </a:p>
        </p:txBody>
      </p:sp>
      <p:sp>
        <p:nvSpPr>
          <p:cNvPr id="29" name="TextBox 28"/>
          <p:cNvSpPr txBox="1"/>
          <p:nvPr/>
        </p:nvSpPr>
        <p:spPr>
          <a:xfrm>
            <a:off x="731520" y="6172200"/>
            <a:ext cx="10058400" cy="365760"/>
          </a:xfrm>
          <a:prstGeom prst="rect">
            <a:avLst/>
          </a:prstGeom>
          <a:noFill/>
        </p:spPr>
        <p:txBody>
          <a:bodyPr wrap="square" anchor="t" lIns="0" rIns="0" tIns="0" bIns="0">
            <a:spAutoFit/>
          </a:bodyPr>
          <a:lstStyle/>
          <a:p>
            <a:pPr algn="l">
              <a:lnSpc>
                <a:spcPct val="100000"/>
              </a:lnSpc>
              <a:spcAft>
                <a:spcPts val="0"/>
              </a:spcAft>
            </a:pPr>
            <a:r>
              <a:rPr sz="1100" b="0" i="1">
                <a:solidFill>
                  <a:srgbClr val="454F78"/>
                </a:solidFill>
                <a:latin typeface="Segoe UI"/>
              </a:rPr>
              <a:t>Apertura y cierre a cargo de David Robert Yucra Mamani  ·  Total estimado: ~14:00, con margen hasta 15:00</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1B2559"/>
        </a:solidFill>
        <a:effectLst/>
      </p:bgPr>
    </p:bg>
    <p:spTree>
      <p:nvGrpSpPr>
        <p:cNvPr id="1" name=""/>
        <p:cNvGrpSpPr/>
        <p:nvPr/>
      </p:nvGrpSpPr>
      <p:grpSpPr/>
      <p:sp>
        <p:nvSpPr>
          <p:cNvPr id="2" name="TextBox 1"/>
          <p:cNvSpPr txBox="1"/>
          <p:nvPr/>
        </p:nvSpPr>
        <p:spPr>
          <a:xfrm>
            <a:off x="731520" y="1828800"/>
            <a:ext cx="8229600" cy="320040"/>
          </a:xfrm>
          <a:prstGeom prst="rect">
            <a:avLst/>
          </a:prstGeom>
          <a:noFill/>
        </p:spPr>
        <p:txBody>
          <a:bodyPr wrap="square" anchor="t" lIns="0" rIns="0" tIns="0" bIns="0">
            <a:spAutoFit/>
          </a:bodyPr>
          <a:lstStyle/>
          <a:p>
            <a:pPr algn="l">
              <a:lnSpc>
                <a:spcPct val="100000"/>
              </a:lnSpc>
              <a:spcAft>
                <a:spcPts val="0"/>
              </a:spcAft>
            </a:pPr>
            <a:r>
              <a:rPr sz="1250" b="1" i="0">
                <a:solidFill>
                  <a:srgbClr val="AAB6FF"/>
                </a:solidFill>
                <a:latin typeface="Segoe UI"/>
              </a:rPr>
              <a:t>ENTREGABLE 01</a:t>
            </a:r>
          </a:p>
        </p:txBody>
      </p:sp>
      <p:sp>
        <p:nvSpPr>
          <p:cNvPr id="3" name="TextBox 2"/>
          <p:cNvSpPr txBox="1"/>
          <p:nvPr/>
        </p:nvSpPr>
        <p:spPr>
          <a:xfrm>
            <a:off x="731520" y="2331720"/>
            <a:ext cx="7863840" cy="1463040"/>
          </a:xfrm>
          <a:prstGeom prst="rect">
            <a:avLst/>
          </a:prstGeom>
          <a:noFill/>
        </p:spPr>
        <p:txBody>
          <a:bodyPr wrap="square" anchor="t" lIns="0" rIns="0" tIns="0" bIns="0">
            <a:spAutoFit/>
          </a:bodyPr>
          <a:lstStyle/>
          <a:p>
            <a:pPr algn="l">
              <a:lnSpc>
                <a:spcPct val="105000"/>
              </a:lnSpc>
              <a:spcAft>
                <a:spcPts val="0"/>
              </a:spcAft>
            </a:pPr>
            <a:r>
              <a:rPr sz="3200" b="0" i="0">
                <a:solidFill>
                  <a:srgbClr val="FFFFFF"/>
                </a:solidFill>
                <a:latin typeface="Segoe UI"/>
              </a:rPr>
              <a:t>Diagnóstico Organizacional y Alineamiento Estratégico</a:t>
            </a:r>
          </a:p>
        </p:txBody>
      </p:sp>
      <p:sp>
        <p:nvSpPr>
          <p:cNvPr id="4" name="TextBox 3"/>
          <p:cNvSpPr txBox="1"/>
          <p:nvPr/>
        </p:nvSpPr>
        <p:spPr>
          <a:xfrm>
            <a:off x="731520" y="3794760"/>
            <a:ext cx="7863840" cy="731520"/>
          </a:xfrm>
          <a:prstGeom prst="rect">
            <a:avLst/>
          </a:prstGeom>
          <a:noFill/>
        </p:spPr>
        <p:txBody>
          <a:bodyPr wrap="square" anchor="t" lIns="0" rIns="0" tIns="0" bIns="0">
            <a:spAutoFit/>
          </a:bodyPr>
          <a:lstStyle/>
          <a:p>
            <a:pPr algn="l">
              <a:lnSpc>
                <a:spcPct val="100000"/>
              </a:lnSpc>
              <a:spcAft>
                <a:spcPts val="0"/>
              </a:spcAft>
            </a:pPr>
            <a:r>
              <a:rPr sz="1300" b="0" i="0">
                <a:solidFill>
                  <a:srgbClr val="9AA4DE"/>
                </a:solidFill>
                <a:latin typeface="Segoe UI"/>
              </a:rPr>
              <a:t>Diagnóstico organizacional · Alineamiento estratégico · Caso de negocio · Roadmap de tecnología · Matriz de riesgos estratégicos</a:t>
            </a:r>
          </a:p>
        </p:txBody>
      </p:sp>
      <p:sp>
        <p:nvSpPr>
          <p:cNvPr id="5" name="Rectangle 4"/>
          <p:cNvSpPr/>
          <p:nvPr/>
        </p:nvSpPr>
        <p:spPr>
          <a:xfrm>
            <a:off x="731520" y="4434840"/>
            <a:ext cx="2926080" cy="12700"/>
          </a:xfrm>
          <a:prstGeom prst="rect">
            <a:avLst/>
          </a:prstGeom>
          <a:solidFill>
            <a:srgbClr val="333C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4617720"/>
            <a:ext cx="3657600" cy="320040"/>
          </a:xfrm>
          <a:prstGeom prst="rect">
            <a:avLst/>
          </a:prstGeom>
          <a:noFill/>
        </p:spPr>
        <p:txBody>
          <a:bodyPr wrap="square" anchor="t" lIns="0" rIns="0" tIns="0" bIns="0">
            <a:spAutoFit/>
          </a:bodyPr>
          <a:lstStyle/>
          <a:p>
            <a:pPr algn="l">
              <a:lnSpc>
                <a:spcPct val="100000"/>
              </a:lnSpc>
              <a:spcAft>
                <a:spcPts val="0"/>
              </a:spcAft>
            </a:pPr>
            <a:r>
              <a:rPr sz="1050" b="1" i="0">
                <a:solidFill>
                  <a:srgbClr val="8B96E0"/>
                </a:solidFill>
                <a:latin typeface="Segoe UI"/>
              </a:rPr>
              <a:t>EXPONE</a:t>
            </a:r>
          </a:p>
        </p:txBody>
      </p:sp>
      <p:sp>
        <p:nvSpPr>
          <p:cNvPr id="7" name="TextBox 6"/>
          <p:cNvSpPr txBox="1"/>
          <p:nvPr/>
        </p:nvSpPr>
        <p:spPr>
          <a:xfrm>
            <a:off x="731520" y="4892040"/>
            <a:ext cx="4572000" cy="457200"/>
          </a:xfrm>
          <a:prstGeom prst="rect">
            <a:avLst/>
          </a:prstGeom>
          <a:noFill/>
        </p:spPr>
        <p:txBody>
          <a:bodyPr wrap="square" anchor="t" lIns="0" rIns="0" tIns="0" bIns="0">
            <a:spAutoFit/>
          </a:bodyPr>
          <a:lstStyle/>
          <a:p>
            <a:pPr algn="l">
              <a:lnSpc>
                <a:spcPct val="100000"/>
              </a:lnSpc>
              <a:spcAft>
                <a:spcPts val="0"/>
              </a:spcAft>
            </a:pPr>
            <a:r>
              <a:rPr sz="1700" b="1" i="0">
                <a:solidFill>
                  <a:srgbClr val="FFFFFF"/>
                </a:solidFill>
                <a:latin typeface="Segoe UI"/>
              </a:rPr>
              <a:t>David Robert Yucra Mamani</a:t>
            </a:r>
          </a:p>
        </p:txBody>
      </p:sp>
      <p:sp>
        <p:nvSpPr>
          <p:cNvPr id="8" name="TextBox 7"/>
          <p:cNvSpPr txBox="1"/>
          <p:nvPr/>
        </p:nvSpPr>
        <p:spPr>
          <a:xfrm>
            <a:off x="5669280" y="4617720"/>
            <a:ext cx="2743200" cy="320040"/>
          </a:xfrm>
          <a:prstGeom prst="rect">
            <a:avLst/>
          </a:prstGeom>
          <a:noFill/>
        </p:spPr>
        <p:txBody>
          <a:bodyPr wrap="square" anchor="t" lIns="0" rIns="0" tIns="0" bIns="0">
            <a:spAutoFit/>
          </a:bodyPr>
          <a:lstStyle/>
          <a:p>
            <a:pPr algn="l">
              <a:lnSpc>
                <a:spcPct val="100000"/>
              </a:lnSpc>
              <a:spcAft>
                <a:spcPts val="0"/>
              </a:spcAft>
            </a:pPr>
            <a:r>
              <a:rPr sz="1050" b="1" i="0">
                <a:solidFill>
                  <a:srgbClr val="8B96E0"/>
                </a:solidFill>
                <a:latin typeface="Segoe UI"/>
              </a:rPr>
              <a:t>TIEMPO ASIGNADO</a:t>
            </a:r>
          </a:p>
        </p:txBody>
      </p:sp>
      <p:sp>
        <p:nvSpPr>
          <p:cNvPr id="9" name="TextBox 8"/>
          <p:cNvSpPr txBox="1"/>
          <p:nvPr/>
        </p:nvSpPr>
        <p:spPr>
          <a:xfrm>
            <a:off x="5669280" y="4892040"/>
            <a:ext cx="2743200" cy="457200"/>
          </a:xfrm>
          <a:prstGeom prst="rect">
            <a:avLst/>
          </a:prstGeom>
          <a:noFill/>
        </p:spPr>
        <p:txBody>
          <a:bodyPr wrap="square" anchor="t" lIns="0" rIns="0" tIns="0" bIns="0">
            <a:spAutoFit/>
          </a:bodyPr>
          <a:lstStyle/>
          <a:p>
            <a:pPr algn="l">
              <a:lnSpc>
                <a:spcPct val="100000"/>
              </a:lnSpc>
              <a:spcAft>
                <a:spcPts val="0"/>
              </a:spcAft>
            </a:pPr>
            <a:r>
              <a:rPr sz="1700" b="1" i="0">
                <a:solidFill>
                  <a:srgbClr val="FFFFFF"/>
                </a:solidFill>
                <a:latin typeface="Segoe UI"/>
              </a:rPr>
              <a:t>3:30</a:t>
            </a:r>
          </a:p>
        </p:txBody>
      </p:sp>
      <p:sp>
        <p:nvSpPr>
          <p:cNvPr id="10" name="TextBox 9"/>
          <p:cNvSpPr txBox="1"/>
          <p:nvPr/>
        </p:nvSpPr>
        <p:spPr>
          <a:xfrm>
            <a:off x="9326880" y="1463040"/>
            <a:ext cx="2377440" cy="2743200"/>
          </a:xfrm>
          <a:prstGeom prst="rect">
            <a:avLst/>
          </a:prstGeom>
          <a:noFill/>
        </p:spPr>
        <p:txBody>
          <a:bodyPr wrap="square" anchor="t" lIns="0" rIns="0" tIns="0" bIns="0">
            <a:spAutoFit/>
          </a:bodyPr>
          <a:lstStyle/>
          <a:p>
            <a:pPr algn="r">
              <a:lnSpc>
                <a:spcPct val="100000"/>
              </a:lnSpc>
              <a:spcAft>
                <a:spcPts val="0"/>
              </a:spcAft>
            </a:pPr>
            <a:r>
              <a:rPr sz="14000" b="0" i="0">
                <a:solidFill>
                  <a:srgbClr val="2C3576"/>
                </a:solidFill>
                <a:latin typeface="Georgia"/>
              </a:rPr>
              <a:t>01</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6F7FB"/>
        </a:solidFill>
        <a:effectLst/>
      </p:bgPr>
    </p:bg>
    <p:spTree>
      <p:nvGrpSpPr>
        <p:cNvPr id="1" name=""/>
        <p:cNvGrpSpPr/>
        <p:nvPr/>
      </p:nvGrpSpPr>
      <p:grpSpPr/>
      <p:sp>
        <p:nvSpPr>
          <p:cNvPr id="2" name="TextBox 1"/>
          <p:cNvSpPr txBox="1"/>
          <p:nvPr/>
        </p:nvSpPr>
        <p:spPr>
          <a:xfrm>
            <a:off x="731520" y="502920"/>
            <a:ext cx="9601200" cy="320040"/>
          </a:xfrm>
          <a:prstGeom prst="rect">
            <a:avLst/>
          </a:prstGeom>
          <a:noFill/>
        </p:spPr>
        <p:txBody>
          <a:bodyPr wrap="square" anchor="t" lIns="0" rIns="0" tIns="0" bIns="0">
            <a:spAutoFit/>
          </a:bodyPr>
          <a:lstStyle/>
          <a:p>
            <a:pPr algn="l">
              <a:lnSpc>
                <a:spcPct val="100000"/>
              </a:lnSpc>
              <a:spcAft>
                <a:spcPts val="0"/>
              </a:spcAft>
            </a:pPr>
            <a:r>
              <a:rPr sz="1250" b="1" i="0">
                <a:solidFill>
                  <a:srgbClr val="3B5BDB"/>
                </a:solidFill>
                <a:latin typeface="Segoe UI"/>
              </a:rPr>
              <a:t>E1 · 1.1 CONTEXTO ORGANIZACIONAL</a:t>
            </a:r>
          </a:p>
        </p:txBody>
      </p:sp>
      <p:sp>
        <p:nvSpPr>
          <p:cNvPr id="3" name="TextBox 2"/>
          <p:cNvSpPr txBox="1"/>
          <p:nvPr/>
        </p:nvSpPr>
        <p:spPr>
          <a:xfrm>
            <a:off x="731520" y="841248"/>
            <a:ext cx="10607040" cy="914400"/>
          </a:xfrm>
          <a:prstGeom prst="rect">
            <a:avLst/>
          </a:prstGeom>
          <a:noFill/>
        </p:spPr>
        <p:txBody>
          <a:bodyPr wrap="square" anchor="t" lIns="0" rIns="0" tIns="0" bIns="0">
            <a:spAutoFit/>
          </a:bodyPr>
          <a:lstStyle/>
          <a:p>
            <a:pPr algn="l">
              <a:lnSpc>
                <a:spcPct val="102000"/>
              </a:lnSpc>
              <a:spcAft>
                <a:spcPts val="0"/>
              </a:spcAft>
            </a:pPr>
            <a:r>
              <a:rPr sz="2300" b="0" i="0">
                <a:solidFill>
                  <a:srgbClr val="1B2559"/>
                </a:solidFill>
                <a:latin typeface="Segoe UI"/>
              </a:rPr>
              <a:t>Una academia privada donde el seguimiento al alumno es el diferenciador comercial</a:t>
            </a:r>
          </a:p>
        </p:txBody>
      </p:sp>
      <p:sp>
        <p:nvSpPr>
          <p:cNvPr id="4" name="Rectangle 3"/>
          <p:cNvSpPr/>
          <p:nvPr/>
        </p:nvSpPr>
        <p:spPr>
          <a:xfrm>
            <a:off x="731520" y="1627632"/>
            <a:ext cx="10698480" cy="15240"/>
          </a:xfrm>
          <a:prstGeom prst="rect">
            <a:avLst/>
          </a:prstGeom>
          <a:solidFill>
            <a:srgbClr val="3B5B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6473952"/>
            <a:ext cx="7772400" cy="292608"/>
          </a:xfrm>
          <a:prstGeom prst="rect">
            <a:avLst/>
          </a:prstGeom>
          <a:noFill/>
        </p:spPr>
        <p:txBody>
          <a:bodyPr wrap="square" anchor="t" lIns="0" rIns="0" tIns="0" bIns="0">
            <a:spAutoFit/>
          </a:bodyPr>
          <a:lstStyle/>
          <a:p>
            <a:pPr algn="l">
              <a:lnSpc>
                <a:spcPct val="100000"/>
              </a:lnSpc>
              <a:spcAft>
                <a:spcPts val="0"/>
              </a:spcAft>
            </a:pPr>
            <a:r>
              <a:rPr sz="1050" b="0" i="0">
                <a:solidFill>
                  <a:srgbClr val="454F78"/>
                </a:solidFill>
                <a:latin typeface="Segoe UI"/>
              </a:rPr>
              <a:t>Expone: David Robert Yucra Mamani   ·   ⏱ 45s</a:t>
            </a:r>
          </a:p>
        </p:txBody>
      </p:sp>
      <p:sp>
        <p:nvSpPr>
          <p:cNvPr id="6" name="TextBox 5"/>
          <p:cNvSpPr txBox="1"/>
          <p:nvPr/>
        </p:nvSpPr>
        <p:spPr>
          <a:xfrm>
            <a:off x="10881360" y="6473952"/>
            <a:ext cx="822960" cy="292608"/>
          </a:xfrm>
          <a:prstGeom prst="rect">
            <a:avLst/>
          </a:prstGeom>
          <a:noFill/>
        </p:spPr>
        <p:txBody>
          <a:bodyPr wrap="square" anchor="t" lIns="0" rIns="0" tIns="0" bIns="0">
            <a:spAutoFit/>
          </a:bodyPr>
          <a:lstStyle/>
          <a:p>
            <a:pPr algn="r">
              <a:lnSpc>
                <a:spcPct val="100000"/>
              </a:lnSpc>
              <a:spcAft>
                <a:spcPts val="0"/>
              </a:spcAft>
            </a:pPr>
            <a:r>
              <a:rPr sz="1050" b="0" i="0">
                <a:solidFill>
                  <a:srgbClr val="454F78"/>
                </a:solidFill>
                <a:latin typeface="Segoe UI"/>
              </a:rPr>
              <a:t>4 / 22</a:t>
            </a:r>
          </a:p>
        </p:txBody>
      </p:sp>
      <p:sp>
        <p:nvSpPr>
          <p:cNvPr id="7" name="Rounded Rectangle 6"/>
          <p:cNvSpPr/>
          <p:nvPr/>
        </p:nvSpPr>
        <p:spPr>
          <a:xfrm>
            <a:off x="731520" y="1920240"/>
            <a:ext cx="5120640" cy="1463040"/>
          </a:xfrm>
          <a:prstGeom prst="roundRect">
            <a:avLst>
              <a:gd name="adj" fmla="val 4500"/>
            </a:avLst>
          </a:prstGeom>
          <a:solidFill>
            <a:srgbClr val="FFFFFF"/>
          </a:solidFill>
          <a:ln w="9525">
            <a:solidFill>
              <a:srgbClr val="D8DC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96112" y="2029968"/>
            <a:ext cx="4791456" cy="274320"/>
          </a:xfrm>
          <a:prstGeom prst="rect">
            <a:avLst/>
          </a:prstGeom>
          <a:noFill/>
        </p:spPr>
        <p:txBody>
          <a:bodyPr wrap="square" anchor="t" lIns="0" rIns="0" tIns="0" bIns="0">
            <a:spAutoFit/>
          </a:bodyPr>
          <a:lstStyle/>
          <a:p>
            <a:pPr algn="l">
              <a:lnSpc>
                <a:spcPct val="100000"/>
              </a:lnSpc>
              <a:spcAft>
                <a:spcPts val="0"/>
              </a:spcAft>
            </a:pPr>
            <a:r>
              <a:rPr sz="1000" b="1" i="0">
                <a:solidFill>
                  <a:srgbClr val="454F78"/>
                </a:solidFill>
                <a:latin typeface="Segoe UI"/>
              </a:rPr>
              <a:t>ESTRUCTURA</a:t>
            </a:r>
          </a:p>
        </p:txBody>
      </p:sp>
      <p:sp>
        <p:nvSpPr>
          <p:cNvPr id="9" name="TextBox 8"/>
          <p:cNvSpPr txBox="1"/>
          <p:nvPr/>
        </p:nvSpPr>
        <p:spPr>
          <a:xfrm>
            <a:off x="896112" y="2304288"/>
            <a:ext cx="4791456" cy="960120"/>
          </a:xfrm>
          <a:prstGeom prst="rect">
            <a:avLst/>
          </a:prstGeom>
          <a:noFill/>
        </p:spPr>
        <p:txBody>
          <a:bodyPr wrap="square" anchor="t" lIns="0" rIns="0" tIns="0" bIns="0">
            <a:spAutoFit/>
          </a:bodyPr>
          <a:lstStyle/>
          <a:p>
            <a:pPr algn="l">
              <a:lnSpc>
                <a:spcPct val="112000"/>
              </a:lnSpc>
              <a:spcAft>
                <a:spcPts val="0"/>
              </a:spcAft>
            </a:pPr>
            <a:r>
              <a:rPr sz="1250" b="0" i="0">
                <a:solidFill>
                  <a:srgbClr val="1B2559"/>
                </a:solidFill>
                <a:latin typeface="Segoe UI"/>
              </a:rPr>
              <a:t>Dirección general → coordinación académica/secretaría → docentes por ciclo → auxiliares → alumnos y padres.</a:t>
            </a:r>
          </a:p>
        </p:txBody>
      </p:sp>
      <p:sp>
        <p:nvSpPr>
          <p:cNvPr id="10" name="Rounded Rectangle 9"/>
          <p:cNvSpPr/>
          <p:nvPr/>
        </p:nvSpPr>
        <p:spPr>
          <a:xfrm>
            <a:off x="6035040" y="1920240"/>
            <a:ext cx="5394960" cy="1463040"/>
          </a:xfrm>
          <a:prstGeom prst="roundRect">
            <a:avLst>
              <a:gd name="adj" fmla="val 4500"/>
            </a:avLst>
          </a:prstGeom>
          <a:solidFill>
            <a:srgbClr val="FFFFFF"/>
          </a:solidFill>
          <a:ln w="9525">
            <a:solidFill>
              <a:srgbClr val="D8DC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199632" y="2029968"/>
            <a:ext cx="5065776" cy="274320"/>
          </a:xfrm>
          <a:prstGeom prst="rect">
            <a:avLst/>
          </a:prstGeom>
          <a:noFill/>
        </p:spPr>
        <p:txBody>
          <a:bodyPr wrap="square" anchor="t" lIns="0" rIns="0" tIns="0" bIns="0">
            <a:spAutoFit/>
          </a:bodyPr>
          <a:lstStyle/>
          <a:p>
            <a:pPr algn="l">
              <a:lnSpc>
                <a:spcPct val="100000"/>
              </a:lnSpc>
              <a:spcAft>
                <a:spcPts val="0"/>
              </a:spcAft>
            </a:pPr>
            <a:r>
              <a:rPr sz="1000" b="1" i="0">
                <a:solidFill>
                  <a:srgbClr val="454F78"/>
                </a:solidFill>
                <a:latin typeface="Segoe UI"/>
              </a:rPr>
              <a:t>SECTOR</a:t>
            </a:r>
          </a:p>
        </p:txBody>
      </p:sp>
      <p:sp>
        <p:nvSpPr>
          <p:cNvPr id="12" name="TextBox 11"/>
          <p:cNvSpPr txBox="1"/>
          <p:nvPr/>
        </p:nvSpPr>
        <p:spPr>
          <a:xfrm>
            <a:off x="6199632" y="2304288"/>
            <a:ext cx="5065776" cy="960120"/>
          </a:xfrm>
          <a:prstGeom prst="rect">
            <a:avLst/>
          </a:prstGeom>
          <a:noFill/>
        </p:spPr>
        <p:txBody>
          <a:bodyPr wrap="square" anchor="t" lIns="0" rIns="0" tIns="0" bIns="0">
            <a:spAutoFit/>
          </a:bodyPr>
          <a:lstStyle/>
          <a:p>
            <a:pPr algn="l">
              <a:lnSpc>
                <a:spcPct val="112000"/>
              </a:lnSpc>
              <a:spcAft>
                <a:spcPts val="0"/>
              </a:spcAft>
            </a:pPr>
            <a:r>
              <a:rPr sz="1250" b="0" i="0">
                <a:solidFill>
                  <a:srgbClr val="1B2559"/>
                </a:solidFill>
                <a:latin typeface="Segoe UI"/>
              </a:rPr>
              <a:t>Educación básica privada en Azángaro, Puno — varias academias compitiendo por matrícula, donde organización y comunicación con padres son el diferenciador.</a:t>
            </a:r>
          </a:p>
        </p:txBody>
      </p:sp>
      <p:sp>
        <p:nvSpPr>
          <p:cNvPr id="13" name="TextBox 12"/>
          <p:cNvSpPr txBox="1"/>
          <p:nvPr/>
        </p:nvSpPr>
        <p:spPr>
          <a:xfrm>
            <a:off x="731520" y="3657600"/>
            <a:ext cx="5486400" cy="274320"/>
          </a:xfrm>
          <a:prstGeom prst="rect">
            <a:avLst/>
          </a:prstGeom>
          <a:noFill/>
        </p:spPr>
        <p:txBody>
          <a:bodyPr wrap="square" anchor="t" lIns="0" rIns="0" tIns="0" bIns="0">
            <a:spAutoFit/>
          </a:bodyPr>
          <a:lstStyle/>
          <a:p>
            <a:pPr algn="l">
              <a:lnSpc>
                <a:spcPct val="100000"/>
              </a:lnSpc>
              <a:spcAft>
                <a:spcPts val="0"/>
              </a:spcAft>
            </a:pPr>
            <a:r>
              <a:rPr sz="1050" b="1" i="0">
                <a:solidFill>
                  <a:srgbClr val="454F78"/>
                </a:solidFill>
                <a:latin typeface="Segoe UI"/>
              </a:rPr>
              <a:t>CADENA DE VALOR</a:t>
            </a:r>
          </a:p>
        </p:txBody>
      </p:sp>
      <p:sp>
        <p:nvSpPr>
          <p:cNvPr id="14" name="Rounded Rectangle 13"/>
          <p:cNvSpPr/>
          <p:nvPr/>
        </p:nvSpPr>
        <p:spPr>
          <a:xfrm>
            <a:off x="731520" y="3977639"/>
            <a:ext cx="1254034" cy="868680"/>
          </a:xfrm>
          <a:prstGeom prst="roundRect">
            <a:avLst>
              <a:gd name="adj" fmla="val 4500"/>
            </a:avLst>
          </a:prstGeom>
          <a:solidFill>
            <a:srgbClr val="FFFFFF"/>
          </a:solidFill>
          <a:ln w="9525">
            <a:solidFill>
              <a:srgbClr val="D8DC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31520" y="3977639"/>
            <a:ext cx="45720" cy="868680"/>
          </a:xfrm>
          <a:prstGeom prst="rect">
            <a:avLst/>
          </a:prstGeom>
          <a:solidFill>
            <a:srgbClr val="2F9E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41248" y="4050791"/>
            <a:ext cx="1034578" cy="722376"/>
          </a:xfrm>
          <a:prstGeom prst="rect">
            <a:avLst/>
          </a:prstGeom>
          <a:noFill/>
        </p:spPr>
        <p:txBody>
          <a:bodyPr wrap="square" anchor="ctr" lIns="0" rIns="0" tIns="0" bIns="0">
            <a:spAutoFit/>
          </a:bodyPr>
          <a:lstStyle/>
          <a:p>
            <a:pPr algn="l">
              <a:lnSpc>
                <a:spcPct val="105000"/>
              </a:lnSpc>
              <a:spcAft>
                <a:spcPts val="0"/>
              </a:spcAft>
            </a:pPr>
            <a:r>
              <a:rPr sz="1019" b="0" i="0">
                <a:solidFill>
                  <a:srgbClr val="1B2559"/>
                </a:solidFill>
                <a:latin typeface="Segoe UI"/>
              </a:rPr>
              <a:t>Captación</a:t>
            </a:r>
          </a:p>
          <a:p>
            <a:pPr algn="l">
              <a:lnSpc>
                <a:spcPct val="105000"/>
              </a:lnSpc>
              <a:spcAft>
                <a:spcPts val="0"/>
              </a:spcAft>
            </a:pPr>
            <a:r>
              <a:rPr sz="1019" b="0" i="0">
                <a:solidFill>
                  <a:srgbClr val="1B2559"/>
                </a:solidFill>
                <a:latin typeface="Segoe UI"/>
              </a:rPr>
              <a:t>(sitio, redes)</a:t>
            </a:r>
          </a:p>
        </p:txBody>
      </p:sp>
      <p:sp>
        <p:nvSpPr>
          <p:cNvPr id="17" name="TextBox 16"/>
          <p:cNvSpPr txBox="1"/>
          <p:nvPr/>
        </p:nvSpPr>
        <p:spPr>
          <a:xfrm>
            <a:off x="1985554" y="3977639"/>
            <a:ext cx="320040" cy="868680"/>
          </a:xfrm>
          <a:prstGeom prst="rect">
            <a:avLst/>
          </a:prstGeom>
          <a:noFill/>
        </p:spPr>
        <p:txBody>
          <a:bodyPr wrap="square" anchor="ctr" lIns="0" rIns="0" tIns="0" bIns="0">
            <a:spAutoFit/>
          </a:bodyPr>
          <a:lstStyle/>
          <a:p>
            <a:pPr algn="ctr">
              <a:lnSpc>
                <a:spcPct val="100000"/>
              </a:lnSpc>
              <a:spcAft>
                <a:spcPts val="0"/>
              </a:spcAft>
            </a:pPr>
            <a:r>
              <a:rPr sz="1400" b="0" i="0">
                <a:solidFill>
                  <a:srgbClr val="454F78"/>
                </a:solidFill>
                <a:latin typeface="Segoe UI"/>
              </a:rPr>
              <a:t>→</a:t>
            </a:r>
          </a:p>
        </p:txBody>
      </p:sp>
      <p:sp>
        <p:nvSpPr>
          <p:cNvPr id="18" name="Rounded Rectangle 17"/>
          <p:cNvSpPr/>
          <p:nvPr/>
        </p:nvSpPr>
        <p:spPr>
          <a:xfrm>
            <a:off x="2305594" y="3977639"/>
            <a:ext cx="1254034" cy="868680"/>
          </a:xfrm>
          <a:prstGeom prst="roundRect">
            <a:avLst>
              <a:gd name="adj" fmla="val 4500"/>
            </a:avLst>
          </a:prstGeom>
          <a:solidFill>
            <a:srgbClr val="FFFFFF"/>
          </a:solidFill>
          <a:ln w="9525">
            <a:solidFill>
              <a:srgbClr val="D8DC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2305594" y="3977639"/>
            <a:ext cx="45720" cy="868680"/>
          </a:xfrm>
          <a:prstGeom prst="rect">
            <a:avLst/>
          </a:prstGeom>
          <a:solidFill>
            <a:srgbClr val="2F9E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415322" y="4050791"/>
            <a:ext cx="1034578" cy="722376"/>
          </a:xfrm>
          <a:prstGeom prst="rect">
            <a:avLst/>
          </a:prstGeom>
          <a:noFill/>
        </p:spPr>
        <p:txBody>
          <a:bodyPr wrap="square" anchor="ctr" lIns="0" rIns="0" tIns="0" bIns="0">
            <a:spAutoFit/>
          </a:bodyPr>
          <a:lstStyle/>
          <a:p>
            <a:pPr algn="l">
              <a:lnSpc>
                <a:spcPct val="105000"/>
              </a:lnSpc>
              <a:spcAft>
                <a:spcPts val="0"/>
              </a:spcAft>
            </a:pPr>
            <a:r>
              <a:rPr sz="1019" b="0" i="0">
                <a:solidFill>
                  <a:srgbClr val="1B2559"/>
                </a:solidFill>
                <a:latin typeface="Segoe UI"/>
              </a:rPr>
              <a:t>Pre-matrícula</a:t>
            </a:r>
          </a:p>
        </p:txBody>
      </p:sp>
      <p:sp>
        <p:nvSpPr>
          <p:cNvPr id="21" name="TextBox 20"/>
          <p:cNvSpPr txBox="1"/>
          <p:nvPr/>
        </p:nvSpPr>
        <p:spPr>
          <a:xfrm>
            <a:off x="3559628" y="3977639"/>
            <a:ext cx="320040" cy="868680"/>
          </a:xfrm>
          <a:prstGeom prst="rect">
            <a:avLst/>
          </a:prstGeom>
          <a:noFill/>
        </p:spPr>
        <p:txBody>
          <a:bodyPr wrap="square" anchor="ctr" lIns="0" rIns="0" tIns="0" bIns="0">
            <a:spAutoFit/>
          </a:bodyPr>
          <a:lstStyle/>
          <a:p>
            <a:pPr algn="ctr">
              <a:lnSpc>
                <a:spcPct val="100000"/>
              </a:lnSpc>
              <a:spcAft>
                <a:spcPts val="0"/>
              </a:spcAft>
            </a:pPr>
            <a:r>
              <a:rPr sz="1400" b="0" i="0">
                <a:solidFill>
                  <a:srgbClr val="454F78"/>
                </a:solidFill>
                <a:latin typeface="Segoe UI"/>
              </a:rPr>
              <a:t>→</a:t>
            </a:r>
          </a:p>
        </p:txBody>
      </p:sp>
      <p:sp>
        <p:nvSpPr>
          <p:cNvPr id="22" name="Rounded Rectangle 21"/>
          <p:cNvSpPr/>
          <p:nvPr/>
        </p:nvSpPr>
        <p:spPr>
          <a:xfrm>
            <a:off x="3879668" y="3977639"/>
            <a:ext cx="1254034" cy="868680"/>
          </a:xfrm>
          <a:prstGeom prst="roundRect">
            <a:avLst>
              <a:gd name="adj" fmla="val 4500"/>
            </a:avLst>
          </a:prstGeom>
          <a:solidFill>
            <a:srgbClr val="FFFFFF"/>
          </a:solidFill>
          <a:ln w="9525">
            <a:solidFill>
              <a:srgbClr val="D8DC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3879668" y="3977639"/>
            <a:ext cx="45720" cy="868680"/>
          </a:xfrm>
          <a:prstGeom prst="rect">
            <a:avLst/>
          </a:prstGeom>
          <a:solidFill>
            <a:srgbClr val="2F9E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989396" y="4050791"/>
            <a:ext cx="1034578" cy="722376"/>
          </a:xfrm>
          <a:prstGeom prst="rect">
            <a:avLst/>
          </a:prstGeom>
          <a:noFill/>
        </p:spPr>
        <p:txBody>
          <a:bodyPr wrap="square" anchor="ctr" lIns="0" rIns="0" tIns="0" bIns="0">
            <a:spAutoFit/>
          </a:bodyPr>
          <a:lstStyle/>
          <a:p>
            <a:pPr algn="l">
              <a:lnSpc>
                <a:spcPct val="105000"/>
              </a:lnSpc>
              <a:spcAft>
                <a:spcPts val="0"/>
              </a:spcAft>
            </a:pPr>
            <a:r>
              <a:rPr sz="1019" b="0" i="0">
                <a:solidFill>
                  <a:srgbClr val="1B2559"/>
                </a:solidFill>
                <a:latin typeface="Segoe UI"/>
              </a:rPr>
              <a:t>Matrícula</a:t>
            </a:r>
          </a:p>
          <a:p>
            <a:pPr algn="l">
              <a:lnSpc>
                <a:spcPct val="105000"/>
              </a:lnSpc>
              <a:spcAft>
                <a:spcPts val="0"/>
              </a:spcAft>
            </a:pPr>
            <a:r>
              <a:rPr sz="1019" b="0" i="0">
                <a:solidFill>
                  <a:srgbClr val="1B2559"/>
                </a:solidFill>
                <a:latin typeface="Segoe UI"/>
              </a:rPr>
              <a:t>y cobro</a:t>
            </a:r>
          </a:p>
        </p:txBody>
      </p:sp>
      <p:sp>
        <p:nvSpPr>
          <p:cNvPr id="25" name="TextBox 24"/>
          <p:cNvSpPr txBox="1"/>
          <p:nvPr/>
        </p:nvSpPr>
        <p:spPr>
          <a:xfrm>
            <a:off x="5133702" y="3977639"/>
            <a:ext cx="320040" cy="868680"/>
          </a:xfrm>
          <a:prstGeom prst="rect">
            <a:avLst/>
          </a:prstGeom>
          <a:noFill/>
        </p:spPr>
        <p:txBody>
          <a:bodyPr wrap="square" anchor="ctr" lIns="0" rIns="0" tIns="0" bIns="0">
            <a:spAutoFit/>
          </a:bodyPr>
          <a:lstStyle/>
          <a:p>
            <a:pPr algn="ctr">
              <a:lnSpc>
                <a:spcPct val="100000"/>
              </a:lnSpc>
              <a:spcAft>
                <a:spcPts val="0"/>
              </a:spcAft>
            </a:pPr>
            <a:r>
              <a:rPr sz="1400" b="0" i="0">
                <a:solidFill>
                  <a:srgbClr val="454F78"/>
                </a:solidFill>
                <a:latin typeface="Segoe UI"/>
              </a:rPr>
              <a:t>→</a:t>
            </a:r>
          </a:p>
        </p:txBody>
      </p:sp>
      <p:sp>
        <p:nvSpPr>
          <p:cNvPr id="26" name="Rounded Rectangle 25"/>
          <p:cNvSpPr/>
          <p:nvPr/>
        </p:nvSpPr>
        <p:spPr>
          <a:xfrm>
            <a:off x="5453742" y="3977639"/>
            <a:ext cx="1254034" cy="868680"/>
          </a:xfrm>
          <a:prstGeom prst="roundRect">
            <a:avLst>
              <a:gd name="adj" fmla="val 4500"/>
            </a:avLst>
          </a:prstGeom>
          <a:solidFill>
            <a:srgbClr val="FFFFFF"/>
          </a:solidFill>
          <a:ln w="9525">
            <a:solidFill>
              <a:srgbClr val="D8DC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453742" y="3977639"/>
            <a:ext cx="45720" cy="868680"/>
          </a:xfrm>
          <a:prstGeom prst="rect">
            <a:avLst/>
          </a:prstGeom>
          <a:solidFill>
            <a:srgbClr val="2F9E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563470" y="4050791"/>
            <a:ext cx="1034578" cy="722376"/>
          </a:xfrm>
          <a:prstGeom prst="rect">
            <a:avLst/>
          </a:prstGeom>
          <a:noFill/>
        </p:spPr>
        <p:txBody>
          <a:bodyPr wrap="square" anchor="ctr" lIns="0" rIns="0" tIns="0" bIns="0">
            <a:spAutoFit/>
          </a:bodyPr>
          <a:lstStyle/>
          <a:p>
            <a:pPr algn="l">
              <a:lnSpc>
                <a:spcPct val="105000"/>
              </a:lnSpc>
              <a:spcAft>
                <a:spcPts val="0"/>
              </a:spcAft>
            </a:pPr>
            <a:r>
              <a:rPr sz="1019" b="0" i="0">
                <a:solidFill>
                  <a:srgbClr val="1B2559"/>
                </a:solidFill>
                <a:latin typeface="Segoe UI"/>
              </a:rPr>
              <a:t>Dictado por</a:t>
            </a:r>
          </a:p>
          <a:p>
            <a:pPr algn="l">
              <a:lnSpc>
                <a:spcPct val="105000"/>
              </a:lnSpc>
              <a:spcAft>
                <a:spcPts val="0"/>
              </a:spcAft>
            </a:pPr>
            <a:r>
              <a:rPr sz="1019" b="0" i="0">
                <a:solidFill>
                  <a:srgbClr val="1B2559"/>
                </a:solidFill>
                <a:latin typeface="Segoe UI"/>
              </a:rPr>
              <a:t>sede/grupo/turno</a:t>
            </a:r>
          </a:p>
        </p:txBody>
      </p:sp>
      <p:sp>
        <p:nvSpPr>
          <p:cNvPr id="29" name="TextBox 28"/>
          <p:cNvSpPr txBox="1"/>
          <p:nvPr/>
        </p:nvSpPr>
        <p:spPr>
          <a:xfrm>
            <a:off x="6707777" y="3977639"/>
            <a:ext cx="320040" cy="868680"/>
          </a:xfrm>
          <a:prstGeom prst="rect">
            <a:avLst/>
          </a:prstGeom>
          <a:noFill/>
        </p:spPr>
        <p:txBody>
          <a:bodyPr wrap="square" anchor="ctr" lIns="0" rIns="0" tIns="0" bIns="0">
            <a:spAutoFit/>
          </a:bodyPr>
          <a:lstStyle/>
          <a:p>
            <a:pPr algn="ctr">
              <a:lnSpc>
                <a:spcPct val="100000"/>
              </a:lnSpc>
              <a:spcAft>
                <a:spcPts val="0"/>
              </a:spcAft>
            </a:pPr>
            <a:r>
              <a:rPr sz="1400" b="0" i="0">
                <a:solidFill>
                  <a:srgbClr val="454F78"/>
                </a:solidFill>
                <a:latin typeface="Segoe UI"/>
              </a:rPr>
              <a:t>→</a:t>
            </a:r>
          </a:p>
        </p:txBody>
      </p:sp>
      <p:sp>
        <p:nvSpPr>
          <p:cNvPr id="30" name="Rounded Rectangle 29"/>
          <p:cNvSpPr/>
          <p:nvPr/>
        </p:nvSpPr>
        <p:spPr>
          <a:xfrm>
            <a:off x="7027817" y="3977639"/>
            <a:ext cx="1254034" cy="868680"/>
          </a:xfrm>
          <a:prstGeom prst="roundRect">
            <a:avLst>
              <a:gd name="adj" fmla="val 4500"/>
            </a:avLst>
          </a:prstGeom>
          <a:solidFill>
            <a:srgbClr val="FFFFFF"/>
          </a:solidFill>
          <a:ln w="9525">
            <a:solidFill>
              <a:srgbClr val="D8DC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027817" y="3977639"/>
            <a:ext cx="45720" cy="868680"/>
          </a:xfrm>
          <a:prstGeom prst="rect">
            <a:avLst/>
          </a:prstGeom>
          <a:solidFill>
            <a:srgbClr val="2F9E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137545" y="4050791"/>
            <a:ext cx="1034578" cy="722376"/>
          </a:xfrm>
          <a:prstGeom prst="rect">
            <a:avLst/>
          </a:prstGeom>
          <a:noFill/>
        </p:spPr>
        <p:txBody>
          <a:bodyPr wrap="square" anchor="ctr" lIns="0" rIns="0" tIns="0" bIns="0">
            <a:spAutoFit/>
          </a:bodyPr>
          <a:lstStyle/>
          <a:p>
            <a:pPr algn="l">
              <a:lnSpc>
                <a:spcPct val="105000"/>
              </a:lnSpc>
              <a:spcAft>
                <a:spcPts val="0"/>
              </a:spcAft>
            </a:pPr>
            <a:r>
              <a:rPr sz="1019" b="0" i="0">
                <a:solidFill>
                  <a:srgbClr val="1B2559"/>
                </a:solidFill>
                <a:latin typeface="Segoe UI"/>
              </a:rPr>
              <a:t>Seguimiento de</a:t>
            </a:r>
          </a:p>
          <a:p>
            <a:pPr algn="l">
              <a:lnSpc>
                <a:spcPct val="105000"/>
              </a:lnSpc>
              <a:spcAft>
                <a:spcPts val="0"/>
              </a:spcAft>
            </a:pPr>
            <a:r>
              <a:rPr sz="1019" b="0" i="0">
                <a:solidFill>
                  <a:srgbClr val="1B2559"/>
                </a:solidFill>
                <a:latin typeface="Segoe UI"/>
              </a:rPr>
              <a:t>asistencia</a:t>
            </a:r>
          </a:p>
        </p:txBody>
      </p:sp>
      <p:sp>
        <p:nvSpPr>
          <p:cNvPr id="33" name="TextBox 32"/>
          <p:cNvSpPr txBox="1"/>
          <p:nvPr/>
        </p:nvSpPr>
        <p:spPr>
          <a:xfrm>
            <a:off x="8281851" y="3977639"/>
            <a:ext cx="320040" cy="868680"/>
          </a:xfrm>
          <a:prstGeom prst="rect">
            <a:avLst/>
          </a:prstGeom>
          <a:noFill/>
        </p:spPr>
        <p:txBody>
          <a:bodyPr wrap="square" anchor="ctr" lIns="0" rIns="0" tIns="0" bIns="0">
            <a:spAutoFit/>
          </a:bodyPr>
          <a:lstStyle/>
          <a:p>
            <a:pPr algn="ctr">
              <a:lnSpc>
                <a:spcPct val="100000"/>
              </a:lnSpc>
              <a:spcAft>
                <a:spcPts val="0"/>
              </a:spcAft>
            </a:pPr>
            <a:r>
              <a:rPr sz="1400" b="0" i="0">
                <a:solidFill>
                  <a:srgbClr val="454F78"/>
                </a:solidFill>
                <a:latin typeface="Segoe UI"/>
              </a:rPr>
              <a:t>→</a:t>
            </a:r>
          </a:p>
        </p:txBody>
      </p:sp>
      <p:sp>
        <p:nvSpPr>
          <p:cNvPr id="34" name="Rounded Rectangle 33"/>
          <p:cNvSpPr/>
          <p:nvPr/>
        </p:nvSpPr>
        <p:spPr>
          <a:xfrm>
            <a:off x="8601891" y="3977639"/>
            <a:ext cx="1254034" cy="868680"/>
          </a:xfrm>
          <a:prstGeom prst="roundRect">
            <a:avLst>
              <a:gd name="adj" fmla="val 4500"/>
            </a:avLst>
          </a:prstGeom>
          <a:solidFill>
            <a:srgbClr val="FFFFFF"/>
          </a:solidFill>
          <a:ln w="9525">
            <a:solidFill>
              <a:srgbClr val="D8DC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601891" y="3977639"/>
            <a:ext cx="45720" cy="868680"/>
          </a:xfrm>
          <a:prstGeom prst="rect">
            <a:avLst/>
          </a:prstGeom>
          <a:solidFill>
            <a:srgbClr val="2F9E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711619" y="4050791"/>
            <a:ext cx="1034578" cy="722376"/>
          </a:xfrm>
          <a:prstGeom prst="rect">
            <a:avLst/>
          </a:prstGeom>
          <a:noFill/>
        </p:spPr>
        <p:txBody>
          <a:bodyPr wrap="square" anchor="ctr" lIns="0" rIns="0" tIns="0" bIns="0">
            <a:spAutoFit/>
          </a:bodyPr>
          <a:lstStyle/>
          <a:p>
            <a:pPr algn="l">
              <a:lnSpc>
                <a:spcPct val="105000"/>
              </a:lnSpc>
              <a:spcAft>
                <a:spcPts val="0"/>
              </a:spcAft>
            </a:pPr>
            <a:r>
              <a:rPr sz="1019" b="0" i="0">
                <a:solidFill>
                  <a:srgbClr val="1B2559"/>
                </a:solidFill>
                <a:latin typeface="Segoe UI"/>
              </a:rPr>
              <a:t>Comunicación</a:t>
            </a:r>
          </a:p>
          <a:p>
            <a:pPr algn="l">
              <a:lnSpc>
                <a:spcPct val="105000"/>
              </a:lnSpc>
              <a:spcAft>
                <a:spcPts val="0"/>
              </a:spcAft>
            </a:pPr>
            <a:r>
              <a:rPr sz="1019" b="0" i="0">
                <a:solidFill>
                  <a:srgbClr val="1B2559"/>
                </a:solidFill>
                <a:latin typeface="Segoe UI"/>
              </a:rPr>
              <a:t>con padres</a:t>
            </a:r>
          </a:p>
        </p:txBody>
      </p:sp>
      <p:sp>
        <p:nvSpPr>
          <p:cNvPr id="37" name="TextBox 36"/>
          <p:cNvSpPr txBox="1"/>
          <p:nvPr/>
        </p:nvSpPr>
        <p:spPr>
          <a:xfrm>
            <a:off x="9855925" y="3977639"/>
            <a:ext cx="320040" cy="868680"/>
          </a:xfrm>
          <a:prstGeom prst="rect">
            <a:avLst/>
          </a:prstGeom>
          <a:noFill/>
        </p:spPr>
        <p:txBody>
          <a:bodyPr wrap="square" anchor="ctr" lIns="0" rIns="0" tIns="0" bIns="0">
            <a:spAutoFit/>
          </a:bodyPr>
          <a:lstStyle/>
          <a:p>
            <a:pPr algn="ctr">
              <a:lnSpc>
                <a:spcPct val="100000"/>
              </a:lnSpc>
              <a:spcAft>
                <a:spcPts val="0"/>
              </a:spcAft>
            </a:pPr>
            <a:r>
              <a:rPr sz="1400" b="0" i="0">
                <a:solidFill>
                  <a:srgbClr val="454F78"/>
                </a:solidFill>
                <a:latin typeface="Segoe UI"/>
              </a:rPr>
              <a:t>→</a:t>
            </a:r>
          </a:p>
        </p:txBody>
      </p:sp>
      <p:sp>
        <p:nvSpPr>
          <p:cNvPr id="38" name="Rounded Rectangle 37"/>
          <p:cNvSpPr/>
          <p:nvPr/>
        </p:nvSpPr>
        <p:spPr>
          <a:xfrm>
            <a:off x="10175965" y="3977639"/>
            <a:ext cx="1254034" cy="868680"/>
          </a:xfrm>
          <a:prstGeom prst="roundRect">
            <a:avLst>
              <a:gd name="adj" fmla="val 4500"/>
            </a:avLst>
          </a:prstGeom>
          <a:solidFill>
            <a:srgbClr val="FFFFFF"/>
          </a:solidFill>
          <a:ln w="9525">
            <a:solidFill>
              <a:srgbClr val="D8DC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10175965" y="3977639"/>
            <a:ext cx="45720" cy="868680"/>
          </a:xfrm>
          <a:prstGeom prst="rect">
            <a:avLst/>
          </a:prstGeom>
          <a:solidFill>
            <a:srgbClr val="2F9E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0285693" y="4050791"/>
            <a:ext cx="1034578" cy="722376"/>
          </a:xfrm>
          <a:prstGeom prst="rect">
            <a:avLst/>
          </a:prstGeom>
          <a:noFill/>
        </p:spPr>
        <p:txBody>
          <a:bodyPr wrap="square" anchor="ctr" lIns="0" rIns="0" tIns="0" bIns="0">
            <a:spAutoFit/>
          </a:bodyPr>
          <a:lstStyle/>
          <a:p>
            <a:pPr algn="l">
              <a:lnSpc>
                <a:spcPct val="105000"/>
              </a:lnSpc>
              <a:spcAft>
                <a:spcPts val="0"/>
              </a:spcAft>
            </a:pPr>
            <a:r>
              <a:rPr sz="1019" b="0" i="0">
                <a:solidFill>
                  <a:srgbClr val="1B2559"/>
                </a:solidFill>
                <a:latin typeface="Segoe UI"/>
              </a:rPr>
              <a:t>Egreso /</a:t>
            </a:r>
          </a:p>
          <a:p>
            <a:pPr algn="l">
              <a:lnSpc>
                <a:spcPct val="105000"/>
              </a:lnSpc>
              <a:spcAft>
                <a:spcPts val="0"/>
              </a:spcAft>
            </a:pPr>
            <a:r>
              <a:rPr sz="1019" b="0" i="0">
                <a:solidFill>
                  <a:srgbClr val="1B2559"/>
                </a:solidFill>
                <a:latin typeface="Segoe UI"/>
              </a:rPr>
              <a:t>renovación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6F7FB"/>
        </a:solidFill>
        <a:effectLst/>
      </p:bgPr>
    </p:bg>
    <p:spTree>
      <p:nvGrpSpPr>
        <p:cNvPr id="1" name=""/>
        <p:cNvGrpSpPr/>
        <p:nvPr/>
      </p:nvGrpSpPr>
      <p:grpSpPr/>
      <p:sp>
        <p:nvSpPr>
          <p:cNvPr id="2" name="TextBox 1"/>
          <p:cNvSpPr txBox="1"/>
          <p:nvPr/>
        </p:nvSpPr>
        <p:spPr>
          <a:xfrm>
            <a:off x="731520" y="502920"/>
            <a:ext cx="9601200" cy="320040"/>
          </a:xfrm>
          <a:prstGeom prst="rect">
            <a:avLst/>
          </a:prstGeom>
          <a:noFill/>
        </p:spPr>
        <p:txBody>
          <a:bodyPr wrap="square" anchor="t" lIns="0" rIns="0" tIns="0" bIns="0">
            <a:spAutoFit/>
          </a:bodyPr>
          <a:lstStyle/>
          <a:p>
            <a:pPr algn="l">
              <a:lnSpc>
                <a:spcPct val="100000"/>
              </a:lnSpc>
              <a:spcAft>
                <a:spcPts val="0"/>
              </a:spcAft>
            </a:pPr>
            <a:r>
              <a:rPr sz="1250" b="1" i="0">
                <a:solidFill>
                  <a:srgbClr val="3B5BDB"/>
                </a:solidFill>
                <a:latin typeface="Segoe UI"/>
              </a:rPr>
              <a:t>E1 · 1.2 ANÁLISIS ESTRATÉGICO</a:t>
            </a:r>
          </a:p>
        </p:txBody>
      </p:sp>
      <p:sp>
        <p:nvSpPr>
          <p:cNvPr id="3" name="TextBox 2"/>
          <p:cNvSpPr txBox="1"/>
          <p:nvPr/>
        </p:nvSpPr>
        <p:spPr>
          <a:xfrm>
            <a:off x="731520" y="841248"/>
            <a:ext cx="10607040" cy="914400"/>
          </a:xfrm>
          <a:prstGeom prst="rect">
            <a:avLst/>
          </a:prstGeom>
          <a:noFill/>
        </p:spPr>
        <p:txBody>
          <a:bodyPr wrap="square" anchor="t" lIns="0" rIns="0" tIns="0" bIns="0">
            <a:spAutoFit/>
          </a:bodyPr>
          <a:lstStyle/>
          <a:p>
            <a:pPr algn="l">
              <a:lnSpc>
                <a:spcPct val="102000"/>
              </a:lnSpc>
              <a:spcAft>
                <a:spcPts val="0"/>
              </a:spcAft>
            </a:pPr>
            <a:r>
              <a:rPr sz="2300" b="0" i="0">
                <a:solidFill>
                  <a:srgbClr val="1B2559"/>
                </a:solidFill>
                <a:latin typeface="Segoe UI"/>
              </a:rPr>
              <a:t>FODA: la plataforma ataca justo las debilidades y amenazas del negocio</a:t>
            </a:r>
          </a:p>
        </p:txBody>
      </p:sp>
      <p:sp>
        <p:nvSpPr>
          <p:cNvPr id="4" name="Rectangle 3"/>
          <p:cNvSpPr/>
          <p:nvPr/>
        </p:nvSpPr>
        <p:spPr>
          <a:xfrm>
            <a:off x="731520" y="1627632"/>
            <a:ext cx="10698480" cy="15240"/>
          </a:xfrm>
          <a:prstGeom prst="rect">
            <a:avLst/>
          </a:prstGeom>
          <a:solidFill>
            <a:srgbClr val="3B5B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6473952"/>
            <a:ext cx="7772400" cy="292608"/>
          </a:xfrm>
          <a:prstGeom prst="rect">
            <a:avLst/>
          </a:prstGeom>
          <a:noFill/>
        </p:spPr>
        <p:txBody>
          <a:bodyPr wrap="square" anchor="t" lIns="0" rIns="0" tIns="0" bIns="0">
            <a:spAutoFit/>
          </a:bodyPr>
          <a:lstStyle/>
          <a:p>
            <a:pPr algn="l">
              <a:lnSpc>
                <a:spcPct val="100000"/>
              </a:lnSpc>
              <a:spcAft>
                <a:spcPts val="0"/>
              </a:spcAft>
            </a:pPr>
            <a:r>
              <a:rPr sz="1050" b="0" i="0">
                <a:solidFill>
                  <a:srgbClr val="454F78"/>
                </a:solidFill>
                <a:latin typeface="Segoe UI"/>
              </a:rPr>
              <a:t>Expone: David Robert Yucra Mamani   ·   ⏱ 55s</a:t>
            </a:r>
          </a:p>
        </p:txBody>
      </p:sp>
      <p:sp>
        <p:nvSpPr>
          <p:cNvPr id="6" name="TextBox 5"/>
          <p:cNvSpPr txBox="1"/>
          <p:nvPr/>
        </p:nvSpPr>
        <p:spPr>
          <a:xfrm>
            <a:off x="10881360" y="6473952"/>
            <a:ext cx="822960" cy="292608"/>
          </a:xfrm>
          <a:prstGeom prst="rect">
            <a:avLst/>
          </a:prstGeom>
          <a:noFill/>
        </p:spPr>
        <p:txBody>
          <a:bodyPr wrap="square" anchor="t" lIns="0" rIns="0" tIns="0" bIns="0">
            <a:spAutoFit/>
          </a:bodyPr>
          <a:lstStyle/>
          <a:p>
            <a:pPr algn="r">
              <a:lnSpc>
                <a:spcPct val="100000"/>
              </a:lnSpc>
              <a:spcAft>
                <a:spcPts val="0"/>
              </a:spcAft>
            </a:pPr>
            <a:r>
              <a:rPr sz="1050" b="0" i="0">
                <a:solidFill>
                  <a:srgbClr val="454F78"/>
                </a:solidFill>
                <a:latin typeface="Segoe UI"/>
              </a:rPr>
              <a:t>5 / 22</a:t>
            </a:r>
          </a:p>
        </p:txBody>
      </p:sp>
      <p:sp>
        <p:nvSpPr>
          <p:cNvPr id="7" name="Rounded Rectangle 6"/>
          <p:cNvSpPr/>
          <p:nvPr/>
        </p:nvSpPr>
        <p:spPr>
          <a:xfrm>
            <a:off x="731520" y="1920240"/>
            <a:ext cx="5257800" cy="1828800"/>
          </a:xfrm>
          <a:prstGeom prst="roundRect">
            <a:avLst>
              <a:gd name="adj" fmla="val 4500"/>
            </a:avLst>
          </a:prstGeom>
          <a:solidFill>
            <a:srgbClr val="FFFFFF"/>
          </a:solidFill>
          <a:ln w="9525">
            <a:solidFill>
              <a:srgbClr val="D8DC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31520" y="1920240"/>
            <a:ext cx="54864" cy="1828800"/>
          </a:xfrm>
          <a:prstGeom prst="rect">
            <a:avLst/>
          </a:prstGeom>
          <a:solidFill>
            <a:srgbClr val="2F9E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96112" y="2029968"/>
            <a:ext cx="4928616" cy="274320"/>
          </a:xfrm>
          <a:prstGeom prst="rect">
            <a:avLst/>
          </a:prstGeom>
          <a:noFill/>
        </p:spPr>
        <p:txBody>
          <a:bodyPr wrap="square" anchor="t" lIns="0" rIns="0" tIns="0" bIns="0">
            <a:spAutoFit/>
          </a:bodyPr>
          <a:lstStyle/>
          <a:p>
            <a:pPr algn="l">
              <a:lnSpc>
                <a:spcPct val="100000"/>
              </a:lnSpc>
              <a:spcAft>
                <a:spcPts val="0"/>
              </a:spcAft>
            </a:pPr>
            <a:r>
              <a:rPr sz="1000" b="1" i="0">
                <a:solidFill>
                  <a:srgbClr val="454F78"/>
                </a:solidFill>
                <a:latin typeface="Segoe UI"/>
              </a:rPr>
              <a:t>FORTALEZAS</a:t>
            </a:r>
          </a:p>
        </p:txBody>
      </p:sp>
      <p:sp>
        <p:nvSpPr>
          <p:cNvPr id="10" name="TextBox 9"/>
          <p:cNvSpPr txBox="1"/>
          <p:nvPr/>
        </p:nvSpPr>
        <p:spPr>
          <a:xfrm>
            <a:off x="896112" y="2304288"/>
            <a:ext cx="4928616" cy="1325880"/>
          </a:xfrm>
          <a:prstGeom prst="rect">
            <a:avLst/>
          </a:prstGeom>
          <a:noFill/>
        </p:spPr>
        <p:txBody>
          <a:bodyPr wrap="square" anchor="t" lIns="0" rIns="0" tIns="0" bIns="0">
            <a:spAutoFit/>
          </a:bodyPr>
          <a:lstStyle/>
          <a:p>
            <a:pPr algn="l">
              <a:lnSpc>
                <a:spcPct val="112000"/>
              </a:lnSpc>
              <a:spcAft>
                <a:spcPts val="0"/>
              </a:spcAft>
            </a:pPr>
            <a:r>
              <a:rPr sz="1250" b="0" i="0">
                <a:solidFill>
                  <a:srgbClr val="1B2559"/>
                </a:solidFill>
                <a:latin typeface="Segoe UI"/>
              </a:rPr>
              <a:t>Plataforma digital propia con portales por rol, control de asistencia por QR, matrícula pública conectada al flujo interno.</a:t>
            </a:r>
          </a:p>
        </p:txBody>
      </p:sp>
      <p:sp>
        <p:nvSpPr>
          <p:cNvPr id="11" name="Rounded Rectangle 10"/>
          <p:cNvSpPr/>
          <p:nvPr/>
        </p:nvSpPr>
        <p:spPr>
          <a:xfrm>
            <a:off x="6172200" y="1920240"/>
            <a:ext cx="5257800" cy="1828800"/>
          </a:xfrm>
          <a:prstGeom prst="roundRect">
            <a:avLst>
              <a:gd name="adj" fmla="val 4500"/>
            </a:avLst>
          </a:prstGeom>
          <a:solidFill>
            <a:srgbClr val="FFFFFF"/>
          </a:solidFill>
          <a:ln w="9525">
            <a:solidFill>
              <a:srgbClr val="D8DC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172200" y="1920240"/>
            <a:ext cx="54864" cy="1828800"/>
          </a:xfrm>
          <a:prstGeom prst="rect">
            <a:avLst/>
          </a:prstGeom>
          <a:solidFill>
            <a:srgbClr val="2F9E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36792" y="2029968"/>
            <a:ext cx="4928616" cy="274320"/>
          </a:xfrm>
          <a:prstGeom prst="rect">
            <a:avLst/>
          </a:prstGeom>
          <a:noFill/>
        </p:spPr>
        <p:txBody>
          <a:bodyPr wrap="square" anchor="t" lIns="0" rIns="0" tIns="0" bIns="0">
            <a:spAutoFit/>
          </a:bodyPr>
          <a:lstStyle/>
          <a:p>
            <a:pPr algn="l">
              <a:lnSpc>
                <a:spcPct val="100000"/>
              </a:lnSpc>
              <a:spcAft>
                <a:spcPts val="0"/>
              </a:spcAft>
            </a:pPr>
            <a:r>
              <a:rPr sz="1000" b="1" i="0">
                <a:solidFill>
                  <a:srgbClr val="454F78"/>
                </a:solidFill>
                <a:latin typeface="Segoe UI"/>
              </a:rPr>
              <a:t>OPORTUNIDADES</a:t>
            </a:r>
          </a:p>
        </p:txBody>
      </p:sp>
      <p:sp>
        <p:nvSpPr>
          <p:cNvPr id="14" name="TextBox 13"/>
          <p:cNvSpPr txBox="1"/>
          <p:nvPr/>
        </p:nvSpPr>
        <p:spPr>
          <a:xfrm>
            <a:off x="6336792" y="2304288"/>
            <a:ext cx="4928616" cy="1325880"/>
          </a:xfrm>
          <a:prstGeom prst="rect">
            <a:avLst/>
          </a:prstGeom>
          <a:noFill/>
        </p:spPr>
        <p:txBody>
          <a:bodyPr wrap="square" anchor="t" lIns="0" rIns="0" tIns="0" bIns="0">
            <a:spAutoFit/>
          </a:bodyPr>
          <a:lstStyle/>
          <a:p>
            <a:pPr algn="l">
              <a:lnSpc>
                <a:spcPct val="112000"/>
              </a:lnSpc>
              <a:spcAft>
                <a:spcPts val="0"/>
              </a:spcAft>
            </a:pPr>
            <a:r>
              <a:rPr sz="1250" b="0" i="0">
                <a:solidFill>
                  <a:srgbClr val="1B2559"/>
                </a:solidFill>
                <a:latin typeface="Segoe UI"/>
              </a:rPr>
              <a:t>Crecimiento de matrícula frente a competidores menos digitales; réplica a nuevas sedes con bajo costo marginal.</a:t>
            </a:r>
          </a:p>
        </p:txBody>
      </p:sp>
      <p:sp>
        <p:nvSpPr>
          <p:cNvPr id="15" name="Rounded Rectangle 14"/>
          <p:cNvSpPr/>
          <p:nvPr/>
        </p:nvSpPr>
        <p:spPr>
          <a:xfrm>
            <a:off x="731520" y="3931920"/>
            <a:ext cx="5257800" cy="1828800"/>
          </a:xfrm>
          <a:prstGeom prst="roundRect">
            <a:avLst>
              <a:gd name="adj" fmla="val 4500"/>
            </a:avLst>
          </a:prstGeom>
          <a:solidFill>
            <a:srgbClr val="FFFFFF"/>
          </a:solidFill>
          <a:ln w="9525">
            <a:solidFill>
              <a:srgbClr val="D8DC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31520" y="3931920"/>
            <a:ext cx="54864" cy="1828800"/>
          </a:xfrm>
          <a:prstGeom prst="rect">
            <a:avLst/>
          </a:prstGeom>
          <a:solidFill>
            <a:srgbClr val="C92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96112" y="4041648"/>
            <a:ext cx="4928616" cy="274320"/>
          </a:xfrm>
          <a:prstGeom prst="rect">
            <a:avLst/>
          </a:prstGeom>
          <a:noFill/>
        </p:spPr>
        <p:txBody>
          <a:bodyPr wrap="square" anchor="t" lIns="0" rIns="0" tIns="0" bIns="0">
            <a:spAutoFit/>
          </a:bodyPr>
          <a:lstStyle/>
          <a:p>
            <a:pPr algn="l">
              <a:lnSpc>
                <a:spcPct val="100000"/>
              </a:lnSpc>
              <a:spcAft>
                <a:spcPts val="0"/>
              </a:spcAft>
            </a:pPr>
            <a:r>
              <a:rPr sz="1000" b="1" i="0">
                <a:solidFill>
                  <a:srgbClr val="454F78"/>
                </a:solidFill>
                <a:latin typeface="Segoe UI"/>
              </a:rPr>
              <a:t>DEBILIDADES</a:t>
            </a:r>
          </a:p>
        </p:txBody>
      </p:sp>
      <p:sp>
        <p:nvSpPr>
          <p:cNvPr id="18" name="TextBox 17"/>
          <p:cNvSpPr txBox="1"/>
          <p:nvPr/>
        </p:nvSpPr>
        <p:spPr>
          <a:xfrm>
            <a:off x="896112" y="4315968"/>
            <a:ext cx="4928616" cy="1325880"/>
          </a:xfrm>
          <a:prstGeom prst="rect">
            <a:avLst/>
          </a:prstGeom>
          <a:noFill/>
        </p:spPr>
        <p:txBody>
          <a:bodyPr wrap="square" anchor="t" lIns="0" rIns="0" tIns="0" bIns="0">
            <a:spAutoFit/>
          </a:bodyPr>
          <a:lstStyle/>
          <a:p>
            <a:pPr algn="l">
              <a:lnSpc>
                <a:spcPct val="112000"/>
              </a:lnSpc>
              <a:spcAft>
                <a:spcPts val="0"/>
              </a:spcAft>
            </a:pPr>
            <a:r>
              <a:rPr sz="1250" b="0" i="0">
                <a:solidFill>
                  <a:srgbClr val="1B2559"/>
                </a:solidFill>
                <a:latin typeface="Segoe UI"/>
              </a:rPr>
              <a:t>Dependencia de un equipo técnico pequeño; procesos históricos aún en transición hacia el flujo digital.</a:t>
            </a:r>
          </a:p>
        </p:txBody>
      </p:sp>
      <p:sp>
        <p:nvSpPr>
          <p:cNvPr id="19" name="Rounded Rectangle 18"/>
          <p:cNvSpPr/>
          <p:nvPr/>
        </p:nvSpPr>
        <p:spPr>
          <a:xfrm>
            <a:off x="6172200" y="3931920"/>
            <a:ext cx="5257800" cy="1828800"/>
          </a:xfrm>
          <a:prstGeom prst="roundRect">
            <a:avLst>
              <a:gd name="adj" fmla="val 4500"/>
            </a:avLst>
          </a:prstGeom>
          <a:solidFill>
            <a:srgbClr val="FFFFFF"/>
          </a:solidFill>
          <a:ln w="9525">
            <a:solidFill>
              <a:srgbClr val="D8DC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72200" y="3931920"/>
            <a:ext cx="54864" cy="1828800"/>
          </a:xfrm>
          <a:prstGeom prst="rect">
            <a:avLst/>
          </a:prstGeom>
          <a:solidFill>
            <a:srgbClr val="C92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336792" y="4041648"/>
            <a:ext cx="4928616" cy="274320"/>
          </a:xfrm>
          <a:prstGeom prst="rect">
            <a:avLst/>
          </a:prstGeom>
          <a:noFill/>
        </p:spPr>
        <p:txBody>
          <a:bodyPr wrap="square" anchor="t" lIns="0" rIns="0" tIns="0" bIns="0">
            <a:spAutoFit/>
          </a:bodyPr>
          <a:lstStyle/>
          <a:p>
            <a:pPr algn="l">
              <a:lnSpc>
                <a:spcPct val="100000"/>
              </a:lnSpc>
              <a:spcAft>
                <a:spcPts val="0"/>
              </a:spcAft>
            </a:pPr>
            <a:r>
              <a:rPr sz="1000" b="1" i="0">
                <a:solidFill>
                  <a:srgbClr val="454F78"/>
                </a:solidFill>
                <a:latin typeface="Segoe UI"/>
              </a:rPr>
              <a:t>AMENAZAS</a:t>
            </a:r>
          </a:p>
        </p:txBody>
      </p:sp>
      <p:sp>
        <p:nvSpPr>
          <p:cNvPr id="22" name="TextBox 21"/>
          <p:cNvSpPr txBox="1"/>
          <p:nvPr/>
        </p:nvSpPr>
        <p:spPr>
          <a:xfrm>
            <a:off x="6336792" y="4315968"/>
            <a:ext cx="4928616" cy="1325880"/>
          </a:xfrm>
          <a:prstGeom prst="rect">
            <a:avLst/>
          </a:prstGeom>
          <a:noFill/>
        </p:spPr>
        <p:txBody>
          <a:bodyPr wrap="square" anchor="t" lIns="0" rIns="0" tIns="0" bIns="0">
            <a:spAutoFit/>
          </a:bodyPr>
          <a:lstStyle/>
          <a:p>
            <a:pPr algn="l">
              <a:lnSpc>
                <a:spcPct val="112000"/>
              </a:lnSpc>
              <a:spcAft>
                <a:spcPts val="0"/>
              </a:spcAft>
            </a:pPr>
            <a:r>
              <a:rPr sz="1250" b="0" i="0">
                <a:solidFill>
                  <a:srgbClr val="1B2559"/>
                </a:solidFill>
                <a:latin typeface="Segoe UI"/>
              </a:rPr>
              <a:t>Competencia con marketing agresivo; regulación de protección de datos de menores de edad.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6F7FB"/>
        </a:solidFill>
        <a:effectLst/>
      </p:bgPr>
    </p:bg>
    <p:spTree>
      <p:nvGrpSpPr>
        <p:cNvPr id="1" name=""/>
        <p:cNvGrpSpPr/>
        <p:nvPr/>
      </p:nvGrpSpPr>
      <p:grpSpPr/>
      <p:sp>
        <p:nvSpPr>
          <p:cNvPr id="2" name="TextBox 1"/>
          <p:cNvSpPr txBox="1"/>
          <p:nvPr/>
        </p:nvSpPr>
        <p:spPr>
          <a:xfrm>
            <a:off x="731520" y="502920"/>
            <a:ext cx="9601200" cy="320040"/>
          </a:xfrm>
          <a:prstGeom prst="rect">
            <a:avLst/>
          </a:prstGeom>
          <a:noFill/>
        </p:spPr>
        <p:txBody>
          <a:bodyPr wrap="square" anchor="t" lIns="0" rIns="0" tIns="0" bIns="0">
            <a:spAutoFit/>
          </a:bodyPr>
          <a:lstStyle/>
          <a:p>
            <a:pPr algn="l">
              <a:lnSpc>
                <a:spcPct val="100000"/>
              </a:lnSpc>
              <a:spcAft>
                <a:spcPts val="0"/>
              </a:spcAft>
            </a:pPr>
            <a:r>
              <a:rPr sz="1250" b="1" i="0">
                <a:solidFill>
                  <a:srgbClr val="3B5BDB"/>
                </a:solidFill>
                <a:latin typeface="Segoe UI"/>
              </a:rPr>
              <a:t>E1 · 1.3 DIAGNÓSTICO DIGITAL</a:t>
            </a:r>
          </a:p>
        </p:txBody>
      </p:sp>
      <p:sp>
        <p:nvSpPr>
          <p:cNvPr id="3" name="TextBox 2"/>
          <p:cNvSpPr txBox="1"/>
          <p:nvPr/>
        </p:nvSpPr>
        <p:spPr>
          <a:xfrm>
            <a:off x="731520" y="841248"/>
            <a:ext cx="10607040" cy="914400"/>
          </a:xfrm>
          <a:prstGeom prst="rect">
            <a:avLst/>
          </a:prstGeom>
          <a:noFill/>
        </p:spPr>
        <p:txBody>
          <a:bodyPr wrap="square" anchor="t" lIns="0" rIns="0" tIns="0" bIns="0">
            <a:spAutoFit/>
          </a:bodyPr>
          <a:lstStyle/>
          <a:p>
            <a:pPr algn="l">
              <a:lnSpc>
                <a:spcPct val="102000"/>
              </a:lnSpc>
              <a:spcAft>
                <a:spcPts val="0"/>
              </a:spcAft>
            </a:pPr>
            <a:r>
              <a:rPr sz="2300" b="0" i="0">
                <a:solidFill>
                  <a:srgbClr val="1B2559"/>
                </a:solidFill>
                <a:latin typeface="Segoe UI"/>
              </a:rPr>
              <a:t>Antes de la plataforma no existía ningún sistema propio</a:t>
            </a:r>
          </a:p>
        </p:txBody>
      </p:sp>
      <p:sp>
        <p:nvSpPr>
          <p:cNvPr id="4" name="Rectangle 3"/>
          <p:cNvSpPr/>
          <p:nvPr/>
        </p:nvSpPr>
        <p:spPr>
          <a:xfrm>
            <a:off x="731520" y="1627632"/>
            <a:ext cx="10698480" cy="15240"/>
          </a:xfrm>
          <a:prstGeom prst="rect">
            <a:avLst/>
          </a:prstGeom>
          <a:solidFill>
            <a:srgbClr val="3B5B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6473952"/>
            <a:ext cx="7772400" cy="292608"/>
          </a:xfrm>
          <a:prstGeom prst="rect">
            <a:avLst/>
          </a:prstGeom>
          <a:noFill/>
        </p:spPr>
        <p:txBody>
          <a:bodyPr wrap="square" anchor="t" lIns="0" rIns="0" tIns="0" bIns="0">
            <a:spAutoFit/>
          </a:bodyPr>
          <a:lstStyle/>
          <a:p>
            <a:pPr algn="l">
              <a:lnSpc>
                <a:spcPct val="100000"/>
              </a:lnSpc>
              <a:spcAft>
                <a:spcPts val="0"/>
              </a:spcAft>
            </a:pPr>
            <a:r>
              <a:rPr sz="1050" b="0" i="0">
                <a:solidFill>
                  <a:srgbClr val="454F78"/>
                </a:solidFill>
                <a:latin typeface="Segoe UI"/>
              </a:rPr>
              <a:t>Expone: David Robert Yucra Mamani   ·   ⏱ 45s</a:t>
            </a:r>
          </a:p>
        </p:txBody>
      </p:sp>
      <p:sp>
        <p:nvSpPr>
          <p:cNvPr id="6" name="TextBox 5"/>
          <p:cNvSpPr txBox="1"/>
          <p:nvPr/>
        </p:nvSpPr>
        <p:spPr>
          <a:xfrm>
            <a:off x="10881360" y="6473952"/>
            <a:ext cx="822960" cy="292608"/>
          </a:xfrm>
          <a:prstGeom prst="rect">
            <a:avLst/>
          </a:prstGeom>
          <a:noFill/>
        </p:spPr>
        <p:txBody>
          <a:bodyPr wrap="square" anchor="t" lIns="0" rIns="0" tIns="0" bIns="0">
            <a:spAutoFit/>
          </a:bodyPr>
          <a:lstStyle/>
          <a:p>
            <a:pPr algn="r">
              <a:lnSpc>
                <a:spcPct val="100000"/>
              </a:lnSpc>
              <a:spcAft>
                <a:spcPts val="0"/>
              </a:spcAft>
            </a:pPr>
            <a:r>
              <a:rPr sz="1050" b="0" i="0">
                <a:solidFill>
                  <a:srgbClr val="454F78"/>
                </a:solidFill>
                <a:latin typeface="Segoe UI"/>
              </a:rPr>
              <a:t>6 / 22</a:t>
            </a:r>
          </a:p>
        </p:txBody>
      </p:sp>
      <p:sp>
        <p:nvSpPr>
          <p:cNvPr id="7" name="Rounded Rectangle 6"/>
          <p:cNvSpPr/>
          <p:nvPr/>
        </p:nvSpPr>
        <p:spPr>
          <a:xfrm>
            <a:off x="731520" y="1920240"/>
            <a:ext cx="5120640" cy="3108960"/>
          </a:xfrm>
          <a:prstGeom prst="roundRect">
            <a:avLst>
              <a:gd name="adj" fmla="val 4500"/>
            </a:avLst>
          </a:prstGeom>
          <a:solidFill>
            <a:srgbClr val="FFFFFF"/>
          </a:solidFill>
          <a:ln w="9525">
            <a:solidFill>
              <a:srgbClr val="D8DC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96112" y="2029968"/>
            <a:ext cx="4791456" cy="274320"/>
          </a:xfrm>
          <a:prstGeom prst="rect">
            <a:avLst/>
          </a:prstGeom>
          <a:noFill/>
        </p:spPr>
        <p:txBody>
          <a:bodyPr wrap="square" anchor="t" lIns="0" rIns="0" tIns="0" bIns="0">
            <a:spAutoFit/>
          </a:bodyPr>
          <a:lstStyle/>
          <a:p>
            <a:pPr algn="l">
              <a:lnSpc>
                <a:spcPct val="100000"/>
              </a:lnSpc>
              <a:spcAft>
                <a:spcPts val="0"/>
              </a:spcAft>
            </a:pPr>
            <a:r>
              <a:rPr sz="1000" b="1" i="0">
                <a:solidFill>
                  <a:srgbClr val="454F78"/>
                </a:solidFill>
                <a:latin typeface="Segoe UI"/>
              </a:rPr>
              <a:t>ANTES DEL SISTEMA</a:t>
            </a:r>
          </a:p>
        </p:txBody>
      </p:sp>
      <p:sp>
        <p:nvSpPr>
          <p:cNvPr id="9" name="TextBox 8"/>
          <p:cNvSpPr txBox="1"/>
          <p:nvPr/>
        </p:nvSpPr>
        <p:spPr>
          <a:xfrm>
            <a:off x="896112" y="2304288"/>
            <a:ext cx="4791456" cy="2606040"/>
          </a:xfrm>
          <a:prstGeom prst="rect">
            <a:avLst/>
          </a:prstGeom>
          <a:noFill/>
        </p:spPr>
        <p:txBody>
          <a:bodyPr wrap="square" anchor="t" lIns="0" rIns="0" tIns="0" bIns="0">
            <a:spAutoFit/>
          </a:bodyPr>
          <a:lstStyle/>
          <a:p>
            <a:pPr algn="l">
              <a:lnSpc>
                <a:spcPct val="112000"/>
              </a:lnSpc>
              <a:spcAft>
                <a:spcPts val="0"/>
              </a:spcAft>
            </a:pPr>
            <a:r>
              <a:rPr sz="1350" b="0" i="0">
                <a:solidFill>
                  <a:srgbClr val="1B2559"/>
                </a:solidFill>
                <a:latin typeface="Segoe UI"/>
              </a:rPr>
              <a:t>• Formularios no integrados</a:t>
            </a:r>
          </a:p>
          <a:p>
            <a:pPr algn="l">
              <a:lnSpc>
                <a:spcPct val="112000"/>
              </a:lnSpc>
              <a:spcAft>
                <a:spcPts val="0"/>
              </a:spcAft>
            </a:pPr>
            <a:r>
              <a:rPr sz="1350" b="0" i="0">
                <a:solidFill>
                  <a:srgbClr val="1B2559"/>
                </a:solidFill>
                <a:latin typeface="Segoe UI"/>
              </a:rPr>
              <a:t>• Gestión manual de alumnos</a:t>
            </a:r>
          </a:p>
          <a:p>
            <a:pPr algn="l">
              <a:lnSpc>
                <a:spcPct val="112000"/>
              </a:lnSpc>
              <a:spcAft>
                <a:spcPts val="0"/>
              </a:spcAft>
            </a:pPr>
            <a:r>
              <a:rPr sz="1350" b="0" i="0">
                <a:solidFill>
                  <a:srgbClr val="1B2559"/>
                </a:solidFill>
                <a:latin typeface="Segoe UI"/>
              </a:rPr>
              <a:t>• Asistencia poco trazable</a:t>
            </a:r>
          </a:p>
          <a:p>
            <a:pPr algn="l">
              <a:lnSpc>
                <a:spcPct val="112000"/>
              </a:lnSpc>
              <a:spcAft>
                <a:spcPts val="0"/>
              </a:spcAft>
            </a:pPr>
            <a:r>
              <a:rPr sz="1350" b="0" i="0">
                <a:solidFill>
                  <a:srgbClr val="1B2559"/>
                </a:solidFill>
                <a:latin typeface="Segoe UI"/>
              </a:rPr>
              <a:t>• Pagos separados de la matrícula</a:t>
            </a:r>
          </a:p>
          <a:p>
            <a:pPr algn="l">
              <a:lnSpc>
                <a:spcPct val="112000"/>
              </a:lnSpc>
              <a:spcAft>
                <a:spcPts val="0"/>
              </a:spcAft>
            </a:pPr>
            <a:r>
              <a:rPr sz="1350" b="0" i="0">
                <a:solidFill>
                  <a:srgbClr val="1B2559"/>
                </a:solidFill>
                <a:latin typeface="Segoe UI"/>
              </a:rPr>
              <a:t>• Sin portales diferenciados por rol</a:t>
            </a:r>
          </a:p>
        </p:txBody>
      </p:sp>
      <p:sp>
        <p:nvSpPr>
          <p:cNvPr id="10" name="Rounded Rectangle 9"/>
          <p:cNvSpPr/>
          <p:nvPr/>
        </p:nvSpPr>
        <p:spPr>
          <a:xfrm>
            <a:off x="6035040" y="1920240"/>
            <a:ext cx="5394960" cy="3108960"/>
          </a:xfrm>
          <a:prstGeom prst="roundRect">
            <a:avLst>
              <a:gd name="adj" fmla="val 4500"/>
            </a:avLst>
          </a:prstGeom>
          <a:solidFill>
            <a:srgbClr val="FFFFFF"/>
          </a:solidFill>
          <a:ln w="9525">
            <a:solidFill>
              <a:srgbClr val="D8DC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035040" y="1920240"/>
            <a:ext cx="54864" cy="3108960"/>
          </a:xfrm>
          <a:prstGeom prst="rect">
            <a:avLst/>
          </a:prstGeom>
          <a:solidFill>
            <a:srgbClr val="C92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99632" y="2029968"/>
            <a:ext cx="5065776" cy="274320"/>
          </a:xfrm>
          <a:prstGeom prst="rect">
            <a:avLst/>
          </a:prstGeom>
          <a:noFill/>
        </p:spPr>
        <p:txBody>
          <a:bodyPr wrap="square" anchor="t" lIns="0" rIns="0" tIns="0" bIns="0">
            <a:spAutoFit/>
          </a:bodyPr>
          <a:lstStyle/>
          <a:p>
            <a:pPr algn="l">
              <a:lnSpc>
                <a:spcPct val="100000"/>
              </a:lnSpc>
              <a:spcAft>
                <a:spcPts val="0"/>
              </a:spcAft>
            </a:pPr>
            <a:r>
              <a:rPr sz="1000" b="1" i="0">
                <a:solidFill>
                  <a:srgbClr val="454F78"/>
                </a:solidFill>
                <a:latin typeface="Segoe UI"/>
              </a:rPr>
              <a:t>CONSECUENCIAS</a:t>
            </a:r>
          </a:p>
        </p:txBody>
      </p:sp>
      <p:sp>
        <p:nvSpPr>
          <p:cNvPr id="13" name="TextBox 12"/>
          <p:cNvSpPr txBox="1"/>
          <p:nvPr/>
        </p:nvSpPr>
        <p:spPr>
          <a:xfrm>
            <a:off x="6199632" y="2304288"/>
            <a:ext cx="5065776" cy="2606040"/>
          </a:xfrm>
          <a:prstGeom prst="rect">
            <a:avLst/>
          </a:prstGeom>
          <a:noFill/>
        </p:spPr>
        <p:txBody>
          <a:bodyPr wrap="square" anchor="t" lIns="0" rIns="0" tIns="0" bIns="0">
            <a:spAutoFit/>
          </a:bodyPr>
          <a:lstStyle/>
          <a:p>
            <a:pPr algn="l">
              <a:lnSpc>
                <a:spcPct val="112000"/>
              </a:lnSpc>
              <a:spcAft>
                <a:spcPts val="0"/>
              </a:spcAft>
            </a:pPr>
            <a:r>
              <a:rPr sz="1350" b="0" i="0">
                <a:solidFill>
                  <a:srgbClr val="1B2559"/>
                </a:solidFill>
                <a:latin typeface="Segoe UI"/>
              </a:rPr>
              <a:t>• Duplicidad de datos</a:t>
            </a:r>
          </a:p>
          <a:p>
            <a:pPr algn="l">
              <a:lnSpc>
                <a:spcPct val="112000"/>
              </a:lnSpc>
              <a:spcAft>
                <a:spcPts val="0"/>
              </a:spcAft>
            </a:pPr>
            <a:r>
              <a:rPr sz="1350" b="0" i="0">
                <a:solidFill>
                  <a:srgbClr val="1B2559"/>
                </a:solidFill>
                <a:latin typeface="Segoe UI"/>
              </a:rPr>
              <a:t>• Baja visibilidad operativa</a:t>
            </a:r>
          </a:p>
          <a:p>
            <a:pPr algn="l">
              <a:lnSpc>
                <a:spcPct val="112000"/>
              </a:lnSpc>
              <a:spcAft>
                <a:spcPts val="0"/>
              </a:spcAft>
            </a:pPr>
            <a:r>
              <a:rPr sz="1350" b="0" i="0">
                <a:solidFill>
                  <a:srgbClr val="1B2559"/>
                </a:solidFill>
                <a:latin typeface="Segoe UI"/>
              </a:rPr>
              <a:t>• Riesgo de errores en cupos</a:t>
            </a:r>
          </a:p>
          <a:p>
            <a:pPr algn="l">
              <a:lnSpc>
                <a:spcPct val="112000"/>
              </a:lnSpc>
              <a:spcAft>
                <a:spcPts val="0"/>
              </a:spcAft>
            </a:pPr>
            <a:r>
              <a:rPr sz="1350" b="0" i="0">
                <a:solidFill>
                  <a:srgbClr val="1B2559"/>
                </a:solidFill>
                <a:latin typeface="Segoe UI"/>
              </a:rPr>
              <a:t>• Demora en la atención a padres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6F7FB"/>
        </a:solidFill>
        <a:effectLst/>
      </p:bgPr>
    </p:bg>
    <p:spTree>
      <p:nvGrpSpPr>
        <p:cNvPr id="1" name=""/>
        <p:cNvGrpSpPr/>
        <p:nvPr/>
      </p:nvGrpSpPr>
      <p:grpSpPr/>
      <p:sp>
        <p:nvSpPr>
          <p:cNvPr id="2" name="TextBox 1"/>
          <p:cNvSpPr txBox="1"/>
          <p:nvPr/>
        </p:nvSpPr>
        <p:spPr>
          <a:xfrm>
            <a:off x="731520" y="502920"/>
            <a:ext cx="9601200" cy="320040"/>
          </a:xfrm>
          <a:prstGeom prst="rect">
            <a:avLst/>
          </a:prstGeom>
          <a:noFill/>
        </p:spPr>
        <p:txBody>
          <a:bodyPr wrap="square" anchor="t" lIns="0" rIns="0" tIns="0" bIns="0">
            <a:spAutoFit/>
          </a:bodyPr>
          <a:lstStyle/>
          <a:p>
            <a:pPr algn="l">
              <a:lnSpc>
                <a:spcPct val="100000"/>
              </a:lnSpc>
              <a:spcAft>
                <a:spcPts val="0"/>
              </a:spcAft>
            </a:pPr>
            <a:r>
              <a:rPr sz="1250" b="1" i="0">
                <a:solidFill>
                  <a:srgbClr val="3B5BDB"/>
                </a:solidFill>
                <a:latin typeface="Segoe UI"/>
              </a:rPr>
              <a:t>E1 · 1.4 IDENTIFICACIÓN DEL PROBLEMA</a:t>
            </a:r>
          </a:p>
        </p:txBody>
      </p:sp>
      <p:sp>
        <p:nvSpPr>
          <p:cNvPr id="3" name="TextBox 2"/>
          <p:cNvSpPr txBox="1"/>
          <p:nvPr/>
        </p:nvSpPr>
        <p:spPr>
          <a:xfrm>
            <a:off x="731520" y="841248"/>
            <a:ext cx="10607040" cy="914400"/>
          </a:xfrm>
          <a:prstGeom prst="rect">
            <a:avLst/>
          </a:prstGeom>
          <a:noFill/>
        </p:spPr>
        <p:txBody>
          <a:bodyPr wrap="square" anchor="t" lIns="0" rIns="0" tIns="0" bIns="0">
            <a:spAutoFit/>
          </a:bodyPr>
          <a:lstStyle/>
          <a:p>
            <a:pPr algn="l">
              <a:lnSpc>
                <a:spcPct val="102000"/>
              </a:lnSpc>
              <a:spcAft>
                <a:spcPts val="0"/>
              </a:spcAft>
            </a:pPr>
            <a:r>
              <a:rPr sz="2300" b="0" i="0">
                <a:solidFill>
                  <a:srgbClr val="1B2559"/>
                </a:solidFill>
                <a:latin typeface="Segoe UI"/>
              </a:rPr>
              <a:t>La tesis del diagnóstico</a:t>
            </a:r>
          </a:p>
        </p:txBody>
      </p:sp>
      <p:sp>
        <p:nvSpPr>
          <p:cNvPr id="4" name="Rectangle 3"/>
          <p:cNvSpPr/>
          <p:nvPr/>
        </p:nvSpPr>
        <p:spPr>
          <a:xfrm>
            <a:off x="731520" y="1627632"/>
            <a:ext cx="10698480" cy="15240"/>
          </a:xfrm>
          <a:prstGeom prst="rect">
            <a:avLst/>
          </a:prstGeom>
          <a:solidFill>
            <a:srgbClr val="3B5B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6473952"/>
            <a:ext cx="7772400" cy="292608"/>
          </a:xfrm>
          <a:prstGeom prst="rect">
            <a:avLst/>
          </a:prstGeom>
          <a:noFill/>
        </p:spPr>
        <p:txBody>
          <a:bodyPr wrap="square" anchor="t" lIns="0" rIns="0" tIns="0" bIns="0">
            <a:spAutoFit/>
          </a:bodyPr>
          <a:lstStyle/>
          <a:p>
            <a:pPr algn="l">
              <a:lnSpc>
                <a:spcPct val="100000"/>
              </a:lnSpc>
              <a:spcAft>
                <a:spcPts val="0"/>
              </a:spcAft>
            </a:pPr>
            <a:r>
              <a:rPr sz="1050" b="0" i="0">
                <a:solidFill>
                  <a:srgbClr val="454F78"/>
                </a:solidFill>
                <a:latin typeface="Segoe UI"/>
              </a:rPr>
              <a:t>Expone: David Robert Yucra Mamani   ·   ⏱ 50s</a:t>
            </a:r>
          </a:p>
        </p:txBody>
      </p:sp>
      <p:sp>
        <p:nvSpPr>
          <p:cNvPr id="6" name="TextBox 5"/>
          <p:cNvSpPr txBox="1"/>
          <p:nvPr/>
        </p:nvSpPr>
        <p:spPr>
          <a:xfrm>
            <a:off x="10881360" y="6473952"/>
            <a:ext cx="822960" cy="292608"/>
          </a:xfrm>
          <a:prstGeom prst="rect">
            <a:avLst/>
          </a:prstGeom>
          <a:noFill/>
        </p:spPr>
        <p:txBody>
          <a:bodyPr wrap="square" anchor="t" lIns="0" rIns="0" tIns="0" bIns="0">
            <a:spAutoFit/>
          </a:bodyPr>
          <a:lstStyle/>
          <a:p>
            <a:pPr algn="r">
              <a:lnSpc>
                <a:spcPct val="100000"/>
              </a:lnSpc>
              <a:spcAft>
                <a:spcPts val="0"/>
              </a:spcAft>
            </a:pPr>
            <a:r>
              <a:rPr sz="1050" b="0" i="0">
                <a:solidFill>
                  <a:srgbClr val="454F78"/>
                </a:solidFill>
                <a:latin typeface="Segoe UI"/>
              </a:rPr>
              <a:t>7 / 22</a:t>
            </a:r>
          </a:p>
        </p:txBody>
      </p:sp>
      <p:sp>
        <p:nvSpPr>
          <p:cNvPr id="7" name="Rectangle 6"/>
          <p:cNvSpPr/>
          <p:nvPr/>
        </p:nvSpPr>
        <p:spPr>
          <a:xfrm>
            <a:off x="731520" y="1965960"/>
            <a:ext cx="54864" cy="1188720"/>
          </a:xfrm>
          <a:prstGeom prst="rect">
            <a:avLst/>
          </a:prstGeom>
          <a:solidFill>
            <a:srgbClr val="3B5B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0120" y="1965960"/>
            <a:ext cx="10287000" cy="1188720"/>
          </a:xfrm>
          <a:prstGeom prst="rect">
            <a:avLst/>
          </a:prstGeom>
          <a:noFill/>
        </p:spPr>
        <p:txBody>
          <a:bodyPr wrap="square" anchor="t" lIns="0" rIns="0" tIns="0" bIns="0">
            <a:spAutoFit/>
          </a:bodyPr>
          <a:lstStyle/>
          <a:p>
            <a:pPr algn="l">
              <a:lnSpc>
                <a:spcPct val="120000"/>
              </a:lnSpc>
              <a:spcAft>
                <a:spcPts val="0"/>
              </a:spcAft>
            </a:pPr>
            <a:r>
              <a:rPr sz="1700" b="0" i="1">
                <a:solidFill>
                  <a:srgbClr val="1B2559"/>
                </a:solidFill>
                <a:latin typeface="Georgia"/>
              </a:rPr>
              <a:t>“Academia La Prepa Cermat necesitaba centralizar su gestión académica y administrativa porque operaba con canales dispersos y procesos manuales que generaban duplicidad de datos y baja visibilidad operativa.”</a:t>
            </a:r>
          </a:p>
        </p:txBody>
      </p:sp>
      <p:sp>
        <p:nvSpPr>
          <p:cNvPr id="9" name="Rounded Rectangle 8"/>
          <p:cNvSpPr/>
          <p:nvPr/>
        </p:nvSpPr>
        <p:spPr>
          <a:xfrm>
            <a:off x="731520" y="3429000"/>
            <a:ext cx="5120640" cy="1554480"/>
          </a:xfrm>
          <a:prstGeom prst="roundRect">
            <a:avLst>
              <a:gd name="adj" fmla="val 4500"/>
            </a:avLst>
          </a:prstGeom>
          <a:solidFill>
            <a:srgbClr val="FFFFFF"/>
          </a:solidFill>
          <a:ln w="9525">
            <a:solidFill>
              <a:srgbClr val="D8DC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3538728"/>
            <a:ext cx="4791456" cy="274320"/>
          </a:xfrm>
          <a:prstGeom prst="rect">
            <a:avLst/>
          </a:prstGeom>
          <a:noFill/>
        </p:spPr>
        <p:txBody>
          <a:bodyPr wrap="square" anchor="t" lIns="0" rIns="0" tIns="0" bIns="0">
            <a:spAutoFit/>
          </a:bodyPr>
          <a:lstStyle/>
          <a:p>
            <a:pPr algn="l">
              <a:lnSpc>
                <a:spcPct val="100000"/>
              </a:lnSpc>
              <a:spcAft>
                <a:spcPts val="0"/>
              </a:spcAft>
            </a:pPr>
            <a:r>
              <a:rPr sz="1000" b="1" i="0">
                <a:solidFill>
                  <a:srgbClr val="454F78"/>
                </a:solidFill>
                <a:latin typeface="Segoe UI"/>
              </a:rPr>
              <a:t>CAUSA RAÍZ</a:t>
            </a:r>
          </a:p>
        </p:txBody>
      </p:sp>
      <p:sp>
        <p:nvSpPr>
          <p:cNvPr id="11" name="TextBox 10"/>
          <p:cNvSpPr txBox="1"/>
          <p:nvPr/>
        </p:nvSpPr>
        <p:spPr>
          <a:xfrm>
            <a:off x="896112" y="3813048"/>
            <a:ext cx="4791456" cy="1051560"/>
          </a:xfrm>
          <a:prstGeom prst="rect">
            <a:avLst/>
          </a:prstGeom>
          <a:noFill/>
        </p:spPr>
        <p:txBody>
          <a:bodyPr wrap="square" anchor="t" lIns="0" rIns="0" tIns="0" bIns="0">
            <a:spAutoFit/>
          </a:bodyPr>
          <a:lstStyle/>
          <a:p>
            <a:pPr algn="l">
              <a:lnSpc>
                <a:spcPct val="112000"/>
              </a:lnSpc>
              <a:spcAft>
                <a:spcPts val="0"/>
              </a:spcAft>
            </a:pPr>
            <a:r>
              <a:rPr sz="1250" b="0" i="0">
                <a:solidFill>
                  <a:srgbClr val="1B2559"/>
                </a:solidFill>
                <a:latin typeface="Segoe UI"/>
              </a:rPr>
              <a:t>Sin sistema propio históricamente; crecimiento de sedes/ciclos/alumnos sin que la gestión escalara junto con ese crecimiento.</a:t>
            </a:r>
          </a:p>
        </p:txBody>
      </p:sp>
      <p:sp>
        <p:nvSpPr>
          <p:cNvPr id="12" name="Rounded Rectangle 11"/>
          <p:cNvSpPr/>
          <p:nvPr/>
        </p:nvSpPr>
        <p:spPr>
          <a:xfrm>
            <a:off x="6035040" y="3429000"/>
            <a:ext cx="5394960" cy="1554480"/>
          </a:xfrm>
          <a:prstGeom prst="roundRect">
            <a:avLst>
              <a:gd name="adj" fmla="val 4500"/>
            </a:avLst>
          </a:prstGeom>
          <a:solidFill>
            <a:srgbClr val="FFFFFF"/>
          </a:solidFill>
          <a:ln w="9525">
            <a:solidFill>
              <a:srgbClr val="D8DC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199632" y="3538728"/>
            <a:ext cx="5065776" cy="274320"/>
          </a:xfrm>
          <a:prstGeom prst="rect">
            <a:avLst/>
          </a:prstGeom>
          <a:noFill/>
        </p:spPr>
        <p:txBody>
          <a:bodyPr wrap="square" anchor="t" lIns="0" rIns="0" tIns="0" bIns="0">
            <a:spAutoFit/>
          </a:bodyPr>
          <a:lstStyle/>
          <a:p>
            <a:pPr algn="l">
              <a:lnSpc>
                <a:spcPct val="100000"/>
              </a:lnSpc>
              <a:spcAft>
                <a:spcPts val="0"/>
              </a:spcAft>
            </a:pPr>
            <a:r>
              <a:rPr sz="1000" b="1" i="0">
                <a:solidFill>
                  <a:srgbClr val="454F78"/>
                </a:solidFill>
                <a:latin typeface="Segoe UI"/>
              </a:rPr>
              <a:t>IMPACTO ESTRATÉGICO</a:t>
            </a:r>
          </a:p>
        </p:txBody>
      </p:sp>
      <p:sp>
        <p:nvSpPr>
          <p:cNvPr id="14" name="TextBox 13"/>
          <p:cNvSpPr txBox="1"/>
          <p:nvPr/>
        </p:nvSpPr>
        <p:spPr>
          <a:xfrm>
            <a:off x="6199632" y="3813048"/>
            <a:ext cx="5065776" cy="1051560"/>
          </a:xfrm>
          <a:prstGeom prst="rect">
            <a:avLst/>
          </a:prstGeom>
          <a:noFill/>
        </p:spPr>
        <p:txBody>
          <a:bodyPr wrap="square" anchor="t" lIns="0" rIns="0" tIns="0" bIns="0">
            <a:spAutoFit/>
          </a:bodyPr>
          <a:lstStyle/>
          <a:p>
            <a:pPr algn="l">
              <a:lnSpc>
                <a:spcPct val="112000"/>
              </a:lnSpc>
              <a:spcAft>
                <a:spcPts val="0"/>
              </a:spcAft>
            </a:pPr>
            <a:r>
              <a:rPr sz="1250" b="0" i="0">
                <a:solidFill>
                  <a:srgbClr val="1B2559"/>
                </a:solidFill>
                <a:latin typeface="Segoe UI"/>
              </a:rPr>
              <a:t>Riesgo de perder matrículas frente a competidores mejor organizados; decisiones de dirección con información incompleta.</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1B2559"/>
        </a:solidFill>
        <a:effectLst/>
      </p:bgPr>
    </p:bg>
    <p:spTree>
      <p:nvGrpSpPr>
        <p:cNvPr id="1" name=""/>
        <p:cNvGrpSpPr/>
        <p:nvPr/>
      </p:nvGrpSpPr>
      <p:grpSpPr/>
      <p:sp>
        <p:nvSpPr>
          <p:cNvPr id="2" name="TextBox 1"/>
          <p:cNvSpPr txBox="1"/>
          <p:nvPr/>
        </p:nvSpPr>
        <p:spPr>
          <a:xfrm>
            <a:off x="731520" y="1828800"/>
            <a:ext cx="8229600" cy="320040"/>
          </a:xfrm>
          <a:prstGeom prst="rect">
            <a:avLst/>
          </a:prstGeom>
          <a:noFill/>
        </p:spPr>
        <p:txBody>
          <a:bodyPr wrap="square" anchor="t" lIns="0" rIns="0" tIns="0" bIns="0">
            <a:spAutoFit/>
          </a:bodyPr>
          <a:lstStyle/>
          <a:p>
            <a:pPr algn="l">
              <a:lnSpc>
                <a:spcPct val="100000"/>
              </a:lnSpc>
              <a:spcAft>
                <a:spcPts val="0"/>
              </a:spcAft>
            </a:pPr>
            <a:r>
              <a:rPr sz="1250" b="1" i="0">
                <a:solidFill>
                  <a:srgbClr val="AAB6FF"/>
                </a:solidFill>
                <a:latin typeface="Segoe UI"/>
              </a:rPr>
              <a:t>ENTREGABLE 02</a:t>
            </a:r>
          </a:p>
        </p:txBody>
      </p:sp>
      <p:sp>
        <p:nvSpPr>
          <p:cNvPr id="3" name="TextBox 2"/>
          <p:cNvSpPr txBox="1"/>
          <p:nvPr/>
        </p:nvSpPr>
        <p:spPr>
          <a:xfrm>
            <a:off x="731520" y="2331720"/>
            <a:ext cx="7863840" cy="1463040"/>
          </a:xfrm>
          <a:prstGeom prst="rect">
            <a:avLst/>
          </a:prstGeom>
          <a:noFill/>
        </p:spPr>
        <p:txBody>
          <a:bodyPr wrap="square" anchor="t" lIns="0" rIns="0" tIns="0" bIns="0">
            <a:spAutoFit/>
          </a:bodyPr>
          <a:lstStyle/>
          <a:p>
            <a:pPr algn="l">
              <a:lnSpc>
                <a:spcPct val="105000"/>
              </a:lnSpc>
              <a:spcAft>
                <a:spcPts val="0"/>
              </a:spcAft>
            </a:pPr>
            <a:r>
              <a:rPr sz="3200" b="0" i="0">
                <a:solidFill>
                  <a:srgbClr val="FFFFFF"/>
                </a:solidFill>
                <a:latin typeface="Segoe UI"/>
              </a:rPr>
              <a:t>Business Case del Proyecto</a:t>
            </a:r>
          </a:p>
        </p:txBody>
      </p:sp>
      <p:sp>
        <p:nvSpPr>
          <p:cNvPr id="4" name="TextBox 3"/>
          <p:cNvSpPr txBox="1"/>
          <p:nvPr/>
        </p:nvSpPr>
        <p:spPr>
          <a:xfrm>
            <a:off x="731520" y="3794760"/>
            <a:ext cx="7863840" cy="731520"/>
          </a:xfrm>
          <a:prstGeom prst="rect">
            <a:avLst/>
          </a:prstGeom>
          <a:noFill/>
        </p:spPr>
        <p:txBody>
          <a:bodyPr wrap="square" anchor="t" lIns="0" rIns="0" tIns="0" bIns="0">
            <a:spAutoFit/>
          </a:bodyPr>
          <a:lstStyle/>
          <a:p>
            <a:pPr algn="l">
              <a:lnSpc>
                <a:spcPct val="100000"/>
              </a:lnSpc>
              <a:spcAft>
                <a:spcPts val="0"/>
              </a:spcAft>
            </a:pPr>
            <a:r>
              <a:rPr sz="1300" b="0" i="0">
                <a:solidFill>
                  <a:srgbClr val="9AA4DE"/>
                </a:solidFill>
                <a:latin typeface="Segoe UI"/>
              </a:rPr>
              <a:t>Objetivos SMART · alternativas evaluadas · costos y beneficios · riesgos iniciales</a:t>
            </a:r>
          </a:p>
        </p:txBody>
      </p:sp>
      <p:sp>
        <p:nvSpPr>
          <p:cNvPr id="5" name="Rectangle 4"/>
          <p:cNvSpPr/>
          <p:nvPr/>
        </p:nvSpPr>
        <p:spPr>
          <a:xfrm>
            <a:off x="731520" y="4434840"/>
            <a:ext cx="2926080" cy="12700"/>
          </a:xfrm>
          <a:prstGeom prst="rect">
            <a:avLst/>
          </a:prstGeom>
          <a:solidFill>
            <a:srgbClr val="333C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4617720"/>
            <a:ext cx="3657600" cy="320040"/>
          </a:xfrm>
          <a:prstGeom prst="rect">
            <a:avLst/>
          </a:prstGeom>
          <a:noFill/>
        </p:spPr>
        <p:txBody>
          <a:bodyPr wrap="square" anchor="t" lIns="0" rIns="0" tIns="0" bIns="0">
            <a:spAutoFit/>
          </a:bodyPr>
          <a:lstStyle/>
          <a:p>
            <a:pPr algn="l">
              <a:lnSpc>
                <a:spcPct val="100000"/>
              </a:lnSpc>
              <a:spcAft>
                <a:spcPts val="0"/>
              </a:spcAft>
            </a:pPr>
            <a:r>
              <a:rPr sz="1050" b="1" i="0">
                <a:solidFill>
                  <a:srgbClr val="8B96E0"/>
                </a:solidFill>
                <a:latin typeface="Segoe UI"/>
              </a:rPr>
              <a:t>EXPONE</a:t>
            </a:r>
          </a:p>
        </p:txBody>
      </p:sp>
      <p:sp>
        <p:nvSpPr>
          <p:cNvPr id="7" name="TextBox 6"/>
          <p:cNvSpPr txBox="1"/>
          <p:nvPr/>
        </p:nvSpPr>
        <p:spPr>
          <a:xfrm>
            <a:off x="731520" y="4892040"/>
            <a:ext cx="4572000" cy="457200"/>
          </a:xfrm>
          <a:prstGeom prst="rect">
            <a:avLst/>
          </a:prstGeom>
          <a:noFill/>
        </p:spPr>
        <p:txBody>
          <a:bodyPr wrap="square" anchor="t" lIns="0" rIns="0" tIns="0" bIns="0">
            <a:spAutoFit/>
          </a:bodyPr>
          <a:lstStyle/>
          <a:p>
            <a:pPr algn="l">
              <a:lnSpc>
                <a:spcPct val="100000"/>
              </a:lnSpc>
              <a:spcAft>
                <a:spcPts val="0"/>
              </a:spcAft>
            </a:pPr>
            <a:r>
              <a:rPr sz="1700" b="1" i="0">
                <a:solidFill>
                  <a:srgbClr val="FFFFFF"/>
                </a:solidFill>
                <a:latin typeface="Segoe UI"/>
              </a:rPr>
              <a:t>Denilson Leeke Mamani Flores</a:t>
            </a:r>
          </a:p>
        </p:txBody>
      </p:sp>
      <p:sp>
        <p:nvSpPr>
          <p:cNvPr id="8" name="TextBox 7"/>
          <p:cNvSpPr txBox="1"/>
          <p:nvPr/>
        </p:nvSpPr>
        <p:spPr>
          <a:xfrm>
            <a:off x="5669280" y="4617720"/>
            <a:ext cx="2743200" cy="320040"/>
          </a:xfrm>
          <a:prstGeom prst="rect">
            <a:avLst/>
          </a:prstGeom>
          <a:noFill/>
        </p:spPr>
        <p:txBody>
          <a:bodyPr wrap="square" anchor="t" lIns="0" rIns="0" tIns="0" bIns="0">
            <a:spAutoFit/>
          </a:bodyPr>
          <a:lstStyle/>
          <a:p>
            <a:pPr algn="l">
              <a:lnSpc>
                <a:spcPct val="100000"/>
              </a:lnSpc>
              <a:spcAft>
                <a:spcPts val="0"/>
              </a:spcAft>
            </a:pPr>
            <a:r>
              <a:rPr sz="1050" b="1" i="0">
                <a:solidFill>
                  <a:srgbClr val="8B96E0"/>
                </a:solidFill>
                <a:latin typeface="Segoe UI"/>
              </a:rPr>
              <a:t>TIEMPO ASIGNADO</a:t>
            </a:r>
          </a:p>
        </p:txBody>
      </p:sp>
      <p:sp>
        <p:nvSpPr>
          <p:cNvPr id="9" name="TextBox 8"/>
          <p:cNvSpPr txBox="1"/>
          <p:nvPr/>
        </p:nvSpPr>
        <p:spPr>
          <a:xfrm>
            <a:off x="5669280" y="4892040"/>
            <a:ext cx="2743200" cy="457200"/>
          </a:xfrm>
          <a:prstGeom prst="rect">
            <a:avLst/>
          </a:prstGeom>
          <a:noFill/>
        </p:spPr>
        <p:txBody>
          <a:bodyPr wrap="square" anchor="t" lIns="0" rIns="0" tIns="0" bIns="0">
            <a:spAutoFit/>
          </a:bodyPr>
          <a:lstStyle/>
          <a:p>
            <a:pPr algn="l">
              <a:lnSpc>
                <a:spcPct val="100000"/>
              </a:lnSpc>
              <a:spcAft>
                <a:spcPts val="0"/>
              </a:spcAft>
            </a:pPr>
            <a:r>
              <a:rPr sz="1700" b="1" i="0">
                <a:solidFill>
                  <a:srgbClr val="FFFFFF"/>
                </a:solidFill>
                <a:latin typeface="Segoe UI"/>
              </a:rPr>
              <a:t>3:00</a:t>
            </a:r>
          </a:p>
        </p:txBody>
      </p:sp>
      <p:sp>
        <p:nvSpPr>
          <p:cNvPr id="10" name="TextBox 9"/>
          <p:cNvSpPr txBox="1"/>
          <p:nvPr/>
        </p:nvSpPr>
        <p:spPr>
          <a:xfrm>
            <a:off x="9326880" y="1463040"/>
            <a:ext cx="2377440" cy="2743200"/>
          </a:xfrm>
          <a:prstGeom prst="rect">
            <a:avLst/>
          </a:prstGeom>
          <a:noFill/>
        </p:spPr>
        <p:txBody>
          <a:bodyPr wrap="square" anchor="t" lIns="0" rIns="0" tIns="0" bIns="0">
            <a:spAutoFit/>
          </a:bodyPr>
          <a:lstStyle/>
          <a:p>
            <a:pPr algn="r">
              <a:lnSpc>
                <a:spcPct val="100000"/>
              </a:lnSpc>
              <a:spcAft>
                <a:spcPts val="0"/>
              </a:spcAft>
            </a:pPr>
            <a:r>
              <a:rPr sz="14000" b="0" i="0">
                <a:solidFill>
                  <a:srgbClr val="2C3576"/>
                </a:solidFill>
                <a:latin typeface="Georgia"/>
              </a:rPr>
              <a:t>02</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6F7FB"/>
        </a:solidFill>
        <a:effectLst/>
      </p:bgPr>
    </p:bg>
    <p:spTree>
      <p:nvGrpSpPr>
        <p:cNvPr id="1" name=""/>
        <p:cNvGrpSpPr/>
        <p:nvPr/>
      </p:nvGrpSpPr>
      <p:grpSpPr/>
      <p:sp>
        <p:nvSpPr>
          <p:cNvPr id="2" name="TextBox 1"/>
          <p:cNvSpPr txBox="1"/>
          <p:nvPr/>
        </p:nvSpPr>
        <p:spPr>
          <a:xfrm>
            <a:off x="731520" y="502920"/>
            <a:ext cx="9601200" cy="320040"/>
          </a:xfrm>
          <a:prstGeom prst="rect">
            <a:avLst/>
          </a:prstGeom>
          <a:noFill/>
        </p:spPr>
        <p:txBody>
          <a:bodyPr wrap="square" anchor="t" lIns="0" rIns="0" tIns="0" bIns="0">
            <a:spAutoFit/>
          </a:bodyPr>
          <a:lstStyle/>
          <a:p>
            <a:pPr algn="l">
              <a:lnSpc>
                <a:spcPct val="100000"/>
              </a:lnSpc>
              <a:spcAft>
                <a:spcPts val="0"/>
              </a:spcAft>
            </a:pPr>
            <a:r>
              <a:rPr sz="1250" b="1" i="0">
                <a:solidFill>
                  <a:srgbClr val="3B5BDB"/>
                </a:solidFill>
                <a:latin typeface="Segoe UI"/>
              </a:rPr>
              <a:t>E2 · 2.1 OBJETIVOS Y BENEFICIOS</a:t>
            </a:r>
          </a:p>
        </p:txBody>
      </p:sp>
      <p:sp>
        <p:nvSpPr>
          <p:cNvPr id="3" name="TextBox 2"/>
          <p:cNvSpPr txBox="1"/>
          <p:nvPr/>
        </p:nvSpPr>
        <p:spPr>
          <a:xfrm>
            <a:off x="731520" y="841248"/>
            <a:ext cx="10607040" cy="914400"/>
          </a:xfrm>
          <a:prstGeom prst="rect">
            <a:avLst/>
          </a:prstGeom>
          <a:noFill/>
        </p:spPr>
        <p:txBody>
          <a:bodyPr wrap="square" anchor="t" lIns="0" rIns="0" tIns="0" bIns="0">
            <a:spAutoFit/>
          </a:bodyPr>
          <a:lstStyle/>
          <a:p>
            <a:pPr algn="l">
              <a:lnSpc>
                <a:spcPct val="102000"/>
              </a:lnSpc>
              <a:spcAft>
                <a:spcPts val="0"/>
              </a:spcAft>
            </a:pPr>
            <a:r>
              <a:rPr sz="2300" b="0" i="0">
                <a:solidFill>
                  <a:srgbClr val="1B2559"/>
                </a:solidFill>
                <a:latin typeface="Segoe UI"/>
              </a:rPr>
              <a:t>Tres objetivos medibles, los tres ya cumplidos</a:t>
            </a:r>
          </a:p>
        </p:txBody>
      </p:sp>
      <p:sp>
        <p:nvSpPr>
          <p:cNvPr id="4" name="Rectangle 3"/>
          <p:cNvSpPr/>
          <p:nvPr/>
        </p:nvSpPr>
        <p:spPr>
          <a:xfrm>
            <a:off x="731520" y="1627632"/>
            <a:ext cx="10698480" cy="15240"/>
          </a:xfrm>
          <a:prstGeom prst="rect">
            <a:avLst/>
          </a:prstGeom>
          <a:solidFill>
            <a:srgbClr val="3B5B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6473952"/>
            <a:ext cx="7772400" cy="292608"/>
          </a:xfrm>
          <a:prstGeom prst="rect">
            <a:avLst/>
          </a:prstGeom>
          <a:noFill/>
        </p:spPr>
        <p:txBody>
          <a:bodyPr wrap="square" anchor="t" lIns="0" rIns="0" tIns="0" bIns="0">
            <a:spAutoFit/>
          </a:bodyPr>
          <a:lstStyle/>
          <a:p>
            <a:pPr algn="l">
              <a:lnSpc>
                <a:spcPct val="100000"/>
              </a:lnSpc>
              <a:spcAft>
                <a:spcPts val="0"/>
              </a:spcAft>
            </a:pPr>
            <a:r>
              <a:rPr sz="1050" b="0" i="0">
                <a:solidFill>
                  <a:srgbClr val="454F78"/>
                </a:solidFill>
                <a:latin typeface="Segoe UI"/>
              </a:rPr>
              <a:t>Expone: Denilson Leeke Mamani Flores   ·   ⏱ 40s</a:t>
            </a:r>
          </a:p>
        </p:txBody>
      </p:sp>
      <p:sp>
        <p:nvSpPr>
          <p:cNvPr id="6" name="TextBox 5"/>
          <p:cNvSpPr txBox="1"/>
          <p:nvPr/>
        </p:nvSpPr>
        <p:spPr>
          <a:xfrm>
            <a:off x="10881360" y="6473952"/>
            <a:ext cx="822960" cy="292608"/>
          </a:xfrm>
          <a:prstGeom prst="rect">
            <a:avLst/>
          </a:prstGeom>
          <a:noFill/>
        </p:spPr>
        <p:txBody>
          <a:bodyPr wrap="square" anchor="t" lIns="0" rIns="0" tIns="0" bIns="0">
            <a:spAutoFit/>
          </a:bodyPr>
          <a:lstStyle/>
          <a:p>
            <a:pPr algn="r">
              <a:lnSpc>
                <a:spcPct val="100000"/>
              </a:lnSpc>
              <a:spcAft>
                <a:spcPts val="0"/>
              </a:spcAft>
            </a:pPr>
            <a:r>
              <a:rPr sz="1050" b="0" i="0">
                <a:solidFill>
                  <a:srgbClr val="454F78"/>
                </a:solidFill>
                <a:latin typeface="Segoe UI"/>
              </a:rPr>
              <a:t>9 / 22</a:t>
            </a:r>
          </a:p>
        </p:txBody>
      </p:sp>
      <p:sp>
        <p:nvSpPr>
          <p:cNvPr id="7" name="Rounded Rectangle 6"/>
          <p:cNvSpPr/>
          <p:nvPr/>
        </p:nvSpPr>
        <p:spPr>
          <a:xfrm>
            <a:off x="731520" y="1920240"/>
            <a:ext cx="2606040" cy="2926080"/>
          </a:xfrm>
          <a:prstGeom prst="roundRect">
            <a:avLst>
              <a:gd name="adj" fmla="val 4500"/>
            </a:avLst>
          </a:prstGeom>
          <a:solidFill>
            <a:srgbClr val="FFFFFF"/>
          </a:solidFill>
          <a:ln w="9525">
            <a:solidFill>
              <a:srgbClr val="D8DC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31520" y="1920240"/>
            <a:ext cx="54864" cy="2926080"/>
          </a:xfrm>
          <a:prstGeom prst="rect">
            <a:avLst/>
          </a:prstGeom>
          <a:solidFill>
            <a:srgbClr val="2F9E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96112" y="2029968"/>
            <a:ext cx="2276856" cy="274320"/>
          </a:xfrm>
          <a:prstGeom prst="rect">
            <a:avLst/>
          </a:prstGeom>
          <a:noFill/>
        </p:spPr>
        <p:txBody>
          <a:bodyPr wrap="square" anchor="t" lIns="0" rIns="0" tIns="0" bIns="0">
            <a:spAutoFit/>
          </a:bodyPr>
          <a:lstStyle/>
          <a:p>
            <a:pPr algn="l">
              <a:lnSpc>
                <a:spcPct val="100000"/>
              </a:lnSpc>
              <a:spcAft>
                <a:spcPts val="0"/>
              </a:spcAft>
            </a:pPr>
            <a:r>
              <a:rPr sz="1000" b="1" i="0">
                <a:solidFill>
                  <a:srgbClr val="454F78"/>
                </a:solidFill>
                <a:latin typeface="Segoe UI"/>
              </a:rPr>
              <a:t>OBJETIVO 1</a:t>
            </a:r>
          </a:p>
        </p:txBody>
      </p:sp>
      <p:sp>
        <p:nvSpPr>
          <p:cNvPr id="10" name="TextBox 9"/>
          <p:cNvSpPr txBox="1"/>
          <p:nvPr/>
        </p:nvSpPr>
        <p:spPr>
          <a:xfrm>
            <a:off x="896112" y="2304288"/>
            <a:ext cx="2276856" cy="2423160"/>
          </a:xfrm>
          <a:prstGeom prst="rect">
            <a:avLst/>
          </a:prstGeom>
          <a:noFill/>
        </p:spPr>
        <p:txBody>
          <a:bodyPr wrap="square" anchor="t" lIns="0" rIns="0" tIns="0" bIns="0">
            <a:spAutoFit/>
          </a:bodyPr>
          <a:lstStyle/>
          <a:p>
            <a:pPr algn="l">
              <a:lnSpc>
                <a:spcPct val="112000"/>
              </a:lnSpc>
              <a:spcAft>
                <a:spcPts val="0"/>
              </a:spcAft>
            </a:pPr>
            <a:r>
              <a:rPr sz="1200" b="0" i="0">
                <a:solidFill>
                  <a:srgbClr val="1B2559"/>
                </a:solidFill>
                <a:latin typeface="Segoe UI"/>
              </a:rPr>
              <a:t>Centralizar matrícula, pagos y asistencia — 21 colecciones de datos operativas documentadas.</a:t>
            </a:r>
          </a:p>
        </p:txBody>
      </p:sp>
      <p:sp>
        <p:nvSpPr>
          <p:cNvPr id="11" name="Rounded Rectangle 10"/>
          <p:cNvSpPr/>
          <p:nvPr/>
        </p:nvSpPr>
        <p:spPr>
          <a:xfrm>
            <a:off x="3502152" y="1920240"/>
            <a:ext cx="2606040" cy="2926080"/>
          </a:xfrm>
          <a:prstGeom prst="roundRect">
            <a:avLst>
              <a:gd name="adj" fmla="val 4500"/>
            </a:avLst>
          </a:prstGeom>
          <a:solidFill>
            <a:srgbClr val="FFFFFF"/>
          </a:solidFill>
          <a:ln w="9525">
            <a:solidFill>
              <a:srgbClr val="D8DC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502152" y="1920240"/>
            <a:ext cx="54864" cy="2926080"/>
          </a:xfrm>
          <a:prstGeom prst="rect">
            <a:avLst/>
          </a:prstGeom>
          <a:solidFill>
            <a:srgbClr val="2F9E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66744" y="2029968"/>
            <a:ext cx="2276856" cy="274320"/>
          </a:xfrm>
          <a:prstGeom prst="rect">
            <a:avLst/>
          </a:prstGeom>
          <a:noFill/>
        </p:spPr>
        <p:txBody>
          <a:bodyPr wrap="square" anchor="t" lIns="0" rIns="0" tIns="0" bIns="0">
            <a:spAutoFit/>
          </a:bodyPr>
          <a:lstStyle/>
          <a:p>
            <a:pPr algn="l">
              <a:lnSpc>
                <a:spcPct val="100000"/>
              </a:lnSpc>
              <a:spcAft>
                <a:spcPts val="0"/>
              </a:spcAft>
            </a:pPr>
            <a:r>
              <a:rPr sz="1000" b="1" i="0">
                <a:solidFill>
                  <a:srgbClr val="454F78"/>
                </a:solidFill>
                <a:latin typeface="Segoe UI"/>
              </a:rPr>
              <a:t>OBJETIVO 2</a:t>
            </a:r>
          </a:p>
        </p:txBody>
      </p:sp>
      <p:sp>
        <p:nvSpPr>
          <p:cNvPr id="14" name="TextBox 13"/>
          <p:cNvSpPr txBox="1"/>
          <p:nvPr/>
        </p:nvSpPr>
        <p:spPr>
          <a:xfrm>
            <a:off x="3666744" y="2304288"/>
            <a:ext cx="2276856" cy="2423160"/>
          </a:xfrm>
          <a:prstGeom prst="rect">
            <a:avLst/>
          </a:prstGeom>
          <a:noFill/>
        </p:spPr>
        <p:txBody>
          <a:bodyPr wrap="square" anchor="t" lIns="0" rIns="0" tIns="0" bIns="0">
            <a:spAutoFit/>
          </a:bodyPr>
          <a:lstStyle/>
          <a:p>
            <a:pPr algn="l">
              <a:lnSpc>
                <a:spcPct val="112000"/>
              </a:lnSpc>
              <a:spcAft>
                <a:spcPts val="0"/>
              </a:spcAft>
            </a:pPr>
            <a:r>
              <a:rPr sz="1200" b="0" i="0">
                <a:solidFill>
                  <a:srgbClr val="1B2559"/>
                </a:solidFill>
                <a:latin typeface="Segoe UI"/>
              </a:rPr>
              <a:t>4 portales por rol + consulta pública para padres — rutas protegidas verificables en el código.</a:t>
            </a:r>
          </a:p>
        </p:txBody>
      </p:sp>
      <p:sp>
        <p:nvSpPr>
          <p:cNvPr id="15" name="Rounded Rectangle 14"/>
          <p:cNvSpPr/>
          <p:nvPr/>
        </p:nvSpPr>
        <p:spPr>
          <a:xfrm>
            <a:off x="6272784" y="1920240"/>
            <a:ext cx="2606040" cy="2926080"/>
          </a:xfrm>
          <a:prstGeom prst="roundRect">
            <a:avLst>
              <a:gd name="adj" fmla="val 4500"/>
            </a:avLst>
          </a:prstGeom>
          <a:solidFill>
            <a:srgbClr val="FFFFFF"/>
          </a:solidFill>
          <a:ln w="9525">
            <a:solidFill>
              <a:srgbClr val="D8DC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72784" y="1920240"/>
            <a:ext cx="54864" cy="2926080"/>
          </a:xfrm>
          <a:prstGeom prst="rect">
            <a:avLst/>
          </a:prstGeom>
          <a:solidFill>
            <a:srgbClr val="2F9E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37376" y="2029968"/>
            <a:ext cx="2276856" cy="274320"/>
          </a:xfrm>
          <a:prstGeom prst="rect">
            <a:avLst/>
          </a:prstGeom>
          <a:noFill/>
        </p:spPr>
        <p:txBody>
          <a:bodyPr wrap="square" anchor="t" lIns="0" rIns="0" tIns="0" bIns="0">
            <a:spAutoFit/>
          </a:bodyPr>
          <a:lstStyle/>
          <a:p>
            <a:pPr algn="l">
              <a:lnSpc>
                <a:spcPct val="100000"/>
              </a:lnSpc>
              <a:spcAft>
                <a:spcPts val="0"/>
              </a:spcAft>
            </a:pPr>
            <a:r>
              <a:rPr sz="1000" b="1" i="0">
                <a:solidFill>
                  <a:srgbClr val="454F78"/>
                </a:solidFill>
                <a:latin typeface="Segoe UI"/>
              </a:rPr>
              <a:t>OBJETIVO 3</a:t>
            </a:r>
          </a:p>
        </p:txBody>
      </p:sp>
      <p:sp>
        <p:nvSpPr>
          <p:cNvPr id="18" name="TextBox 17"/>
          <p:cNvSpPr txBox="1"/>
          <p:nvPr/>
        </p:nvSpPr>
        <p:spPr>
          <a:xfrm>
            <a:off x="6437376" y="2304288"/>
            <a:ext cx="2276856" cy="2423160"/>
          </a:xfrm>
          <a:prstGeom prst="rect">
            <a:avLst/>
          </a:prstGeom>
          <a:noFill/>
        </p:spPr>
        <p:txBody>
          <a:bodyPr wrap="square" anchor="t" lIns="0" rIns="0" tIns="0" bIns="0">
            <a:spAutoFit/>
          </a:bodyPr>
          <a:lstStyle/>
          <a:p>
            <a:pPr algn="l">
              <a:lnSpc>
                <a:spcPct val="112000"/>
              </a:lnSpc>
              <a:spcAft>
                <a:spcPts val="0"/>
              </a:spcAft>
            </a:pPr>
            <a:r>
              <a:rPr sz="1200" b="0" i="0">
                <a:solidFill>
                  <a:srgbClr val="1B2559"/>
                </a:solidFill>
                <a:latin typeface="Segoe UI"/>
              </a:rPr>
              <a:t>Asistencia por código QR — tokens y registros con trazabilidad real.</a:t>
            </a:r>
          </a:p>
        </p:txBody>
      </p:sp>
      <p:sp>
        <p:nvSpPr>
          <p:cNvPr id="19" name="Rounded Rectangle 18"/>
          <p:cNvSpPr/>
          <p:nvPr/>
        </p:nvSpPr>
        <p:spPr>
          <a:xfrm>
            <a:off x="9043416" y="1920240"/>
            <a:ext cx="2606040" cy="2926080"/>
          </a:xfrm>
          <a:prstGeom prst="roundRect">
            <a:avLst>
              <a:gd name="adj" fmla="val 4500"/>
            </a:avLst>
          </a:prstGeom>
          <a:solidFill>
            <a:srgbClr val="FFFFFF"/>
          </a:solidFill>
          <a:ln w="9525">
            <a:solidFill>
              <a:srgbClr val="D8DC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208008" y="2029968"/>
            <a:ext cx="2276856" cy="274320"/>
          </a:xfrm>
          <a:prstGeom prst="rect">
            <a:avLst/>
          </a:prstGeom>
          <a:noFill/>
        </p:spPr>
        <p:txBody>
          <a:bodyPr wrap="square" anchor="t" lIns="0" rIns="0" tIns="0" bIns="0">
            <a:spAutoFit/>
          </a:bodyPr>
          <a:lstStyle/>
          <a:p>
            <a:pPr algn="l">
              <a:lnSpc>
                <a:spcPct val="100000"/>
              </a:lnSpc>
              <a:spcAft>
                <a:spcPts val="0"/>
              </a:spcAft>
            </a:pPr>
            <a:r>
              <a:rPr sz="1000" b="1" i="0">
                <a:solidFill>
                  <a:srgbClr val="454F78"/>
                </a:solidFill>
                <a:latin typeface="Segoe UI"/>
              </a:rPr>
              <a:t>BENEFICIO ESPERADO</a:t>
            </a:r>
          </a:p>
        </p:txBody>
      </p:sp>
      <p:sp>
        <p:nvSpPr>
          <p:cNvPr id="21" name="TextBox 20"/>
          <p:cNvSpPr txBox="1"/>
          <p:nvPr/>
        </p:nvSpPr>
        <p:spPr>
          <a:xfrm>
            <a:off x="9208008" y="2304288"/>
            <a:ext cx="2276856" cy="2423160"/>
          </a:xfrm>
          <a:prstGeom prst="rect">
            <a:avLst/>
          </a:prstGeom>
          <a:noFill/>
        </p:spPr>
        <p:txBody>
          <a:bodyPr wrap="square" anchor="t" lIns="0" rIns="0" tIns="0" bIns="0">
            <a:spAutoFit/>
          </a:bodyPr>
          <a:lstStyle/>
          <a:p>
            <a:pPr algn="l">
              <a:lnSpc>
                <a:spcPct val="112000"/>
              </a:lnSpc>
              <a:spcAft>
                <a:spcPts val="0"/>
              </a:spcAft>
            </a:pPr>
            <a:r>
              <a:rPr sz="1200" b="0" i="0">
                <a:solidFill>
                  <a:srgbClr val="1B2559"/>
                </a:solidFill>
                <a:latin typeface="Segoe UI"/>
              </a:rPr>
              <a:t>Menos horas administrativas perdidas, menor riesgo de error en cobros, más confianza de los padres.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6F7FB"/>
        </a:solidFill>
        <a:effectLst/>
      </p:bgPr>
    </p:bg>
    <p:spTree>
      <p:nvGrpSpPr>
        <p:cNvPr id="1" name=""/>
        <p:cNvGrpSpPr/>
        <p:nvPr/>
      </p:nvGrpSpPr>
      <p:grpSpPr/>
      <p:sp>
        <p:nvSpPr>
          <p:cNvPr id="2" name="TextBox 1"/>
          <p:cNvSpPr txBox="1"/>
          <p:nvPr/>
        </p:nvSpPr>
        <p:spPr>
          <a:xfrm>
            <a:off x="731520" y="502920"/>
            <a:ext cx="9601200" cy="320040"/>
          </a:xfrm>
          <a:prstGeom prst="rect">
            <a:avLst/>
          </a:prstGeom>
          <a:noFill/>
        </p:spPr>
        <p:txBody>
          <a:bodyPr wrap="square" anchor="t" lIns="0" rIns="0" tIns="0" bIns="0">
            <a:spAutoFit/>
          </a:bodyPr>
          <a:lstStyle/>
          <a:p>
            <a:pPr algn="l">
              <a:lnSpc>
                <a:spcPct val="100000"/>
              </a:lnSpc>
              <a:spcAft>
                <a:spcPts val="0"/>
              </a:spcAft>
            </a:pPr>
            <a:r>
              <a:rPr sz="1250" b="1" i="0">
                <a:solidFill>
                  <a:srgbClr val="3B5BDB"/>
                </a:solidFill>
                <a:latin typeface="Segoe UI"/>
              </a:rPr>
              <a:t>E2 · 2.2 ANÁLISIS DE ALTERNATIVAS</a:t>
            </a:r>
          </a:p>
        </p:txBody>
      </p:sp>
      <p:sp>
        <p:nvSpPr>
          <p:cNvPr id="3" name="TextBox 2"/>
          <p:cNvSpPr txBox="1"/>
          <p:nvPr/>
        </p:nvSpPr>
        <p:spPr>
          <a:xfrm>
            <a:off x="731520" y="841248"/>
            <a:ext cx="10607040" cy="914400"/>
          </a:xfrm>
          <a:prstGeom prst="rect">
            <a:avLst/>
          </a:prstGeom>
          <a:noFill/>
        </p:spPr>
        <p:txBody>
          <a:bodyPr wrap="square" anchor="t" lIns="0" rIns="0" tIns="0" bIns="0">
            <a:spAutoFit/>
          </a:bodyPr>
          <a:lstStyle/>
          <a:p>
            <a:pPr algn="l">
              <a:lnSpc>
                <a:spcPct val="102000"/>
              </a:lnSpc>
              <a:spcAft>
                <a:spcPts val="0"/>
              </a:spcAft>
            </a:pPr>
            <a:r>
              <a:rPr sz="2300" b="0" i="0">
                <a:solidFill>
                  <a:srgbClr val="1B2559"/>
                </a:solidFill>
                <a:latin typeface="Segoe UI"/>
              </a:rPr>
              <a:t>Por qué no un Excel, por qué no un SaaS genérico</a:t>
            </a:r>
          </a:p>
        </p:txBody>
      </p:sp>
      <p:sp>
        <p:nvSpPr>
          <p:cNvPr id="4" name="Rectangle 3"/>
          <p:cNvSpPr/>
          <p:nvPr/>
        </p:nvSpPr>
        <p:spPr>
          <a:xfrm>
            <a:off x="731520" y="1627632"/>
            <a:ext cx="10698480" cy="15240"/>
          </a:xfrm>
          <a:prstGeom prst="rect">
            <a:avLst/>
          </a:prstGeom>
          <a:solidFill>
            <a:srgbClr val="3B5B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6473952"/>
            <a:ext cx="7772400" cy="292608"/>
          </a:xfrm>
          <a:prstGeom prst="rect">
            <a:avLst/>
          </a:prstGeom>
          <a:noFill/>
        </p:spPr>
        <p:txBody>
          <a:bodyPr wrap="square" anchor="t" lIns="0" rIns="0" tIns="0" bIns="0">
            <a:spAutoFit/>
          </a:bodyPr>
          <a:lstStyle/>
          <a:p>
            <a:pPr algn="l">
              <a:lnSpc>
                <a:spcPct val="100000"/>
              </a:lnSpc>
              <a:spcAft>
                <a:spcPts val="0"/>
              </a:spcAft>
            </a:pPr>
            <a:r>
              <a:rPr sz="1050" b="0" i="0">
                <a:solidFill>
                  <a:srgbClr val="454F78"/>
                </a:solidFill>
                <a:latin typeface="Segoe UI"/>
              </a:rPr>
              <a:t>Expone: Denilson Leeke Mamani Flores   ·   ⏱ 50s</a:t>
            </a:r>
          </a:p>
        </p:txBody>
      </p:sp>
      <p:sp>
        <p:nvSpPr>
          <p:cNvPr id="6" name="TextBox 5"/>
          <p:cNvSpPr txBox="1"/>
          <p:nvPr/>
        </p:nvSpPr>
        <p:spPr>
          <a:xfrm>
            <a:off x="10881360" y="6473952"/>
            <a:ext cx="822960" cy="292608"/>
          </a:xfrm>
          <a:prstGeom prst="rect">
            <a:avLst/>
          </a:prstGeom>
          <a:noFill/>
        </p:spPr>
        <p:txBody>
          <a:bodyPr wrap="square" anchor="t" lIns="0" rIns="0" tIns="0" bIns="0">
            <a:spAutoFit/>
          </a:bodyPr>
          <a:lstStyle/>
          <a:p>
            <a:pPr algn="r">
              <a:lnSpc>
                <a:spcPct val="100000"/>
              </a:lnSpc>
              <a:spcAft>
                <a:spcPts val="0"/>
              </a:spcAft>
            </a:pPr>
            <a:r>
              <a:rPr sz="1050" b="0" i="0">
                <a:solidFill>
                  <a:srgbClr val="454F78"/>
                </a:solidFill>
                <a:latin typeface="Segoe UI"/>
              </a:rPr>
              <a:t>10 / 22</a:t>
            </a:r>
          </a:p>
        </p:txBody>
      </p:sp>
      <p:graphicFrame>
        <p:nvGraphicFramePr>
          <p:cNvPr id="7" name="Table 6"/>
          <p:cNvGraphicFramePr>
            <a:graphicFrameLocks noGrp="1"/>
          </p:cNvGraphicFramePr>
          <p:nvPr/>
        </p:nvGraphicFramePr>
        <p:xfrm>
          <a:off x="731520" y="1965960"/>
          <a:ext cx="10698480" cy="2834640"/>
        </p:xfrm>
        <a:graphic>
          <a:graphicData uri="http://schemas.openxmlformats.org/drawingml/2006/table">
            <a:tbl>
              <a:tblPr firstRow="1" bandRow="1">
                <a:tableStyleId>{5C22544A-7EE6-4342-B048-85BDC9FD1C3A}</a:tableStyleId>
              </a:tblPr>
              <a:tblGrid>
                <a:gridCol w="5212080"/>
                <a:gridCol w="1828800"/>
                <a:gridCol w="1828800"/>
                <a:gridCol w="1828800"/>
              </a:tblGrid>
              <a:tr h="472440">
                <a:tc>
                  <a:txBody>
                    <a:bodyPr/>
                    <a:lstStyle/>
                    <a:p>
                      <a:pPr>
                        <a:defRPr sz="1100" b="1">
                          <a:solidFill>
                            <a:srgbClr val="FFFFFF"/>
                          </a:solidFill>
                          <a:latin typeface="Segoe UI"/>
                        </a:defRPr>
                      </a:pPr>
                      <a:r>
                        <a:t>Criterio (escala 1–5)</a:t>
                      </a:r>
                    </a:p>
                  </a:txBody>
                  <a:tcPr anchor="ctr" marL="76200" marR="76200" marT="50800" marB="50800">
                    <a:solidFill>
                      <a:srgbClr val="1B2559"/>
                    </a:solidFill>
                  </a:tcPr>
                </a:tc>
                <a:tc>
                  <a:txBody>
                    <a:bodyPr/>
                    <a:lstStyle/>
                    <a:p>
                      <a:pPr>
                        <a:defRPr sz="1100" b="1">
                          <a:solidFill>
                            <a:srgbClr val="FFFFFF"/>
                          </a:solidFill>
                          <a:latin typeface="Segoe UI"/>
                        </a:defRPr>
                      </a:pPr>
                      <a:r>
                        <a:t>A. Manual</a:t>
                      </a:r>
                    </a:p>
                  </a:txBody>
                  <a:tcPr anchor="ctr" marL="76200" marR="76200" marT="50800" marB="50800">
                    <a:solidFill>
                      <a:srgbClr val="1B2559"/>
                    </a:solidFill>
                  </a:tcPr>
                </a:tc>
                <a:tc>
                  <a:txBody>
                    <a:bodyPr/>
                    <a:lstStyle/>
                    <a:p>
                      <a:pPr>
                        <a:defRPr sz="1100" b="1">
                          <a:solidFill>
                            <a:srgbClr val="FFFFFF"/>
                          </a:solidFill>
                          <a:latin typeface="Segoe UI"/>
                        </a:defRPr>
                      </a:pPr>
                      <a:r>
                        <a:t>B. SaaS de terceros</a:t>
                      </a:r>
                    </a:p>
                  </a:txBody>
                  <a:tcPr anchor="ctr" marL="76200" marR="76200" marT="50800" marB="50800">
                    <a:solidFill>
                      <a:srgbClr val="1B2559"/>
                    </a:solidFill>
                  </a:tcPr>
                </a:tc>
                <a:tc>
                  <a:txBody>
                    <a:bodyPr/>
                    <a:lstStyle/>
                    <a:p>
                      <a:pPr>
                        <a:defRPr sz="1100" b="1">
                          <a:solidFill>
                            <a:srgbClr val="1B2559"/>
                          </a:solidFill>
                          <a:latin typeface="Segoe UI"/>
                        </a:defRPr>
                      </a:pPr>
                      <a:r>
                        <a:t>C. Plataforma propia</a:t>
                      </a:r>
                    </a:p>
                  </a:txBody>
                  <a:tcPr anchor="ctr" marL="76200" marR="76200" marT="50800" marB="50800">
                    <a:solidFill>
                      <a:srgbClr val="DDE3FB"/>
                    </a:solidFill>
                  </a:tcPr>
                </a:tc>
              </a:tr>
              <a:tr h="472440">
                <a:tc>
                  <a:txBody>
                    <a:bodyPr/>
                    <a:lstStyle/>
                    <a:p>
                      <a:pPr>
                        <a:defRPr sz="1150" b="0">
                          <a:solidFill>
                            <a:srgbClr val="1B2559"/>
                          </a:solidFill>
                          <a:latin typeface="Segoe UI"/>
                        </a:defRPr>
                      </a:pPr>
                      <a:r>
                        <a:t>Costo total a 3 años</a:t>
                      </a:r>
                    </a:p>
                  </a:txBody>
                  <a:tcPr anchor="ctr" marL="76200" marR="76200" marT="50800" marB="50800">
                    <a:solidFill>
                      <a:srgbClr val="FFFFFF"/>
                    </a:solidFill>
                  </a:tcPr>
                </a:tc>
                <a:tc>
                  <a:txBody>
                    <a:bodyPr/>
                    <a:lstStyle/>
                    <a:p>
                      <a:pPr>
                        <a:defRPr sz="1150" b="0">
                          <a:solidFill>
                            <a:srgbClr val="1B2559"/>
                          </a:solidFill>
                          <a:latin typeface="Segoe UI"/>
                        </a:defRPr>
                      </a:pPr>
                      <a:r>
                        <a:t>2</a:t>
                      </a:r>
                    </a:p>
                  </a:txBody>
                  <a:tcPr anchor="ctr" marL="76200" marR="76200" marT="50800" marB="50800">
                    <a:solidFill>
                      <a:srgbClr val="FFFFFF"/>
                    </a:solidFill>
                  </a:tcPr>
                </a:tc>
                <a:tc>
                  <a:txBody>
                    <a:bodyPr/>
                    <a:lstStyle/>
                    <a:p>
                      <a:pPr>
                        <a:defRPr sz="1150" b="0">
                          <a:solidFill>
                            <a:srgbClr val="1B2559"/>
                          </a:solidFill>
                          <a:latin typeface="Segoe UI"/>
                        </a:defRPr>
                      </a:pPr>
                      <a:r>
                        <a:t>2</a:t>
                      </a:r>
                    </a:p>
                  </a:txBody>
                  <a:tcPr anchor="ctr" marL="76200" marR="76200" marT="50800" marB="50800">
                    <a:solidFill>
                      <a:srgbClr val="FFFFFF"/>
                    </a:solidFill>
                  </a:tcPr>
                </a:tc>
                <a:tc>
                  <a:txBody>
                    <a:bodyPr/>
                    <a:lstStyle/>
                    <a:p>
                      <a:pPr>
                        <a:defRPr sz="1150" b="0">
                          <a:solidFill>
                            <a:srgbClr val="1B2559"/>
                          </a:solidFill>
                          <a:latin typeface="Segoe UI"/>
                        </a:defRPr>
                      </a:pPr>
                      <a:r>
                        <a:t>4</a:t>
                      </a:r>
                    </a:p>
                  </a:txBody>
                  <a:tcPr anchor="ctr" marL="76200" marR="76200" marT="50800" marB="50800">
                    <a:solidFill>
                      <a:srgbClr val="DDE3FB"/>
                    </a:solidFill>
                  </a:tcPr>
                </a:tc>
              </a:tr>
              <a:tr h="472440">
                <a:tc>
                  <a:txBody>
                    <a:bodyPr/>
                    <a:lstStyle/>
                    <a:p>
                      <a:pPr>
                        <a:defRPr sz="1150" b="0">
                          <a:solidFill>
                            <a:srgbClr val="1B2559"/>
                          </a:solidFill>
                          <a:latin typeface="Segoe UI"/>
                        </a:defRPr>
                      </a:pPr>
                      <a:r>
                        <a:t>Ajuste al flujo real de CERMAT</a:t>
                      </a:r>
                    </a:p>
                  </a:txBody>
                  <a:tcPr anchor="ctr" marL="76200" marR="76200" marT="50800" marB="50800">
                    <a:solidFill>
                      <a:srgbClr val="FFFFFF"/>
                    </a:solidFill>
                  </a:tcPr>
                </a:tc>
                <a:tc>
                  <a:txBody>
                    <a:bodyPr/>
                    <a:lstStyle/>
                    <a:p>
                      <a:pPr>
                        <a:defRPr sz="1150" b="0">
                          <a:solidFill>
                            <a:srgbClr val="1B2559"/>
                          </a:solidFill>
                          <a:latin typeface="Segoe UI"/>
                        </a:defRPr>
                      </a:pPr>
                      <a:r>
                        <a:t>1</a:t>
                      </a:r>
                    </a:p>
                  </a:txBody>
                  <a:tcPr anchor="ctr" marL="76200" marR="76200" marT="50800" marB="50800">
                    <a:solidFill>
                      <a:srgbClr val="FFFFFF"/>
                    </a:solidFill>
                  </a:tcPr>
                </a:tc>
                <a:tc>
                  <a:txBody>
                    <a:bodyPr/>
                    <a:lstStyle/>
                    <a:p>
                      <a:pPr>
                        <a:defRPr sz="1150" b="0">
                          <a:solidFill>
                            <a:srgbClr val="1B2559"/>
                          </a:solidFill>
                          <a:latin typeface="Segoe UI"/>
                        </a:defRPr>
                      </a:pPr>
                      <a:r>
                        <a:t>2</a:t>
                      </a:r>
                    </a:p>
                  </a:txBody>
                  <a:tcPr anchor="ctr" marL="76200" marR="76200" marT="50800" marB="50800">
                    <a:solidFill>
                      <a:srgbClr val="FFFFFF"/>
                    </a:solidFill>
                  </a:tcPr>
                </a:tc>
                <a:tc>
                  <a:txBody>
                    <a:bodyPr/>
                    <a:lstStyle/>
                    <a:p>
                      <a:pPr>
                        <a:defRPr sz="1150" b="0">
                          <a:solidFill>
                            <a:srgbClr val="1B2559"/>
                          </a:solidFill>
                          <a:latin typeface="Segoe UI"/>
                        </a:defRPr>
                      </a:pPr>
                      <a:r>
                        <a:t>5</a:t>
                      </a:r>
                    </a:p>
                  </a:txBody>
                  <a:tcPr anchor="ctr" marL="76200" marR="76200" marT="50800" marB="50800">
                    <a:solidFill>
                      <a:srgbClr val="DDE3FB"/>
                    </a:solidFill>
                  </a:tcPr>
                </a:tc>
              </a:tr>
              <a:tr h="472440">
                <a:tc>
                  <a:txBody>
                    <a:bodyPr/>
                    <a:lstStyle/>
                    <a:p>
                      <a:pPr>
                        <a:defRPr sz="1150" b="0">
                          <a:solidFill>
                            <a:srgbClr val="1B2559"/>
                          </a:solidFill>
                          <a:latin typeface="Segoe UI"/>
                        </a:defRPr>
                      </a:pPr>
                      <a:r>
                        <a:t>Control y propiedad de los datos</a:t>
                      </a:r>
                    </a:p>
                  </a:txBody>
                  <a:tcPr anchor="ctr" marL="76200" marR="76200" marT="50800" marB="50800">
                    <a:solidFill>
                      <a:srgbClr val="FFFFFF"/>
                    </a:solidFill>
                  </a:tcPr>
                </a:tc>
                <a:tc>
                  <a:txBody>
                    <a:bodyPr/>
                    <a:lstStyle/>
                    <a:p>
                      <a:pPr>
                        <a:defRPr sz="1150" b="0">
                          <a:solidFill>
                            <a:srgbClr val="1B2559"/>
                          </a:solidFill>
                          <a:latin typeface="Segoe UI"/>
                        </a:defRPr>
                      </a:pPr>
                      <a:r>
                        <a:t>3</a:t>
                      </a:r>
                    </a:p>
                  </a:txBody>
                  <a:tcPr anchor="ctr" marL="76200" marR="76200" marT="50800" marB="50800">
                    <a:solidFill>
                      <a:srgbClr val="FFFFFF"/>
                    </a:solidFill>
                  </a:tcPr>
                </a:tc>
                <a:tc>
                  <a:txBody>
                    <a:bodyPr/>
                    <a:lstStyle/>
                    <a:p>
                      <a:pPr>
                        <a:defRPr sz="1150" b="0">
                          <a:solidFill>
                            <a:srgbClr val="1B2559"/>
                          </a:solidFill>
                          <a:latin typeface="Segoe UI"/>
                        </a:defRPr>
                      </a:pPr>
                      <a:r>
                        <a:t>2</a:t>
                      </a:r>
                    </a:p>
                  </a:txBody>
                  <a:tcPr anchor="ctr" marL="76200" marR="76200" marT="50800" marB="50800">
                    <a:solidFill>
                      <a:srgbClr val="FFFFFF"/>
                    </a:solidFill>
                  </a:tcPr>
                </a:tc>
                <a:tc>
                  <a:txBody>
                    <a:bodyPr/>
                    <a:lstStyle/>
                    <a:p>
                      <a:pPr>
                        <a:defRPr sz="1150" b="0">
                          <a:solidFill>
                            <a:srgbClr val="1B2559"/>
                          </a:solidFill>
                          <a:latin typeface="Segoe UI"/>
                        </a:defRPr>
                      </a:pPr>
                      <a:r>
                        <a:t>5</a:t>
                      </a:r>
                    </a:p>
                  </a:txBody>
                  <a:tcPr anchor="ctr" marL="76200" marR="76200" marT="50800" marB="50800">
                    <a:solidFill>
                      <a:srgbClr val="DDE3FB"/>
                    </a:solidFill>
                  </a:tcPr>
                </a:tc>
              </a:tr>
              <a:tr h="472440">
                <a:tc>
                  <a:txBody>
                    <a:bodyPr/>
                    <a:lstStyle/>
                    <a:p>
                      <a:pPr>
                        <a:defRPr sz="1150" b="0">
                          <a:solidFill>
                            <a:srgbClr val="1B2559"/>
                          </a:solidFill>
                          <a:latin typeface="Segoe UI"/>
                        </a:defRPr>
                      </a:pPr>
                      <a:r>
                        <a:t>Velocidad de evolución futura</a:t>
                      </a:r>
                    </a:p>
                  </a:txBody>
                  <a:tcPr anchor="ctr" marL="76200" marR="76200" marT="50800" marB="50800">
                    <a:solidFill>
                      <a:srgbClr val="FFFFFF"/>
                    </a:solidFill>
                  </a:tcPr>
                </a:tc>
                <a:tc>
                  <a:txBody>
                    <a:bodyPr/>
                    <a:lstStyle/>
                    <a:p>
                      <a:pPr>
                        <a:defRPr sz="1150" b="0">
                          <a:solidFill>
                            <a:srgbClr val="1B2559"/>
                          </a:solidFill>
                          <a:latin typeface="Segoe UI"/>
                        </a:defRPr>
                      </a:pPr>
                      <a:r>
                        <a:t>1</a:t>
                      </a:r>
                    </a:p>
                  </a:txBody>
                  <a:tcPr anchor="ctr" marL="76200" marR="76200" marT="50800" marB="50800">
                    <a:solidFill>
                      <a:srgbClr val="FFFFFF"/>
                    </a:solidFill>
                  </a:tcPr>
                </a:tc>
                <a:tc>
                  <a:txBody>
                    <a:bodyPr/>
                    <a:lstStyle/>
                    <a:p>
                      <a:pPr>
                        <a:defRPr sz="1150" b="0">
                          <a:solidFill>
                            <a:srgbClr val="1B2559"/>
                          </a:solidFill>
                          <a:latin typeface="Segoe UI"/>
                        </a:defRPr>
                      </a:pPr>
                      <a:r>
                        <a:t>2</a:t>
                      </a:r>
                    </a:p>
                  </a:txBody>
                  <a:tcPr anchor="ctr" marL="76200" marR="76200" marT="50800" marB="50800">
                    <a:solidFill>
                      <a:srgbClr val="FFFFFF"/>
                    </a:solidFill>
                  </a:tcPr>
                </a:tc>
                <a:tc>
                  <a:txBody>
                    <a:bodyPr/>
                    <a:lstStyle/>
                    <a:p>
                      <a:pPr>
                        <a:defRPr sz="1150" b="0">
                          <a:solidFill>
                            <a:srgbClr val="1B2559"/>
                          </a:solidFill>
                          <a:latin typeface="Segoe UI"/>
                        </a:defRPr>
                      </a:pPr>
                      <a:r>
                        <a:t>4</a:t>
                      </a:r>
                    </a:p>
                  </a:txBody>
                  <a:tcPr anchor="ctr" marL="76200" marR="76200" marT="50800" marB="50800">
                    <a:solidFill>
                      <a:srgbClr val="DDE3FB"/>
                    </a:solidFill>
                  </a:tcPr>
                </a:tc>
              </a:tr>
              <a:tr h="472440">
                <a:tc>
                  <a:txBody>
                    <a:bodyPr/>
                    <a:lstStyle/>
                    <a:p>
                      <a:pPr>
                        <a:defRPr sz="1150" b="1">
                          <a:solidFill>
                            <a:srgbClr val="1B2559"/>
                          </a:solidFill>
                          <a:latin typeface="Segoe UI"/>
                        </a:defRPr>
                      </a:pPr>
                      <a:r>
                        <a:t>Total</a:t>
                      </a:r>
                    </a:p>
                  </a:txBody>
                  <a:tcPr anchor="ctr" marL="76200" marR="76200" marT="50800" marB="50800">
                    <a:solidFill>
                      <a:srgbClr val="FFFFFF"/>
                    </a:solidFill>
                  </a:tcPr>
                </a:tc>
                <a:tc>
                  <a:txBody>
                    <a:bodyPr/>
                    <a:lstStyle/>
                    <a:p>
                      <a:pPr>
                        <a:defRPr sz="1150" b="1">
                          <a:solidFill>
                            <a:srgbClr val="1B2559"/>
                          </a:solidFill>
                          <a:latin typeface="Segoe UI"/>
                        </a:defRPr>
                      </a:pPr>
                      <a:r>
                        <a:t>7</a:t>
                      </a:r>
                    </a:p>
                  </a:txBody>
                  <a:tcPr anchor="ctr" marL="76200" marR="76200" marT="50800" marB="50800">
                    <a:solidFill>
                      <a:srgbClr val="FFFFFF"/>
                    </a:solidFill>
                  </a:tcPr>
                </a:tc>
                <a:tc>
                  <a:txBody>
                    <a:bodyPr/>
                    <a:lstStyle/>
                    <a:p>
                      <a:pPr>
                        <a:defRPr sz="1150" b="1">
                          <a:solidFill>
                            <a:srgbClr val="1B2559"/>
                          </a:solidFill>
                          <a:latin typeface="Segoe UI"/>
                        </a:defRPr>
                      </a:pPr>
                      <a:r>
                        <a:t>8</a:t>
                      </a:r>
                    </a:p>
                  </a:txBody>
                  <a:tcPr anchor="ctr" marL="76200" marR="76200" marT="50800" marB="50800">
                    <a:solidFill>
                      <a:srgbClr val="FFFFFF"/>
                    </a:solidFill>
                  </a:tcPr>
                </a:tc>
                <a:tc>
                  <a:txBody>
                    <a:bodyPr/>
                    <a:lstStyle/>
                    <a:p>
                      <a:pPr>
                        <a:defRPr sz="1150" b="1">
                          <a:solidFill>
                            <a:srgbClr val="1B2559"/>
                          </a:solidFill>
                          <a:latin typeface="Segoe UI"/>
                        </a:defRPr>
                      </a:pPr>
                      <a:r>
                        <a:t>18</a:t>
                      </a:r>
                    </a:p>
                  </a:txBody>
                  <a:tcPr anchor="ctr" marL="76200" marR="76200" marT="50800" marB="50800">
                    <a:solidFill>
                      <a:srgbClr val="DDE3FB"/>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6F7FB"/>
        </a:solidFill>
        <a:effectLst/>
      </p:bgPr>
    </p:bg>
    <p:spTree>
      <p:nvGrpSpPr>
        <p:cNvPr id="1" name=""/>
        <p:cNvGrpSpPr/>
        <p:nvPr/>
      </p:nvGrpSpPr>
      <p:grpSpPr/>
      <p:sp>
        <p:nvSpPr>
          <p:cNvPr id="2" name="TextBox 1"/>
          <p:cNvSpPr txBox="1"/>
          <p:nvPr/>
        </p:nvSpPr>
        <p:spPr>
          <a:xfrm>
            <a:off x="731520" y="502920"/>
            <a:ext cx="9601200" cy="320040"/>
          </a:xfrm>
          <a:prstGeom prst="rect">
            <a:avLst/>
          </a:prstGeom>
          <a:noFill/>
        </p:spPr>
        <p:txBody>
          <a:bodyPr wrap="square" anchor="t" lIns="0" rIns="0" tIns="0" bIns="0">
            <a:spAutoFit/>
          </a:bodyPr>
          <a:lstStyle/>
          <a:p>
            <a:pPr algn="l">
              <a:lnSpc>
                <a:spcPct val="100000"/>
              </a:lnSpc>
              <a:spcAft>
                <a:spcPts val="0"/>
              </a:spcAft>
            </a:pPr>
            <a:r>
              <a:rPr sz="1250" b="1" i="0">
                <a:solidFill>
                  <a:srgbClr val="3B5BDB"/>
                </a:solidFill>
                <a:latin typeface="Segoe UI"/>
              </a:rPr>
              <a:t>E2 · 2.4 ESTIMACIÓN DE COSTOS</a:t>
            </a:r>
          </a:p>
        </p:txBody>
      </p:sp>
      <p:sp>
        <p:nvSpPr>
          <p:cNvPr id="3" name="TextBox 2"/>
          <p:cNvSpPr txBox="1"/>
          <p:nvPr/>
        </p:nvSpPr>
        <p:spPr>
          <a:xfrm>
            <a:off x="731520" y="841248"/>
            <a:ext cx="10607040" cy="914400"/>
          </a:xfrm>
          <a:prstGeom prst="rect">
            <a:avLst/>
          </a:prstGeom>
          <a:noFill/>
        </p:spPr>
        <p:txBody>
          <a:bodyPr wrap="square" anchor="t" lIns="0" rIns="0" tIns="0" bIns="0">
            <a:spAutoFit/>
          </a:bodyPr>
          <a:lstStyle/>
          <a:p>
            <a:pPr algn="l">
              <a:lnSpc>
                <a:spcPct val="102000"/>
              </a:lnSpc>
              <a:spcAft>
                <a:spcPts val="0"/>
              </a:spcAft>
            </a:pPr>
            <a:r>
              <a:rPr sz="2300" b="0" i="0">
                <a:solidFill>
                  <a:srgbClr val="1B2559"/>
                </a:solidFill>
                <a:latin typeface="Segoe UI"/>
              </a:rPr>
              <a:t>Sin licencias recurrentes, con costo operativo variable</a:t>
            </a:r>
          </a:p>
        </p:txBody>
      </p:sp>
      <p:sp>
        <p:nvSpPr>
          <p:cNvPr id="4" name="Rectangle 3"/>
          <p:cNvSpPr/>
          <p:nvPr/>
        </p:nvSpPr>
        <p:spPr>
          <a:xfrm>
            <a:off x="731520" y="1627632"/>
            <a:ext cx="10698480" cy="15240"/>
          </a:xfrm>
          <a:prstGeom prst="rect">
            <a:avLst/>
          </a:prstGeom>
          <a:solidFill>
            <a:srgbClr val="3B5B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6473952"/>
            <a:ext cx="7772400" cy="292608"/>
          </a:xfrm>
          <a:prstGeom prst="rect">
            <a:avLst/>
          </a:prstGeom>
          <a:noFill/>
        </p:spPr>
        <p:txBody>
          <a:bodyPr wrap="square" anchor="t" lIns="0" rIns="0" tIns="0" bIns="0">
            <a:spAutoFit/>
          </a:bodyPr>
          <a:lstStyle/>
          <a:p>
            <a:pPr algn="l">
              <a:lnSpc>
                <a:spcPct val="100000"/>
              </a:lnSpc>
              <a:spcAft>
                <a:spcPts val="0"/>
              </a:spcAft>
            </a:pPr>
            <a:r>
              <a:rPr sz="1050" b="0" i="0">
                <a:solidFill>
                  <a:srgbClr val="454F78"/>
                </a:solidFill>
                <a:latin typeface="Segoe UI"/>
              </a:rPr>
              <a:t>Expone: Denilson Leeke Mamani Flores   ·   ⏱ 40s</a:t>
            </a:r>
          </a:p>
        </p:txBody>
      </p:sp>
      <p:sp>
        <p:nvSpPr>
          <p:cNvPr id="6" name="TextBox 5"/>
          <p:cNvSpPr txBox="1"/>
          <p:nvPr/>
        </p:nvSpPr>
        <p:spPr>
          <a:xfrm>
            <a:off x="10881360" y="6473952"/>
            <a:ext cx="822960" cy="292608"/>
          </a:xfrm>
          <a:prstGeom prst="rect">
            <a:avLst/>
          </a:prstGeom>
          <a:noFill/>
        </p:spPr>
        <p:txBody>
          <a:bodyPr wrap="square" anchor="t" lIns="0" rIns="0" tIns="0" bIns="0">
            <a:spAutoFit/>
          </a:bodyPr>
          <a:lstStyle/>
          <a:p>
            <a:pPr algn="r">
              <a:lnSpc>
                <a:spcPct val="100000"/>
              </a:lnSpc>
              <a:spcAft>
                <a:spcPts val="0"/>
              </a:spcAft>
            </a:pPr>
            <a:r>
              <a:rPr sz="1050" b="0" i="0">
                <a:solidFill>
                  <a:srgbClr val="454F78"/>
                </a:solidFill>
                <a:latin typeface="Segoe UI"/>
              </a:rPr>
              <a:t>11 / 22</a:t>
            </a:r>
          </a:p>
        </p:txBody>
      </p:sp>
      <p:sp>
        <p:nvSpPr>
          <p:cNvPr id="7" name="Rounded Rectangle 6"/>
          <p:cNvSpPr/>
          <p:nvPr/>
        </p:nvSpPr>
        <p:spPr>
          <a:xfrm>
            <a:off x="731520" y="1920240"/>
            <a:ext cx="5120640" cy="1417320"/>
          </a:xfrm>
          <a:prstGeom prst="roundRect">
            <a:avLst>
              <a:gd name="adj" fmla="val 4500"/>
            </a:avLst>
          </a:prstGeom>
          <a:solidFill>
            <a:srgbClr val="FFFFFF"/>
          </a:solidFill>
          <a:ln w="9525">
            <a:solidFill>
              <a:srgbClr val="D8DC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96112" y="2029968"/>
            <a:ext cx="4791456" cy="274320"/>
          </a:xfrm>
          <a:prstGeom prst="rect">
            <a:avLst/>
          </a:prstGeom>
          <a:noFill/>
        </p:spPr>
        <p:txBody>
          <a:bodyPr wrap="square" anchor="t" lIns="0" rIns="0" tIns="0" bIns="0">
            <a:spAutoFit/>
          </a:bodyPr>
          <a:lstStyle/>
          <a:p>
            <a:pPr algn="l">
              <a:lnSpc>
                <a:spcPct val="100000"/>
              </a:lnSpc>
              <a:spcAft>
                <a:spcPts val="0"/>
              </a:spcAft>
            </a:pPr>
            <a:r>
              <a:rPr sz="1000" b="1" i="0">
                <a:solidFill>
                  <a:srgbClr val="454F78"/>
                </a:solidFill>
                <a:latin typeface="Segoe UI"/>
              </a:rPr>
              <a:t>INVERSIÓN INICIAL</a:t>
            </a:r>
          </a:p>
        </p:txBody>
      </p:sp>
      <p:sp>
        <p:nvSpPr>
          <p:cNvPr id="9" name="TextBox 8"/>
          <p:cNvSpPr txBox="1"/>
          <p:nvPr/>
        </p:nvSpPr>
        <p:spPr>
          <a:xfrm>
            <a:off x="896112" y="2304288"/>
            <a:ext cx="4791456" cy="914400"/>
          </a:xfrm>
          <a:prstGeom prst="rect">
            <a:avLst/>
          </a:prstGeom>
          <a:noFill/>
        </p:spPr>
        <p:txBody>
          <a:bodyPr wrap="square" anchor="t" lIns="0" rIns="0" tIns="0" bIns="0">
            <a:spAutoFit/>
          </a:bodyPr>
          <a:lstStyle/>
          <a:p>
            <a:pPr algn="l">
              <a:lnSpc>
                <a:spcPct val="112000"/>
              </a:lnSpc>
              <a:spcAft>
                <a:spcPts val="0"/>
              </a:spcAft>
            </a:pPr>
            <a:r>
              <a:rPr sz="1200" b="0" i="0">
                <a:solidFill>
                  <a:srgbClr val="1B2559"/>
                </a:solidFill>
                <a:latin typeface="Segoe UI"/>
              </a:rPr>
              <a:t>Horas de desarrollo del equipo propio, stack de código abierto (React, Node.js, MySQL, Python) — sin licencias.</a:t>
            </a:r>
          </a:p>
        </p:txBody>
      </p:sp>
      <p:sp>
        <p:nvSpPr>
          <p:cNvPr id="10" name="Rounded Rectangle 9"/>
          <p:cNvSpPr/>
          <p:nvPr/>
        </p:nvSpPr>
        <p:spPr>
          <a:xfrm>
            <a:off x="6035040" y="1920240"/>
            <a:ext cx="5394960" cy="1417320"/>
          </a:xfrm>
          <a:prstGeom prst="roundRect">
            <a:avLst>
              <a:gd name="adj" fmla="val 4500"/>
            </a:avLst>
          </a:prstGeom>
          <a:solidFill>
            <a:srgbClr val="FFFFFF"/>
          </a:solidFill>
          <a:ln w="9525">
            <a:solidFill>
              <a:srgbClr val="D8DC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199632" y="2029968"/>
            <a:ext cx="5065776" cy="274320"/>
          </a:xfrm>
          <a:prstGeom prst="rect">
            <a:avLst/>
          </a:prstGeom>
          <a:noFill/>
        </p:spPr>
        <p:txBody>
          <a:bodyPr wrap="square" anchor="t" lIns="0" rIns="0" tIns="0" bIns="0">
            <a:spAutoFit/>
          </a:bodyPr>
          <a:lstStyle/>
          <a:p>
            <a:pPr algn="l">
              <a:lnSpc>
                <a:spcPct val="100000"/>
              </a:lnSpc>
              <a:spcAft>
                <a:spcPts val="0"/>
              </a:spcAft>
            </a:pPr>
            <a:r>
              <a:rPr sz="1000" b="1" i="0">
                <a:solidFill>
                  <a:srgbClr val="454F78"/>
                </a:solidFill>
                <a:latin typeface="Segoe UI"/>
              </a:rPr>
              <a:t>COSTOS RECURRENTES</a:t>
            </a:r>
          </a:p>
        </p:txBody>
      </p:sp>
      <p:sp>
        <p:nvSpPr>
          <p:cNvPr id="12" name="TextBox 11"/>
          <p:cNvSpPr txBox="1"/>
          <p:nvPr/>
        </p:nvSpPr>
        <p:spPr>
          <a:xfrm>
            <a:off x="6199632" y="2304288"/>
            <a:ext cx="5065776" cy="914400"/>
          </a:xfrm>
          <a:prstGeom prst="rect">
            <a:avLst/>
          </a:prstGeom>
          <a:noFill/>
        </p:spPr>
        <p:txBody>
          <a:bodyPr wrap="square" anchor="t" lIns="0" rIns="0" tIns="0" bIns="0">
            <a:spAutoFit/>
          </a:bodyPr>
          <a:lstStyle/>
          <a:p>
            <a:pPr algn="l">
              <a:lnSpc>
                <a:spcPct val="112000"/>
              </a:lnSpc>
              <a:spcAft>
                <a:spcPts val="0"/>
              </a:spcAft>
            </a:pPr>
            <a:r>
              <a:rPr sz="1200" b="0" i="0">
                <a:solidFill>
                  <a:srgbClr val="1B2559"/>
                </a:solidFill>
                <a:latin typeface="Segoe UI"/>
              </a:rPr>
              <a:t>Plan de Firebase según uso (Firestore/Storage/Auth), dominio y hosting de la SPA.</a:t>
            </a:r>
          </a:p>
        </p:txBody>
      </p:sp>
      <p:sp>
        <p:nvSpPr>
          <p:cNvPr id="13" name="Rounded Rectangle 12"/>
          <p:cNvSpPr/>
          <p:nvPr/>
        </p:nvSpPr>
        <p:spPr>
          <a:xfrm>
            <a:off x="731520" y="3520440"/>
            <a:ext cx="5120640" cy="1417320"/>
          </a:xfrm>
          <a:prstGeom prst="roundRect">
            <a:avLst>
              <a:gd name="adj" fmla="val 4500"/>
            </a:avLst>
          </a:prstGeom>
          <a:solidFill>
            <a:srgbClr val="FFFFFF"/>
          </a:solidFill>
          <a:ln w="9525">
            <a:solidFill>
              <a:srgbClr val="D8DC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96112" y="3630168"/>
            <a:ext cx="4791456" cy="274320"/>
          </a:xfrm>
          <a:prstGeom prst="rect">
            <a:avLst/>
          </a:prstGeom>
          <a:noFill/>
        </p:spPr>
        <p:txBody>
          <a:bodyPr wrap="square" anchor="t" lIns="0" rIns="0" tIns="0" bIns="0">
            <a:spAutoFit/>
          </a:bodyPr>
          <a:lstStyle/>
          <a:p>
            <a:pPr algn="l">
              <a:lnSpc>
                <a:spcPct val="100000"/>
              </a:lnSpc>
              <a:spcAft>
                <a:spcPts val="0"/>
              </a:spcAft>
            </a:pPr>
            <a:r>
              <a:rPr sz="1000" b="1" i="0">
                <a:solidFill>
                  <a:srgbClr val="454F78"/>
                </a:solidFill>
                <a:latin typeface="Segoe UI"/>
              </a:rPr>
              <a:t>MANTENIMIENTO</a:t>
            </a:r>
          </a:p>
        </p:txBody>
      </p:sp>
      <p:sp>
        <p:nvSpPr>
          <p:cNvPr id="15" name="TextBox 14"/>
          <p:cNvSpPr txBox="1"/>
          <p:nvPr/>
        </p:nvSpPr>
        <p:spPr>
          <a:xfrm>
            <a:off x="896112" y="3904488"/>
            <a:ext cx="4791456" cy="914400"/>
          </a:xfrm>
          <a:prstGeom prst="rect">
            <a:avLst/>
          </a:prstGeom>
          <a:noFill/>
        </p:spPr>
        <p:txBody>
          <a:bodyPr wrap="square" anchor="t" lIns="0" rIns="0" tIns="0" bIns="0">
            <a:spAutoFit/>
          </a:bodyPr>
          <a:lstStyle/>
          <a:p>
            <a:pPr algn="l">
              <a:lnSpc>
                <a:spcPct val="112000"/>
              </a:lnSpc>
              <a:spcAft>
                <a:spcPts val="0"/>
              </a:spcAft>
            </a:pPr>
            <a:r>
              <a:rPr sz="1200" b="0" i="0">
                <a:solidFill>
                  <a:srgbClr val="1B2559"/>
                </a:solidFill>
                <a:latin typeface="Segoe UI"/>
              </a:rPr>
              <a:t>Horas de soporte y evolución — más de 90 documentos de fase y auditoría respaldan ese trabajo continuo.</a:t>
            </a:r>
          </a:p>
        </p:txBody>
      </p:sp>
      <p:sp>
        <p:nvSpPr>
          <p:cNvPr id="16" name="Rounded Rectangle 15"/>
          <p:cNvSpPr/>
          <p:nvPr/>
        </p:nvSpPr>
        <p:spPr>
          <a:xfrm>
            <a:off x="6035040" y="3520440"/>
            <a:ext cx="5394960" cy="1417320"/>
          </a:xfrm>
          <a:prstGeom prst="roundRect">
            <a:avLst>
              <a:gd name="adj" fmla="val 4500"/>
            </a:avLst>
          </a:prstGeom>
          <a:solidFill>
            <a:srgbClr val="FFFFFF"/>
          </a:solidFill>
          <a:ln w="9525">
            <a:solidFill>
              <a:srgbClr val="D8DC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199632" y="3630168"/>
            <a:ext cx="5065776" cy="274320"/>
          </a:xfrm>
          <a:prstGeom prst="rect">
            <a:avLst/>
          </a:prstGeom>
          <a:noFill/>
        </p:spPr>
        <p:txBody>
          <a:bodyPr wrap="square" anchor="t" lIns="0" rIns="0" tIns="0" bIns="0">
            <a:spAutoFit/>
          </a:bodyPr>
          <a:lstStyle/>
          <a:p>
            <a:pPr algn="l">
              <a:lnSpc>
                <a:spcPct val="100000"/>
              </a:lnSpc>
              <a:spcAft>
                <a:spcPts val="0"/>
              </a:spcAft>
            </a:pPr>
            <a:r>
              <a:rPr sz="1000" b="1" i="0">
                <a:solidFill>
                  <a:srgbClr val="454F78"/>
                </a:solidFill>
                <a:latin typeface="Segoe UI"/>
              </a:rPr>
              <a:t>CAPA LOCAL</a:t>
            </a:r>
          </a:p>
        </p:txBody>
      </p:sp>
      <p:sp>
        <p:nvSpPr>
          <p:cNvPr id="18" name="TextBox 17"/>
          <p:cNvSpPr txBox="1"/>
          <p:nvPr/>
        </p:nvSpPr>
        <p:spPr>
          <a:xfrm>
            <a:off x="6199632" y="3904488"/>
            <a:ext cx="5065776" cy="914400"/>
          </a:xfrm>
          <a:prstGeom prst="rect">
            <a:avLst/>
          </a:prstGeom>
          <a:noFill/>
        </p:spPr>
        <p:txBody>
          <a:bodyPr wrap="square" anchor="t" lIns="0" rIns="0" tIns="0" bIns="0">
            <a:spAutoFit/>
          </a:bodyPr>
          <a:lstStyle/>
          <a:p>
            <a:pPr algn="l">
              <a:lnSpc>
                <a:spcPct val="112000"/>
              </a:lnSpc>
              <a:spcAft>
                <a:spcPts val="0"/>
              </a:spcAft>
            </a:pPr>
            <a:r>
              <a:rPr sz="1200" b="0" i="0">
                <a:solidFill>
                  <a:srgbClr val="1B2559"/>
                </a:solidFill>
                <a:latin typeface="Segoe UI"/>
              </a:rPr>
              <a:t>Servidor local, UPS y conectividad de respaldo, dimensionados en la línea de Infraestructura.</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6F7FB"/>
        </a:solidFill>
        <a:effectLst/>
      </p:bgPr>
    </p:bg>
    <p:spTree>
      <p:nvGrpSpPr>
        <p:cNvPr id="1" name=""/>
        <p:cNvGrpSpPr/>
        <p:nvPr/>
      </p:nvGrpSpPr>
      <p:grpSpPr/>
      <p:sp>
        <p:nvSpPr>
          <p:cNvPr id="2" name="TextBox 1"/>
          <p:cNvSpPr txBox="1"/>
          <p:nvPr/>
        </p:nvSpPr>
        <p:spPr>
          <a:xfrm>
            <a:off x="731520" y="502920"/>
            <a:ext cx="9601200" cy="320040"/>
          </a:xfrm>
          <a:prstGeom prst="rect">
            <a:avLst/>
          </a:prstGeom>
          <a:noFill/>
        </p:spPr>
        <p:txBody>
          <a:bodyPr wrap="square" anchor="t" lIns="0" rIns="0" tIns="0" bIns="0">
            <a:spAutoFit/>
          </a:bodyPr>
          <a:lstStyle/>
          <a:p>
            <a:pPr algn="l">
              <a:lnSpc>
                <a:spcPct val="100000"/>
              </a:lnSpc>
              <a:spcAft>
                <a:spcPts val="0"/>
              </a:spcAft>
            </a:pPr>
            <a:r>
              <a:rPr sz="1250" b="1" i="0">
                <a:solidFill>
                  <a:srgbClr val="3B5BDB"/>
                </a:solidFill>
                <a:latin typeface="Segoe UI"/>
              </a:rPr>
              <a:t>E2 · 2.5 RIESGOS INICIALES</a:t>
            </a:r>
          </a:p>
        </p:txBody>
      </p:sp>
      <p:sp>
        <p:nvSpPr>
          <p:cNvPr id="3" name="TextBox 2"/>
          <p:cNvSpPr txBox="1"/>
          <p:nvPr/>
        </p:nvSpPr>
        <p:spPr>
          <a:xfrm>
            <a:off x="731520" y="841248"/>
            <a:ext cx="10607040" cy="914400"/>
          </a:xfrm>
          <a:prstGeom prst="rect">
            <a:avLst/>
          </a:prstGeom>
          <a:noFill/>
        </p:spPr>
        <p:txBody>
          <a:bodyPr wrap="square" anchor="t" lIns="0" rIns="0" tIns="0" bIns="0">
            <a:spAutoFit/>
          </a:bodyPr>
          <a:lstStyle/>
          <a:p>
            <a:pPr algn="l">
              <a:lnSpc>
                <a:spcPct val="102000"/>
              </a:lnSpc>
              <a:spcAft>
                <a:spcPts val="0"/>
              </a:spcAft>
            </a:pPr>
            <a:r>
              <a:rPr sz="2300" b="0" i="0">
                <a:solidFill>
                  <a:srgbClr val="1B2559"/>
                </a:solidFill>
                <a:latin typeface="Segoe UI"/>
              </a:rPr>
              <a:t>Riesgos identificados desde el negocio, no solo desde la técnica</a:t>
            </a:r>
          </a:p>
        </p:txBody>
      </p:sp>
      <p:sp>
        <p:nvSpPr>
          <p:cNvPr id="4" name="Rectangle 3"/>
          <p:cNvSpPr/>
          <p:nvPr/>
        </p:nvSpPr>
        <p:spPr>
          <a:xfrm>
            <a:off x="731520" y="1627632"/>
            <a:ext cx="10698480" cy="15240"/>
          </a:xfrm>
          <a:prstGeom prst="rect">
            <a:avLst/>
          </a:prstGeom>
          <a:solidFill>
            <a:srgbClr val="3B5B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6473952"/>
            <a:ext cx="7772400" cy="292608"/>
          </a:xfrm>
          <a:prstGeom prst="rect">
            <a:avLst/>
          </a:prstGeom>
          <a:noFill/>
        </p:spPr>
        <p:txBody>
          <a:bodyPr wrap="square" anchor="t" lIns="0" rIns="0" tIns="0" bIns="0">
            <a:spAutoFit/>
          </a:bodyPr>
          <a:lstStyle/>
          <a:p>
            <a:pPr algn="l">
              <a:lnSpc>
                <a:spcPct val="100000"/>
              </a:lnSpc>
              <a:spcAft>
                <a:spcPts val="0"/>
              </a:spcAft>
            </a:pPr>
            <a:r>
              <a:rPr sz="1050" b="0" i="0">
                <a:solidFill>
                  <a:srgbClr val="454F78"/>
                </a:solidFill>
                <a:latin typeface="Segoe UI"/>
              </a:rPr>
              <a:t>Expone: Denilson Leeke Mamani Flores   ·   ⏱ 35s</a:t>
            </a:r>
          </a:p>
        </p:txBody>
      </p:sp>
      <p:sp>
        <p:nvSpPr>
          <p:cNvPr id="6" name="TextBox 5"/>
          <p:cNvSpPr txBox="1"/>
          <p:nvPr/>
        </p:nvSpPr>
        <p:spPr>
          <a:xfrm>
            <a:off x="10881360" y="6473952"/>
            <a:ext cx="822960" cy="292608"/>
          </a:xfrm>
          <a:prstGeom prst="rect">
            <a:avLst/>
          </a:prstGeom>
          <a:noFill/>
        </p:spPr>
        <p:txBody>
          <a:bodyPr wrap="square" anchor="t" lIns="0" rIns="0" tIns="0" bIns="0">
            <a:spAutoFit/>
          </a:bodyPr>
          <a:lstStyle/>
          <a:p>
            <a:pPr algn="r">
              <a:lnSpc>
                <a:spcPct val="100000"/>
              </a:lnSpc>
              <a:spcAft>
                <a:spcPts val="0"/>
              </a:spcAft>
            </a:pPr>
            <a:r>
              <a:rPr sz="1050" b="0" i="0">
                <a:solidFill>
                  <a:srgbClr val="454F78"/>
                </a:solidFill>
                <a:latin typeface="Segoe UI"/>
              </a:rPr>
              <a:t>12 / 22</a:t>
            </a:r>
          </a:p>
        </p:txBody>
      </p:sp>
      <p:graphicFrame>
        <p:nvGraphicFramePr>
          <p:cNvPr id="7" name="Table 6"/>
          <p:cNvGraphicFramePr>
            <a:graphicFrameLocks noGrp="1"/>
          </p:cNvGraphicFramePr>
          <p:nvPr/>
        </p:nvGraphicFramePr>
        <p:xfrm>
          <a:off x="731520" y="1965960"/>
          <a:ext cx="10698480" cy="3108960"/>
        </p:xfrm>
        <a:graphic>
          <a:graphicData uri="http://schemas.openxmlformats.org/drawingml/2006/table">
            <a:tbl>
              <a:tblPr firstRow="1" bandRow="1">
                <a:tableStyleId>{5C22544A-7EE6-4342-B048-85BDC9FD1C3A}</a:tableStyleId>
              </a:tblPr>
              <a:tblGrid>
                <a:gridCol w="4114800"/>
                <a:gridCol w="6583680"/>
              </a:tblGrid>
              <a:tr h="777240">
                <a:tc>
                  <a:txBody>
                    <a:bodyPr/>
                    <a:lstStyle/>
                    <a:p>
                      <a:pPr>
                        <a:defRPr sz="1200" b="1">
                          <a:solidFill>
                            <a:srgbClr val="FFFFFF"/>
                          </a:solidFill>
                          <a:latin typeface="Segoe UI"/>
                        </a:defRPr>
                      </a:pPr>
                      <a:r>
                        <a:t>Riesgo</a:t>
                      </a:r>
                    </a:p>
                  </a:txBody>
                  <a:tcPr anchor="ctr" marL="76200" marR="76200" marT="50800" marB="50800">
                    <a:solidFill>
                      <a:srgbClr val="1B2559"/>
                    </a:solidFill>
                  </a:tcPr>
                </a:tc>
                <a:tc>
                  <a:txBody>
                    <a:bodyPr/>
                    <a:lstStyle/>
                    <a:p>
                      <a:pPr>
                        <a:defRPr sz="1200" b="1">
                          <a:solidFill>
                            <a:srgbClr val="FFFFFF"/>
                          </a:solidFill>
                          <a:latin typeface="Segoe UI"/>
                        </a:defRPr>
                      </a:pPr>
                      <a:r>
                        <a:t>Impacto preliminar</a:t>
                      </a:r>
                    </a:p>
                  </a:txBody>
                  <a:tcPr anchor="ctr" marL="76200" marR="76200" marT="50800" marB="50800">
                    <a:solidFill>
                      <a:srgbClr val="1B2559"/>
                    </a:solidFill>
                  </a:tcPr>
                </a:tc>
              </a:tr>
              <a:tr h="777240">
                <a:tc>
                  <a:txBody>
                    <a:bodyPr/>
                    <a:lstStyle/>
                    <a:p>
                      <a:pPr>
                        <a:defRPr sz="1250" b="0">
                          <a:solidFill>
                            <a:srgbClr val="1B2559"/>
                          </a:solidFill>
                          <a:latin typeface="Segoe UI"/>
                        </a:defRPr>
                      </a:pPr>
                      <a:r>
                        <a:t>Dependencia de un equipo técnico reducido</a:t>
                      </a:r>
                    </a:p>
                  </a:txBody>
                  <a:tcPr anchor="ctr" marL="76200" marR="76200" marT="50800" marB="50800">
                    <a:solidFill>
                      <a:srgbClr val="FFFFFF"/>
                    </a:solidFill>
                  </a:tcPr>
                </a:tc>
                <a:tc>
                  <a:txBody>
                    <a:bodyPr/>
                    <a:lstStyle/>
                    <a:p>
                      <a:pPr>
                        <a:defRPr sz="1250" b="0">
                          <a:solidFill>
                            <a:srgbClr val="1B2559"/>
                          </a:solidFill>
                          <a:latin typeface="Segoe UI"/>
                        </a:defRPr>
                      </a:pPr>
                      <a:r>
                        <a:t>Medio-alto — mitigado documentando el sistema exhaustivamente (este perfil de egreso).</a:t>
                      </a:r>
                    </a:p>
                  </a:txBody>
                  <a:tcPr anchor="ctr" marL="76200" marR="76200" marT="50800" marB="50800">
                    <a:solidFill>
                      <a:srgbClr val="FFFFFF"/>
                    </a:solidFill>
                  </a:tcPr>
                </a:tc>
              </a:tr>
              <a:tr h="777240">
                <a:tc>
                  <a:txBody>
                    <a:bodyPr/>
                    <a:lstStyle/>
                    <a:p>
                      <a:pPr>
                        <a:defRPr sz="1250" b="0">
                          <a:solidFill>
                            <a:srgbClr val="1B2559"/>
                          </a:solidFill>
                          <a:latin typeface="Segoe UI"/>
                        </a:defRPr>
                      </a:pPr>
                      <a:r>
                        <a:t>Cambios regulatorios de protección de datos de menores</a:t>
                      </a:r>
                    </a:p>
                  </a:txBody>
                  <a:tcPr anchor="ctr" marL="76200" marR="76200" marT="50800" marB="50800">
                    <a:solidFill>
                      <a:srgbClr val="FFFFFF"/>
                    </a:solidFill>
                  </a:tcPr>
                </a:tc>
                <a:tc>
                  <a:txBody>
                    <a:bodyPr/>
                    <a:lstStyle/>
                    <a:p>
                      <a:pPr>
                        <a:defRPr sz="1250" b="0">
                          <a:solidFill>
                            <a:srgbClr val="1B2559"/>
                          </a:solidFill>
                          <a:latin typeface="Segoe UI"/>
                        </a:defRPr>
                      </a:pPr>
                      <a:r>
                        <a:t>Medio — mitigado con las políticas de la línea de Infraestructura (CE0321).</a:t>
                      </a:r>
                    </a:p>
                  </a:txBody>
                  <a:tcPr anchor="ctr" marL="76200" marR="76200" marT="50800" marB="50800">
                    <a:solidFill>
                      <a:srgbClr val="FFFFFF"/>
                    </a:solidFill>
                  </a:tcPr>
                </a:tc>
              </a:tr>
              <a:tr h="777240">
                <a:tc>
                  <a:txBody>
                    <a:bodyPr/>
                    <a:lstStyle/>
                    <a:p>
                      <a:pPr>
                        <a:defRPr sz="1250" b="0">
                          <a:solidFill>
                            <a:srgbClr val="1B2559"/>
                          </a:solidFill>
                          <a:latin typeface="Segoe UI"/>
                        </a:defRPr>
                      </a:pPr>
                      <a:r>
                        <a:t>Resistencia al cambio del personal</a:t>
                      </a:r>
                    </a:p>
                  </a:txBody>
                  <a:tcPr anchor="ctr" marL="76200" marR="76200" marT="50800" marB="50800">
                    <a:solidFill>
                      <a:srgbClr val="FFFFFF"/>
                    </a:solidFill>
                  </a:tcPr>
                </a:tc>
                <a:tc>
                  <a:txBody>
                    <a:bodyPr/>
                    <a:lstStyle/>
                    <a:p>
                      <a:pPr>
                        <a:defRPr sz="1250" b="0">
                          <a:solidFill>
                            <a:srgbClr val="1B2559"/>
                          </a:solidFill>
                          <a:latin typeface="Segoe UI"/>
                        </a:defRPr>
                      </a:pPr>
                      <a:r>
                        <a:t>Bajo-medio — mitigado por la simplicidad de los portales por rol.</a:t>
                      </a:r>
                    </a:p>
                  </a:txBody>
                  <a:tcPr anchor="ctr" marL="76200" marR="76200" marT="50800" marB="50800">
                    <a:solidFill>
                      <a:srgbClr val="FFFFFF"/>
                    </a:solidFill>
                  </a:tcPr>
                </a:tc>
              </a:tr>
            </a:tbl>
          </a:graphicData>
        </a:graphic>
      </p:graphicFrame>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1B2559"/>
        </a:solidFill>
        <a:effectLst/>
      </p:bgPr>
    </p:bg>
    <p:spTree>
      <p:nvGrpSpPr>
        <p:cNvPr id="1" name=""/>
        <p:cNvGrpSpPr/>
        <p:nvPr/>
      </p:nvGrpSpPr>
      <p:grpSpPr/>
      <p:sp>
        <p:nvSpPr>
          <p:cNvPr id="2" name="TextBox 1"/>
          <p:cNvSpPr txBox="1"/>
          <p:nvPr/>
        </p:nvSpPr>
        <p:spPr>
          <a:xfrm>
            <a:off x="731520" y="1828800"/>
            <a:ext cx="8229600" cy="320040"/>
          </a:xfrm>
          <a:prstGeom prst="rect">
            <a:avLst/>
          </a:prstGeom>
          <a:noFill/>
        </p:spPr>
        <p:txBody>
          <a:bodyPr wrap="square" anchor="t" lIns="0" rIns="0" tIns="0" bIns="0">
            <a:spAutoFit/>
          </a:bodyPr>
          <a:lstStyle/>
          <a:p>
            <a:pPr algn="l">
              <a:lnSpc>
                <a:spcPct val="100000"/>
              </a:lnSpc>
              <a:spcAft>
                <a:spcPts val="0"/>
              </a:spcAft>
            </a:pPr>
            <a:r>
              <a:rPr sz="1250" b="1" i="0">
                <a:solidFill>
                  <a:srgbClr val="AAB6FF"/>
                </a:solidFill>
                <a:latin typeface="Segoe UI"/>
              </a:rPr>
              <a:t>ENTREGABLE 03</a:t>
            </a:r>
          </a:p>
        </p:txBody>
      </p:sp>
      <p:sp>
        <p:nvSpPr>
          <p:cNvPr id="3" name="TextBox 2"/>
          <p:cNvSpPr txBox="1"/>
          <p:nvPr/>
        </p:nvSpPr>
        <p:spPr>
          <a:xfrm>
            <a:off x="731520" y="2331720"/>
            <a:ext cx="7863840" cy="1463040"/>
          </a:xfrm>
          <a:prstGeom prst="rect">
            <a:avLst/>
          </a:prstGeom>
          <a:noFill/>
        </p:spPr>
        <p:txBody>
          <a:bodyPr wrap="square" anchor="t" lIns="0" rIns="0" tIns="0" bIns="0">
            <a:spAutoFit/>
          </a:bodyPr>
          <a:lstStyle/>
          <a:p>
            <a:pPr algn="l">
              <a:lnSpc>
                <a:spcPct val="105000"/>
              </a:lnSpc>
              <a:spcAft>
                <a:spcPts val="0"/>
              </a:spcAft>
            </a:pPr>
            <a:r>
              <a:rPr sz="3200" b="0" i="0">
                <a:solidFill>
                  <a:srgbClr val="FFFFFF"/>
                </a:solidFill>
                <a:latin typeface="Segoe UI"/>
              </a:rPr>
              <a:t>Plan de Gestión del Proyecto</a:t>
            </a:r>
          </a:p>
        </p:txBody>
      </p:sp>
      <p:sp>
        <p:nvSpPr>
          <p:cNvPr id="4" name="TextBox 3"/>
          <p:cNvSpPr txBox="1"/>
          <p:nvPr/>
        </p:nvSpPr>
        <p:spPr>
          <a:xfrm>
            <a:off x="731520" y="3794760"/>
            <a:ext cx="7863840" cy="731520"/>
          </a:xfrm>
          <a:prstGeom prst="rect">
            <a:avLst/>
          </a:prstGeom>
          <a:noFill/>
        </p:spPr>
        <p:txBody>
          <a:bodyPr wrap="square" anchor="t" lIns="0" rIns="0" tIns="0" bIns="0">
            <a:spAutoFit/>
          </a:bodyPr>
          <a:lstStyle/>
          <a:p>
            <a:pPr algn="l">
              <a:lnSpc>
                <a:spcPct val="100000"/>
              </a:lnSpc>
              <a:spcAft>
                <a:spcPts val="0"/>
              </a:spcAft>
            </a:pPr>
            <a:r>
              <a:rPr sz="1300" b="0" i="0">
                <a:solidFill>
                  <a:srgbClr val="9AA4DE"/>
                </a:solidFill>
                <a:latin typeface="Segoe UI"/>
              </a:rPr>
              <a:t>Acta de constitución · alcance (EDT) · cronograma · costos · riesgos · enfoque ágil</a:t>
            </a:r>
          </a:p>
        </p:txBody>
      </p:sp>
      <p:sp>
        <p:nvSpPr>
          <p:cNvPr id="5" name="Rectangle 4"/>
          <p:cNvSpPr/>
          <p:nvPr/>
        </p:nvSpPr>
        <p:spPr>
          <a:xfrm>
            <a:off x="731520" y="4434840"/>
            <a:ext cx="2926080" cy="12700"/>
          </a:xfrm>
          <a:prstGeom prst="rect">
            <a:avLst/>
          </a:prstGeom>
          <a:solidFill>
            <a:srgbClr val="333C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4617720"/>
            <a:ext cx="3657600" cy="320040"/>
          </a:xfrm>
          <a:prstGeom prst="rect">
            <a:avLst/>
          </a:prstGeom>
          <a:noFill/>
        </p:spPr>
        <p:txBody>
          <a:bodyPr wrap="square" anchor="t" lIns="0" rIns="0" tIns="0" bIns="0">
            <a:spAutoFit/>
          </a:bodyPr>
          <a:lstStyle/>
          <a:p>
            <a:pPr algn="l">
              <a:lnSpc>
                <a:spcPct val="100000"/>
              </a:lnSpc>
              <a:spcAft>
                <a:spcPts val="0"/>
              </a:spcAft>
            </a:pPr>
            <a:r>
              <a:rPr sz="1050" b="1" i="0">
                <a:solidFill>
                  <a:srgbClr val="8B96E0"/>
                </a:solidFill>
                <a:latin typeface="Segoe UI"/>
              </a:rPr>
              <a:t>EXPONE</a:t>
            </a:r>
          </a:p>
        </p:txBody>
      </p:sp>
      <p:sp>
        <p:nvSpPr>
          <p:cNvPr id="7" name="TextBox 6"/>
          <p:cNvSpPr txBox="1"/>
          <p:nvPr/>
        </p:nvSpPr>
        <p:spPr>
          <a:xfrm>
            <a:off x="731520" y="4892040"/>
            <a:ext cx="4572000" cy="457200"/>
          </a:xfrm>
          <a:prstGeom prst="rect">
            <a:avLst/>
          </a:prstGeom>
          <a:noFill/>
        </p:spPr>
        <p:txBody>
          <a:bodyPr wrap="square" anchor="t" lIns="0" rIns="0" tIns="0" bIns="0">
            <a:spAutoFit/>
          </a:bodyPr>
          <a:lstStyle/>
          <a:p>
            <a:pPr algn="l">
              <a:lnSpc>
                <a:spcPct val="100000"/>
              </a:lnSpc>
              <a:spcAft>
                <a:spcPts val="0"/>
              </a:spcAft>
            </a:pPr>
            <a:r>
              <a:rPr sz="1700" b="1" i="0">
                <a:solidFill>
                  <a:srgbClr val="FFFFFF"/>
                </a:solidFill>
                <a:latin typeface="Segoe UI"/>
              </a:rPr>
              <a:t>Cárdenas Vilca Rennzo</a:t>
            </a:r>
          </a:p>
        </p:txBody>
      </p:sp>
      <p:sp>
        <p:nvSpPr>
          <p:cNvPr id="8" name="TextBox 7"/>
          <p:cNvSpPr txBox="1"/>
          <p:nvPr/>
        </p:nvSpPr>
        <p:spPr>
          <a:xfrm>
            <a:off x="5669280" y="4617720"/>
            <a:ext cx="2743200" cy="320040"/>
          </a:xfrm>
          <a:prstGeom prst="rect">
            <a:avLst/>
          </a:prstGeom>
          <a:noFill/>
        </p:spPr>
        <p:txBody>
          <a:bodyPr wrap="square" anchor="t" lIns="0" rIns="0" tIns="0" bIns="0">
            <a:spAutoFit/>
          </a:bodyPr>
          <a:lstStyle/>
          <a:p>
            <a:pPr algn="l">
              <a:lnSpc>
                <a:spcPct val="100000"/>
              </a:lnSpc>
              <a:spcAft>
                <a:spcPts val="0"/>
              </a:spcAft>
            </a:pPr>
            <a:r>
              <a:rPr sz="1050" b="1" i="0">
                <a:solidFill>
                  <a:srgbClr val="8B96E0"/>
                </a:solidFill>
                <a:latin typeface="Segoe UI"/>
              </a:rPr>
              <a:t>TIEMPO ASIGNADO</a:t>
            </a:r>
          </a:p>
        </p:txBody>
      </p:sp>
      <p:sp>
        <p:nvSpPr>
          <p:cNvPr id="9" name="TextBox 8"/>
          <p:cNvSpPr txBox="1"/>
          <p:nvPr/>
        </p:nvSpPr>
        <p:spPr>
          <a:xfrm>
            <a:off x="5669280" y="4892040"/>
            <a:ext cx="2743200" cy="457200"/>
          </a:xfrm>
          <a:prstGeom prst="rect">
            <a:avLst/>
          </a:prstGeom>
          <a:noFill/>
        </p:spPr>
        <p:txBody>
          <a:bodyPr wrap="square" anchor="t" lIns="0" rIns="0" tIns="0" bIns="0">
            <a:spAutoFit/>
          </a:bodyPr>
          <a:lstStyle/>
          <a:p>
            <a:pPr algn="l">
              <a:lnSpc>
                <a:spcPct val="100000"/>
              </a:lnSpc>
              <a:spcAft>
                <a:spcPts val="0"/>
              </a:spcAft>
            </a:pPr>
            <a:r>
              <a:rPr sz="1700" b="1" i="0">
                <a:solidFill>
                  <a:srgbClr val="FFFFFF"/>
                </a:solidFill>
                <a:latin typeface="Segoe UI"/>
              </a:rPr>
              <a:t>3:15</a:t>
            </a:r>
          </a:p>
        </p:txBody>
      </p:sp>
      <p:sp>
        <p:nvSpPr>
          <p:cNvPr id="10" name="TextBox 9"/>
          <p:cNvSpPr txBox="1"/>
          <p:nvPr/>
        </p:nvSpPr>
        <p:spPr>
          <a:xfrm>
            <a:off x="9326880" y="1463040"/>
            <a:ext cx="2377440" cy="2743200"/>
          </a:xfrm>
          <a:prstGeom prst="rect">
            <a:avLst/>
          </a:prstGeom>
          <a:noFill/>
        </p:spPr>
        <p:txBody>
          <a:bodyPr wrap="square" anchor="t" lIns="0" rIns="0" tIns="0" bIns="0">
            <a:spAutoFit/>
          </a:bodyPr>
          <a:lstStyle/>
          <a:p>
            <a:pPr algn="r">
              <a:lnSpc>
                <a:spcPct val="100000"/>
              </a:lnSpc>
              <a:spcAft>
                <a:spcPts val="0"/>
              </a:spcAft>
            </a:pPr>
            <a:r>
              <a:rPr sz="14000" b="0" i="0">
                <a:solidFill>
                  <a:srgbClr val="2C3576"/>
                </a:solidFill>
                <a:latin typeface="Georgia"/>
              </a:rPr>
              <a:t>03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6F7FB"/>
        </a:solidFill>
        <a:effectLst/>
      </p:bgPr>
    </p:bg>
    <p:spTree>
      <p:nvGrpSpPr>
        <p:cNvPr id="1" name=""/>
        <p:cNvGrpSpPr/>
        <p:nvPr/>
      </p:nvGrpSpPr>
      <p:grpSpPr/>
      <p:sp>
        <p:nvSpPr>
          <p:cNvPr id="2" name="TextBox 1"/>
          <p:cNvSpPr txBox="1"/>
          <p:nvPr/>
        </p:nvSpPr>
        <p:spPr>
          <a:xfrm>
            <a:off x="731520" y="502920"/>
            <a:ext cx="9601200" cy="320040"/>
          </a:xfrm>
          <a:prstGeom prst="rect">
            <a:avLst/>
          </a:prstGeom>
          <a:noFill/>
        </p:spPr>
        <p:txBody>
          <a:bodyPr wrap="square" anchor="t" lIns="0" rIns="0" tIns="0" bIns="0">
            <a:spAutoFit/>
          </a:bodyPr>
          <a:lstStyle/>
          <a:p>
            <a:pPr algn="l">
              <a:lnSpc>
                <a:spcPct val="100000"/>
              </a:lnSpc>
              <a:spcAft>
                <a:spcPts val="0"/>
              </a:spcAft>
            </a:pPr>
            <a:r>
              <a:rPr sz="1250" b="1" i="0">
                <a:solidFill>
                  <a:srgbClr val="3B5BDB"/>
                </a:solidFill>
                <a:latin typeface="Segoe UI"/>
              </a:rPr>
              <a:t>E3 · 3.1 ACTA DE CONSTITUCIÓN</a:t>
            </a:r>
          </a:p>
        </p:txBody>
      </p:sp>
      <p:sp>
        <p:nvSpPr>
          <p:cNvPr id="3" name="TextBox 2"/>
          <p:cNvSpPr txBox="1"/>
          <p:nvPr/>
        </p:nvSpPr>
        <p:spPr>
          <a:xfrm>
            <a:off x="731520" y="841248"/>
            <a:ext cx="10607040" cy="914400"/>
          </a:xfrm>
          <a:prstGeom prst="rect">
            <a:avLst/>
          </a:prstGeom>
          <a:noFill/>
        </p:spPr>
        <p:txBody>
          <a:bodyPr wrap="square" anchor="t" lIns="0" rIns="0" tIns="0" bIns="0">
            <a:spAutoFit/>
          </a:bodyPr>
          <a:lstStyle/>
          <a:p>
            <a:pPr algn="l">
              <a:lnSpc>
                <a:spcPct val="102000"/>
              </a:lnSpc>
              <a:spcAft>
                <a:spcPts val="0"/>
              </a:spcAft>
            </a:pPr>
            <a:r>
              <a:rPr sz="2300" b="0" i="0">
                <a:solidFill>
                  <a:srgbClr val="1B2559"/>
                </a:solidFill>
                <a:latin typeface="Segoe UI"/>
              </a:rPr>
              <a:t>Quién lo pidió, qué se prometió, qué quedó fuera</a:t>
            </a:r>
          </a:p>
        </p:txBody>
      </p:sp>
      <p:sp>
        <p:nvSpPr>
          <p:cNvPr id="4" name="Rectangle 3"/>
          <p:cNvSpPr/>
          <p:nvPr/>
        </p:nvSpPr>
        <p:spPr>
          <a:xfrm>
            <a:off x="731520" y="1627632"/>
            <a:ext cx="10698480" cy="15240"/>
          </a:xfrm>
          <a:prstGeom prst="rect">
            <a:avLst/>
          </a:prstGeom>
          <a:solidFill>
            <a:srgbClr val="3B5B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6473952"/>
            <a:ext cx="7772400" cy="292608"/>
          </a:xfrm>
          <a:prstGeom prst="rect">
            <a:avLst/>
          </a:prstGeom>
          <a:noFill/>
        </p:spPr>
        <p:txBody>
          <a:bodyPr wrap="square" anchor="t" lIns="0" rIns="0" tIns="0" bIns="0">
            <a:spAutoFit/>
          </a:bodyPr>
          <a:lstStyle/>
          <a:p>
            <a:pPr algn="l">
              <a:lnSpc>
                <a:spcPct val="100000"/>
              </a:lnSpc>
              <a:spcAft>
                <a:spcPts val="0"/>
              </a:spcAft>
            </a:pPr>
            <a:r>
              <a:rPr sz="1050" b="0" i="0">
                <a:solidFill>
                  <a:srgbClr val="454F78"/>
                </a:solidFill>
                <a:latin typeface="Segoe UI"/>
              </a:rPr>
              <a:t>Expone: Cárdenas Vilca Rennzo   ·   ⏱ 40s</a:t>
            </a:r>
          </a:p>
        </p:txBody>
      </p:sp>
      <p:sp>
        <p:nvSpPr>
          <p:cNvPr id="6" name="TextBox 5"/>
          <p:cNvSpPr txBox="1"/>
          <p:nvPr/>
        </p:nvSpPr>
        <p:spPr>
          <a:xfrm>
            <a:off x="10881360" y="6473952"/>
            <a:ext cx="822960" cy="292608"/>
          </a:xfrm>
          <a:prstGeom prst="rect">
            <a:avLst/>
          </a:prstGeom>
          <a:noFill/>
        </p:spPr>
        <p:txBody>
          <a:bodyPr wrap="square" anchor="t" lIns="0" rIns="0" tIns="0" bIns="0">
            <a:spAutoFit/>
          </a:bodyPr>
          <a:lstStyle/>
          <a:p>
            <a:pPr algn="r">
              <a:lnSpc>
                <a:spcPct val="100000"/>
              </a:lnSpc>
              <a:spcAft>
                <a:spcPts val="0"/>
              </a:spcAft>
            </a:pPr>
            <a:r>
              <a:rPr sz="1050" b="0" i="0">
                <a:solidFill>
                  <a:srgbClr val="454F78"/>
                </a:solidFill>
                <a:latin typeface="Segoe UI"/>
              </a:rPr>
              <a:t>14 / 22</a:t>
            </a:r>
          </a:p>
        </p:txBody>
      </p:sp>
      <p:sp>
        <p:nvSpPr>
          <p:cNvPr id="7" name="Rounded Rectangle 6"/>
          <p:cNvSpPr/>
          <p:nvPr/>
        </p:nvSpPr>
        <p:spPr>
          <a:xfrm>
            <a:off x="731520" y="1920240"/>
            <a:ext cx="5120640" cy="1417320"/>
          </a:xfrm>
          <a:prstGeom prst="roundRect">
            <a:avLst>
              <a:gd name="adj" fmla="val 4500"/>
            </a:avLst>
          </a:prstGeom>
          <a:solidFill>
            <a:srgbClr val="FFFFFF"/>
          </a:solidFill>
          <a:ln w="9525">
            <a:solidFill>
              <a:srgbClr val="D8DC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96112" y="2029968"/>
            <a:ext cx="4791456" cy="274320"/>
          </a:xfrm>
          <a:prstGeom prst="rect">
            <a:avLst/>
          </a:prstGeom>
          <a:noFill/>
        </p:spPr>
        <p:txBody>
          <a:bodyPr wrap="square" anchor="t" lIns="0" rIns="0" tIns="0" bIns="0">
            <a:spAutoFit/>
          </a:bodyPr>
          <a:lstStyle/>
          <a:p>
            <a:pPr algn="l">
              <a:lnSpc>
                <a:spcPct val="100000"/>
              </a:lnSpc>
              <a:spcAft>
                <a:spcPts val="0"/>
              </a:spcAft>
            </a:pPr>
            <a:r>
              <a:rPr sz="1000" b="1" i="0">
                <a:solidFill>
                  <a:srgbClr val="454F78"/>
                </a:solidFill>
                <a:latin typeface="Segoe UI"/>
              </a:rPr>
              <a:t>SPONSOR</a:t>
            </a:r>
          </a:p>
        </p:txBody>
      </p:sp>
      <p:sp>
        <p:nvSpPr>
          <p:cNvPr id="9" name="TextBox 8"/>
          <p:cNvSpPr txBox="1"/>
          <p:nvPr/>
        </p:nvSpPr>
        <p:spPr>
          <a:xfrm>
            <a:off x="896112" y="2304288"/>
            <a:ext cx="4791456" cy="914400"/>
          </a:xfrm>
          <a:prstGeom prst="rect">
            <a:avLst/>
          </a:prstGeom>
          <a:noFill/>
        </p:spPr>
        <p:txBody>
          <a:bodyPr wrap="square" anchor="t" lIns="0" rIns="0" tIns="0" bIns="0">
            <a:spAutoFit/>
          </a:bodyPr>
          <a:lstStyle/>
          <a:p>
            <a:pPr algn="l">
              <a:lnSpc>
                <a:spcPct val="112000"/>
              </a:lnSpc>
              <a:spcAft>
                <a:spcPts val="0"/>
              </a:spcAft>
            </a:pPr>
            <a:r>
              <a:rPr sz="1250" b="0" i="0">
                <a:solidFill>
                  <a:srgbClr val="1B2559"/>
                </a:solidFill>
                <a:latin typeface="Segoe UI"/>
              </a:rPr>
              <a:t>Dirección de Academia La Prepa Cermat.</a:t>
            </a:r>
          </a:p>
        </p:txBody>
      </p:sp>
      <p:sp>
        <p:nvSpPr>
          <p:cNvPr id="10" name="Rounded Rectangle 9"/>
          <p:cNvSpPr/>
          <p:nvPr/>
        </p:nvSpPr>
        <p:spPr>
          <a:xfrm>
            <a:off x="6035040" y="1920240"/>
            <a:ext cx="5394960" cy="1417320"/>
          </a:xfrm>
          <a:prstGeom prst="roundRect">
            <a:avLst>
              <a:gd name="adj" fmla="val 4500"/>
            </a:avLst>
          </a:prstGeom>
          <a:solidFill>
            <a:srgbClr val="FFFFFF"/>
          </a:solidFill>
          <a:ln w="9525">
            <a:solidFill>
              <a:srgbClr val="D8DC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199632" y="2029968"/>
            <a:ext cx="5065776" cy="274320"/>
          </a:xfrm>
          <a:prstGeom prst="rect">
            <a:avLst/>
          </a:prstGeom>
          <a:noFill/>
        </p:spPr>
        <p:txBody>
          <a:bodyPr wrap="square" anchor="t" lIns="0" rIns="0" tIns="0" bIns="0">
            <a:spAutoFit/>
          </a:bodyPr>
          <a:lstStyle/>
          <a:p>
            <a:pPr algn="l">
              <a:lnSpc>
                <a:spcPct val="100000"/>
              </a:lnSpc>
              <a:spcAft>
                <a:spcPts val="0"/>
              </a:spcAft>
            </a:pPr>
            <a:r>
              <a:rPr sz="1000" b="1" i="0">
                <a:solidFill>
                  <a:srgbClr val="454F78"/>
                </a:solidFill>
                <a:latin typeface="Segoe UI"/>
              </a:rPr>
              <a:t>ALCANCE PRELIMINAR</a:t>
            </a:r>
          </a:p>
        </p:txBody>
      </p:sp>
      <p:sp>
        <p:nvSpPr>
          <p:cNvPr id="12" name="TextBox 11"/>
          <p:cNvSpPr txBox="1"/>
          <p:nvPr/>
        </p:nvSpPr>
        <p:spPr>
          <a:xfrm>
            <a:off x="6199632" y="2304288"/>
            <a:ext cx="5065776" cy="914400"/>
          </a:xfrm>
          <a:prstGeom prst="rect">
            <a:avLst/>
          </a:prstGeom>
          <a:noFill/>
        </p:spPr>
        <p:txBody>
          <a:bodyPr wrap="square" anchor="t" lIns="0" rIns="0" tIns="0" bIns="0">
            <a:spAutoFit/>
          </a:bodyPr>
          <a:lstStyle/>
          <a:p>
            <a:pPr algn="l">
              <a:lnSpc>
                <a:spcPct val="112000"/>
              </a:lnSpc>
              <a:spcAft>
                <a:spcPts val="0"/>
              </a:spcAft>
            </a:pPr>
            <a:r>
              <a:rPr sz="1200" b="0" i="0">
                <a:solidFill>
                  <a:srgbClr val="1B2559"/>
                </a:solidFill>
                <a:latin typeface="Segoe UI"/>
              </a:rPr>
              <a:t>Sitio público, matrícula, ciclos/grupos/sedes, pagos, asistencia QR, portales por rol, recursos/blog/talleres.</a:t>
            </a:r>
          </a:p>
        </p:txBody>
      </p:sp>
      <p:sp>
        <p:nvSpPr>
          <p:cNvPr id="13" name="Rounded Rectangle 12"/>
          <p:cNvSpPr/>
          <p:nvPr/>
        </p:nvSpPr>
        <p:spPr>
          <a:xfrm>
            <a:off x="731520" y="3520440"/>
            <a:ext cx="5120640" cy="1417320"/>
          </a:xfrm>
          <a:prstGeom prst="roundRect">
            <a:avLst>
              <a:gd name="adj" fmla="val 4500"/>
            </a:avLst>
          </a:prstGeom>
          <a:solidFill>
            <a:srgbClr val="FFFFFF"/>
          </a:solidFill>
          <a:ln w="9525">
            <a:solidFill>
              <a:srgbClr val="D8DC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31520" y="3520440"/>
            <a:ext cx="54864" cy="1417320"/>
          </a:xfrm>
          <a:prstGeom prst="rect">
            <a:avLst/>
          </a:prstGeom>
          <a:solidFill>
            <a:srgbClr val="C92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96112" y="3630168"/>
            <a:ext cx="4791456" cy="274320"/>
          </a:xfrm>
          <a:prstGeom prst="rect">
            <a:avLst/>
          </a:prstGeom>
          <a:noFill/>
        </p:spPr>
        <p:txBody>
          <a:bodyPr wrap="square" anchor="t" lIns="0" rIns="0" tIns="0" bIns="0">
            <a:spAutoFit/>
          </a:bodyPr>
          <a:lstStyle/>
          <a:p>
            <a:pPr algn="l">
              <a:lnSpc>
                <a:spcPct val="100000"/>
              </a:lnSpc>
              <a:spcAft>
                <a:spcPts val="0"/>
              </a:spcAft>
            </a:pPr>
            <a:r>
              <a:rPr sz="1000" b="1" i="0">
                <a:solidFill>
                  <a:srgbClr val="454F78"/>
                </a:solidFill>
                <a:latin typeface="Segoe UI"/>
              </a:rPr>
              <a:t>RESTRICCIONES</a:t>
            </a:r>
          </a:p>
        </p:txBody>
      </p:sp>
      <p:sp>
        <p:nvSpPr>
          <p:cNvPr id="16" name="TextBox 15"/>
          <p:cNvSpPr txBox="1"/>
          <p:nvPr/>
        </p:nvSpPr>
        <p:spPr>
          <a:xfrm>
            <a:off x="896112" y="3904488"/>
            <a:ext cx="4791456" cy="914400"/>
          </a:xfrm>
          <a:prstGeom prst="rect">
            <a:avLst/>
          </a:prstGeom>
          <a:noFill/>
        </p:spPr>
        <p:txBody>
          <a:bodyPr wrap="square" anchor="t" lIns="0" rIns="0" tIns="0" bIns="0">
            <a:spAutoFit/>
          </a:bodyPr>
          <a:lstStyle/>
          <a:p>
            <a:pPr algn="l">
              <a:lnSpc>
                <a:spcPct val="112000"/>
              </a:lnSpc>
              <a:spcAft>
                <a:spcPts val="0"/>
              </a:spcAft>
            </a:pPr>
            <a:r>
              <a:rPr sz="1200" b="0" i="0">
                <a:solidFill>
                  <a:srgbClr val="1B2559"/>
                </a:solidFill>
                <a:latin typeface="Segoe UI"/>
              </a:rPr>
              <a:t>Equipo de desarrollo reducido; sin pasarela de pagos automática ni app móvil nativa en esta fase.</a:t>
            </a:r>
          </a:p>
        </p:txBody>
      </p:sp>
      <p:sp>
        <p:nvSpPr>
          <p:cNvPr id="17" name="Rounded Rectangle 16"/>
          <p:cNvSpPr/>
          <p:nvPr/>
        </p:nvSpPr>
        <p:spPr>
          <a:xfrm>
            <a:off x="6035040" y="3520440"/>
            <a:ext cx="5394960" cy="1417320"/>
          </a:xfrm>
          <a:prstGeom prst="roundRect">
            <a:avLst>
              <a:gd name="adj" fmla="val 4500"/>
            </a:avLst>
          </a:prstGeom>
          <a:solidFill>
            <a:srgbClr val="FFFFFF"/>
          </a:solidFill>
          <a:ln w="9525">
            <a:solidFill>
              <a:srgbClr val="D8DC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99632" y="3630168"/>
            <a:ext cx="5065776" cy="274320"/>
          </a:xfrm>
          <a:prstGeom prst="rect">
            <a:avLst/>
          </a:prstGeom>
          <a:noFill/>
        </p:spPr>
        <p:txBody>
          <a:bodyPr wrap="square" anchor="t" lIns="0" rIns="0" tIns="0" bIns="0">
            <a:spAutoFit/>
          </a:bodyPr>
          <a:lstStyle/>
          <a:p>
            <a:pPr algn="l">
              <a:lnSpc>
                <a:spcPct val="100000"/>
              </a:lnSpc>
              <a:spcAft>
                <a:spcPts val="0"/>
              </a:spcAft>
            </a:pPr>
            <a:r>
              <a:rPr sz="1000" b="1" i="0">
                <a:solidFill>
                  <a:srgbClr val="454F78"/>
                </a:solidFill>
                <a:latin typeface="Segoe UI"/>
              </a:rPr>
              <a:t>SUPUESTOS</a:t>
            </a:r>
          </a:p>
        </p:txBody>
      </p:sp>
      <p:sp>
        <p:nvSpPr>
          <p:cNvPr id="19" name="TextBox 18"/>
          <p:cNvSpPr txBox="1"/>
          <p:nvPr/>
        </p:nvSpPr>
        <p:spPr>
          <a:xfrm>
            <a:off x="6199632" y="3904488"/>
            <a:ext cx="5065776" cy="914400"/>
          </a:xfrm>
          <a:prstGeom prst="rect">
            <a:avLst/>
          </a:prstGeom>
          <a:noFill/>
        </p:spPr>
        <p:txBody>
          <a:bodyPr wrap="square" anchor="t" lIns="0" rIns="0" tIns="0" bIns="0">
            <a:spAutoFit/>
          </a:bodyPr>
          <a:lstStyle/>
          <a:p>
            <a:pPr algn="l">
              <a:lnSpc>
                <a:spcPct val="112000"/>
              </a:lnSpc>
              <a:spcAft>
                <a:spcPts val="0"/>
              </a:spcAft>
            </a:pPr>
            <a:r>
              <a:rPr sz="1250" b="0" i="0">
                <a:solidFill>
                  <a:srgbClr val="1B2559"/>
                </a:solidFill>
                <a:latin typeface="Segoe UI"/>
              </a:rPr>
              <a:t>Los administradores validan las reglas de negocio; Firestore es la fuente principal de datos operativos.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6F7FB"/>
        </a:solidFill>
        <a:effectLst/>
      </p:bgPr>
    </p:bg>
    <p:spTree>
      <p:nvGrpSpPr>
        <p:cNvPr id="1" name=""/>
        <p:cNvGrpSpPr/>
        <p:nvPr/>
      </p:nvGrpSpPr>
      <p:grpSpPr/>
      <p:sp>
        <p:nvSpPr>
          <p:cNvPr id="2" name="TextBox 1"/>
          <p:cNvSpPr txBox="1"/>
          <p:nvPr/>
        </p:nvSpPr>
        <p:spPr>
          <a:xfrm>
            <a:off x="731520" y="502920"/>
            <a:ext cx="9601200" cy="320040"/>
          </a:xfrm>
          <a:prstGeom prst="rect">
            <a:avLst/>
          </a:prstGeom>
          <a:noFill/>
        </p:spPr>
        <p:txBody>
          <a:bodyPr wrap="square" anchor="t" lIns="0" rIns="0" tIns="0" bIns="0">
            <a:spAutoFit/>
          </a:bodyPr>
          <a:lstStyle/>
          <a:p>
            <a:pPr algn="l">
              <a:lnSpc>
                <a:spcPct val="100000"/>
              </a:lnSpc>
              <a:spcAft>
                <a:spcPts val="0"/>
              </a:spcAft>
            </a:pPr>
            <a:r>
              <a:rPr sz="1250" b="1" i="0">
                <a:solidFill>
                  <a:srgbClr val="3B5BDB"/>
                </a:solidFill>
                <a:latin typeface="Segoe UI"/>
              </a:rPr>
              <a:t>E3 · 3.2 GESTIÓN DEL ALCANCE (EDT / WBS)</a:t>
            </a:r>
          </a:p>
        </p:txBody>
      </p:sp>
      <p:sp>
        <p:nvSpPr>
          <p:cNvPr id="3" name="TextBox 2"/>
          <p:cNvSpPr txBox="1"/>
          <p:nvPr/>
        </p:nvSpPr>
        <p:spPr>
          <a:xfrm>
            <a:off x="731520" y="841248"/>
            <a:ext cx="10607040" cy="914400"/>
          </a:xfrm>
          <a:prstGeom prst="rect">
            <a:avLst/>
          </a:prstGeom>
          <a:noFill/>
        </p:spPr>
        <p:txBody>
          <a:bodyPr wrap="square" anchor="t" lIns="0" rIns="0" tIns="0" bIns="0">
            <a:spAutoFit/>
          </a:bodyPr>
          <a:lstStyle/>
          <a:p>
            <a:pPr algn="l">
              <a:lnSpc>
                <a:spcPct val="102000"/>
              </a:lnSpc>
              <a:spcAft>
                <a:spcPts val="0"/>
              </a:spcAft>
            </a:pPr>
            <a:r>
              <a:rPr sz="2300" b="0" i="0">
                <a:solidFill>
                  <a:srgbClr val="1B2559"/>
                </a:solidFill>
                <a:latin typeface="Segoe UI"/>
              </a:rPr>
              <a:t>Siete ramas de trabajo, cada una trazable a código real</a:t>
            </a:r>
          </a:p>
        </p:txBody>
      </p:sp>
      <p:sp>
        <p:nvSpPr>
          <p:cNvPr id="4" name="Rectangle 3"/>
          <p:cNvSpPr/>
          <p:nvPr/>
        </p:nvSpPr>
        <p:spPr>
          <a:xfrm>
            <a:off x="731520" y="1627632"/>
            <a:ext cx="10698480" cy="15240"/>
          </a:xfrm>
          <a:prstGeom prst="rect">
            <a:avLst/>
          </a:prstGeom>
          <a:solidFill>
            <a:srgbClr val="3B5B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6473952"/>
            <a:ext cx="7772400" cy="292608"/>
          </a:xfrm>
          <a:prstGeom prst="rect">
            <a:avLst/>
          </a:prstGeom>
          <a:noFill/>
        </p:spPr>
        <p:txBody>
          <a:bodyPr wrap="square" anchor="t" lIns="0" rIns="0" tIns="0" bIns="0">
            <a:spAutoFit/>
          </a:bodyPr>
          <a:lstStyle/>
          <a:p>
            <a:pPr algn="l">
              <a:lnSpc>
                <a:spcPct val="100000"/>
              </a:lnSpc>
              <a:spcAft>
                <a:spcPts val="0"/>
              </a:spcAft>
            </a:pPr>
            <a:r>
              <a:rPr sz="1050" b="0" i="0">
                <a:solidFill>
                  <a:srgbClr val="454F78"/>
                </a:solidFill>
                <a:latin typeface="Segoe UI"/>
              </a:rPr>
              <a:t>Expone: Cárdenas Vilca Rennzo   ·   ⏱ 45s</a:t>
            </a:r>
          </a:p>
        </p:txBody>
      </p:sp>
      <p:sp>
        <p:nvSpPr>
          <p:cNvPr id="6" name="TextBox 5"/>
          <p:cNvSpPr txBox="1"/>
          <p:nvPr/>
        </p:nvSpPr>
        <p:spPr>
          <a:xfrm>
            <a:off x="10881360" y="6473952"/>
            <a:ext cx="822960" cy="292608"/>
          </a:xfrm>
          <a:prstGeom prst="rect">
            <a:avLst/>
          </a:prstGeom>
          <a:noFill/>
        </p:spPr>
        <p:txBody>
          <a:bodyPr wrap="square" anchor="t" lIns="0" rIns="0" tIns="0" bIns="0">
            <a:spAutoFit/>
          </a:bodyPr>
          <a:lstStyle/>
          <a:p>
            <a:pPr algn="r">
              <a:lnSpc>
                <a:spcPct val="100000"/>
              </a:lnSpc>
              <a:spcAft>
                <a:spcPts val="0"/>
              </a:spcAft>
            </a:pPr>
            <a:r>
              <a:rPr sz="1050" b="0" i="0">
                <a:solidFill>
                  <a:srgbClr val="454F78"/>
                </a:solidFill>
                <a:latin typeface="Segoe UI"/>
              </a:rPr>
              <a:t>15 / 22</a:t>
            </a:r>
          </a:p>
        </p:txBody>
      </p:sp>
      <p:sp>
        <p:nvSpPr>
          <p:cNvPr id="7" name="Rounded Rectangle 6"/>
          <p:cNvSpPr/>
          <p:nvPr/>
        </p:nvSpPr>
        <p:spPr>
          <a:xfrm>
            <a:off x="731520" y="1965960"/>
            <a:ext cx="2606040" cy="1463040"/>
          </a:xfrm>
          <a:prstGeom prst="roundRect">
            <a:avLst>
              <a:gd name="adj" fmla="val 4500"/>
            </a:avLst>
          </a:prstGeom>
          <a:solidFill>
            <a:srgbClr val="FFFFFF"/>
          </a:solidFill>
          <a:ln w="9525">
            <a:solidFill>
              <a:srgbClr val="D8DC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96112" y="2075688"/>
            <a:ext cx="2276856" cy="274320"/>
          </a:xfrm>
          <a:prstGeom prst="rect">
            <a:avLst/>
          </a:prstGeom>
          <a:noFill/>
        </p:spPr>
        <p:txBody>
          <a:bodyPr wrap="square" anchor="t" lIns="0" rIns="0" tIns="0" bIns="0">
            <a:spAutoFit/>
          </a:bodyPr>
          <a:lstStyle/>
          <a:p>
            <a:pPr algn="l">
              <a:lnSpc>
                <a:spcPct val="100000"/>
              </a:lnSpc>
              <a:spcAft>
                <a:spcPts val="0"/>
              </a:spcAft>
            </a:pPr>
            <a:r>
              <a:rPr sz="1000" b="1" i="0">
                <a:solidFill>
                  <a:srgbClr val="454F78"/>
                </a:solidFill>
                <a:latin typeface="Segoe UI"/>
              </a:rPr>
              <a:t/>
            </a:r>
          </a:p>
        </p:txBody>
      </p:sp>
      <p:sp>
        <p:nvSpPr>
          <p:cNvPr id="9" name="TextBox 8"/>
          <p:cNvSpPr txBox="1"/>
          <p:nvPr/>
        </p:nvSpPr>
        <p:spPr>
          <a:xfrm>
            <a:off x="896112" y="2350008"/>
            <a:ext cx="2276856" cy="960120"/>
          </a:xfrm>
          <a:prstGeom prst="rect">
            <a:avLst/>
          </a:prstGeom>
          <a:noFill/>
        </p:spPr>
        <p:txBody>
          <a:bodyPr wrap="square" anchor="t" lIns="0" rIns="0" tIns="0" bIns="0">
            <a:spAutoFit/>
          </a:bodyPr>
          <a:lstStyle/>
          <a:p>
            <a:pPr algn="l">
              <a:lnSpc>
                <a:spcPct val="112000"/>
              </a:lnSpc>
              <a:spcAft>
                <a:spcPts val="0"/>
              </a:spcAft>
            </a:pPr>
            <a:r>
              <a:rPr sz="1150" b="0" i="0">
                <a:solidFill>
                  <a:srgbClr val="1B2559"/>
                </a:solidFill>
                <a:latin typeface="Segoe UI"/>
              </a:rPr>
              <a:t>Sitio público</a:t>
            </a:r>
          </a:p>
          <a:p>
            <a:pPr algn="l">
              <a:lnSpc>
                <a:spcPct val="112000"/>
              </a:lnSpc>
              <a:spcAft>
                <a:spcPts val="0"/>
              </a:spcAft>
            </a:pPr>
            <a:r>
              <a:rPr sz="1150" b="0" i="0">
                <a:solidFill>
                  <a:srgbClr val="1B2559"/>
                </a:solidFill>
                <a:latin typeface="Segoe UI"/>
              </a:rPr>
              <a:t>Inicio, ciclos, sedes, blog, contacto</a:t>
            </a:r>
          </a:p>
        </p:txBody>
      </p:sp>
      <p:sp>
        <p:nvSpPr>
          <p:cNvPr id="10" name="Rounded Rectangle 9"/>
          <p:cNvSpPr/>
          <p:nvPr/>
        </p:nvSpPr>
        <p:spPr>
          <a:xfrm>
            <a:off x="3502152" y="1965960"/>
            <a:ext cx="2606040" cy="1463040"/>
          </a:xfrm>
          <a:prstGeom prst="roundRect">
            <a:avLst>
              <a:gd name="adj" fmla="val 4500"/>
            </a:avLst>
          </a:prstGeom>
          <a:solidFill>
            <a:srgbClr val="FFFFFF"/>
          </a:solidFill>
          <a:ln w="9525">
            <a:solidFill>
              <a:srgbClr val="D8DC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66744" y="2075688"/>
            <a:ext cx="2276856" cy="274320"/>
          </a:xfrm>
          <a:prstGeom prst="rect">
            <a:avLst/>
          </a:prstGeom>
          <a:noFill/>
        </p:spPr>
        <p:txBody>
          <a:bodyPr wrap="square" anchor="t" lIns="0" rIns="0" tIns="0" bIns="0">
            <a:spAutoFit/>
          </a:bodyPr>
          <a:lstStyle/>
          <a:p>
            <a:pPr algn="l">
              <a:lnSpc>
                <a:spcPct val="100000"/>
              </a:lnSpc>
              <a:spcAft>
                <a:spcPts val="0"/>
              </a:spcAft>
            </a:pPr>
            <a:r>
              <a:rPr sz="1000" b="1" i="0">
                <a:solidFill>
                  <a:srgbClr val="454F78"/>
                </a:solidFill>
                <a:latin typeface="Segoe UI"/>
              </a:rPr>
              <a:t/>
            </a:r>
          </a:p>
        </p:txBody>
      </p:sp>
      <p:sp>
        <p:nvSpPr>
          <p:cNvPr id="12" name="TextBox 11"/>
          <p:cNvSpPr txBox="1"/>
          <p:nvPr/>
        </p:nvSpPr>
        <p:spPr>
          <a:xfrm>
            <a:off x="3666744" y="2350008"/>
            <a:ext cx="2276856" cy="960120"/>
          </a:xfrm>
          <a:prstGeom prst="rect">
            <a:avLst/>
          </a:prstGeom>
          <a:noFill/>
        </p:spPr>
        <p:txBody>
          <a:bodyPr wrap="square" anchor="t" lIns="0" rIns="0" tIns="0" bIns="0">
            <a:spAutoFit/>
          </a:bodyPr>
          <a:lstStyle/>
          <a:p>
            <a:pPr algn="l">
              <a:lnSpc>
                <a:spcPct val="112000"/>
              </a:lnSpc>
              <a:spcAft>
                <a:spcPts val="0"/>
              </a:spcAft>
            </a:pPr>
            <a:r>
              <a:rPr sz="1150" b="0" i="0">
                <a:solidFill>
                  <a:srgbClr val="1B2559"/>
                </a:solidFill>
                <a:latin typeface="Segoe UI"/>
              </a:rPr>
              <a:t>Gestión académica</a:t>
            </a:r>
          </a:p>
          <a:p>
            <a:pPr algn="l">
              <a:lnSpc>
                <a:spcPct val="112000"/>
              </a:lnSpc>
              <a:spcAft>
                <a:spcPts val="0"/>
              </a:spcAft>
            </a:pPr>
            <a:r>
              <a:rPr sz="1150" b="0" i="0">
                <a:solidFill>
                  <a:srgbClr val="1B2559"/>
                </a:solidFill>
                <a:latin typeface="Segoe UI"/>
              </a:rPr>
              <a:t>Ciclos, categorías, grupos, cupos, turno</a:t>
            </a:r>
          </a:p>
        </p:txBody>
      </p:sp>
      <p:sp>
        <p:nvSpPr>
          <p:cNvPr id="13" name="Rounded Rectangle 12"/>
          <p:cNvSpPr/>
          <p:nvPr/>
        </p:nvSpPr>
        <p:spPr>
          <a:xfrm>
            <a:off x="6272784" y="1965960"/>
            <a:ext cx="2606040" cy="1463040"/>
          </a:xfrm>
          <a:prstGeom prst="roundRect">
            <a:avLst>
              <a:gd name="adj" fmla="val 4500"/>
            </a:avLst>
          </a:prstGeom>
          <a:solidFill>
            <a:srgbClr val="FFFFFF"/>
          </a:solidFill>
          <a:ln w="9525">
            <a:solidFill>
              <a:srgbClr val="D8DC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37376" y="2075688"/>
            <a:ext cx="2276856" cy="274320"/>
          </a:xfrm>
          <a:prstGeom prst="rect">
            <a:avLst/>
          </a:prstGeom>
          <a:noFill/>
        </p:spPr>
        <p:txBody>
          <a:bodyPr wrap="square" anchor="t" lIns="0" rIns="0" tIns="0" bIns="0">
            <a:spAutoFit/>
          </a:bodyPr>
          <a:lstStyle/>
          <a:p>
            <a:pPr algn="l">
              <a:lnSpc>
                <a:spcPct val="100000"/>
              </a:lnSpc>
              <a:spcAft>
                <a:spcPts val="0"/>
              </a:spcAft>
            </a:pPr>
            <a:r>
              <a:rPr sz="1000" b="1" i="0">
                <a:solidFill>
                  <a:srgbClr val="454F78"/>
                </a:solidFill>
                <a:latin typeface="Segoe UI"/>
              </a:rPr>
              <a:t/>
            </a:r>
          </a:p>
        </p:txBody>
      </p:sp>
      <p:sp>
        <p:nvSpPr>
          <p:cNvPr id="15" name="TextBox 14"/>
          <p:cNvSpPr txBox="1"/>
          <p:nvPr/>
        </p:nvSpPr>
        <p:spPr>
          <a:xfrm>
            <a:off x="6437376" y="2350008"/>
            <a:ext cx="2276856" cy="960120"/>
          </a:xfrm>
          <a:prstGeom prst="rect">
            <a:avLst/>
          </a:prstGeom>
          <a:noFill/>
        </p:spPr>
        <p:txBody>
          <a:bodyPr wrap="square" anchor="t" lIns="0" rIns="0" tIns="0" bIns="0">
            <a:spAutoFit/>
          </a:bodyPr>
          <a:lstStyle/>
          <a:p>
            <a:pPr algn="l">
              <a:lnSpc>
                <a:spcPct val="112000"/>
              </a:lnSpc>
              <a:spcAft>
                <a:spcPts val="0"/>
              </a:spcAft>
            </a:pPr>
            <a:r>
              <a:rPr sz="1150" b="0" i="0">
                <a:solidFill>
                  <a:srgbClr val="1B2559"/>
                </a:solidFill>
                <a:latin typeface="Segoe UI"/>
              </a:rPr>
              <a:t>Matrícula y pagos</a:t>
            </a:r>
          </a:p>
          <a:p>
            <a:pPr algn="l">
              <a:lnSpc>
                <a:spcPct val="112000"/>
              </a:lnSpc>
              <a:spcAft>
                <a:spcPts val="0"/>
              </a:spcAft>
            </a:pPr>
            <a:r>
              <a:rPr sz="1150" b="0" i="0">
                <a:solidFill>
                  <a:srgbClr val="1B2559"/>
                </a:solidFill>
                <a:latin typeface="Segoe UI"/>
              </a:rPr>
              <a:t>Matrícula pública, estados, cuotas</a:t>
            </a:r>
          </a:p>
        </p:txBody>
      </p:sp>
      <p:sp>
        <p:nvSpPr>
          <p:cNvPr id="16" name="Rounded Rectangle 15"/>
          <p:cNvSpPr/>
          <p:nvPr/>
        </p:nvSpPr>
        <p:spPr>
          <a:xfrm>
            <a:off x="9043416" y="1965960"/>
            <a:ext cx="2606040" cy="1463040"/>
          </a:xfrm>
          <a:prstGeom prst="roundRect">
            <a:avLst>
              <a:gd name="adj" fmla="val 4500"/>
            </a:avLst>
          </a:prstGeom>
          <a:solidFill>
            <a:srgbClr val="FFFFFF"/>
          </a:solidFill>
          <a:ln w="9525">
            <a:solidFill>
              <a:srgbClr val="D8DC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208008" y="2075688"/>
            <a:ext cx="2276856" cy="274320"/>
          </a:xfrm>
          <a:prstGeom prst="rect">
            <a:avLst/>
          </a:prstGeom>
          <a:noFill/>
        </p:spPr>
        <p:txBody>
          <a:bodyPr wrap="square" anchor="t" lIns="0" rIns="0" tIns="0" bIns="0">
            <a:spAutoFit/>
          </a:bodyPr>
          <a:lstStyle/>
          <a:p>
            <a:pPr algn="l">
              <a:lnSpc>
                <a:spcPct val="100000"/>
              </a:lnSpc>
              <a:spcAft>
                <a:spcPts val="0"/>
              </a:spcAft>
            </a:pPr>
            <a:r>
              <a:rPr sz="1000" b="1" i="0">
                <a:solidFill>
                  <a:srgbClr val="454F78"/>
                </a:solidFill>
                <a:latin typeface="Segoe UI"/>
              </a:rPr>
              <a:t/>
            </a:r>
          </a:p>
        </p:txBody>
      </p:sp>
      <p:sp>
        <p:nvSpPr>
          <p:cNvPr id="18" name="TextBox 17"/>
          <p:cNvSpPr txBox="1"/>
          <p:nvPr/>
        </p:nvSpPr>
        <p:spPr>
          <a:xfrm>
            <a:off x="9208008" y="2350008"/>
            <a:ext cx="2276856" cy="960120"/>
          </a:xfrm>
          <a:prstGeom prst="rect">
            <a:avLst/>
          </a:prstGeom>
          <a:noFill/>
        </p:spPr>
        <p:txBody>
          <a:bodyPr wrap="square" anchor="t" lIns="0" rIns="0" tIns="0" bIns="0">
            <a:spAutoFit/>
          </a:bodyPr>
          <a:lstStyle/>
          <a:p>
            <a:pPr algn="l">
              <a:lnSpc>
                <a:spcPct val="112000"/>
              </a:lnSpc>
              <a:spcAft>
                <a:spcPts val="0"/>
              </a:spcAft>
            </a:pPr>
            <a:r>
              <a:rPr sz="1150" b="0" i="0">
                <a:solidFill>
                  <a:srgbClr val="1B2559"/>
                </a:solidFill>
                <a:latin typeface="Segoe UI"/>
              </a:rPr>
              <a:t>Usuarios y roles</a:t>
            </a:r>
          </a:p>
          <a:p>
            <a:pPr algn="l">
              <a:lnSpc>
                <a:spcPct val="112000"/>
              </a:lnSpc>
              <a:spcAft>
                <a:spcPts val="0"/>
              </a:spcAft>
            </a:pPr>
            <a:r>
              <a:rPr sz="1150" b="0" i="0">
                <a:solidFill>
                  <a:srgbClr val="1B2559"/>
                </a:solidFill>
                <a:latin typeface="Segoe UI"/>
              </a:rPr>
              <a:t>Admin, docente, estudiante, auxiliar</a:t>
            </a:r>
          </a:p>
        </p:txBody>
      </p:sp>
      <p:sp>
        <p:nvSpPr>
          <p:cNvPr id="19" name="Rounded Rectangle 18"/>
          <p:cNvSpPr/>
          <p:nvPr/>
        </p:nvSpPr>
        <p:spPr>
          <a:xfrm>
            <a:off x="731520" y="3611880"/>
            <a:ext cx="3502152" cy="1371600"/>
          </a:xfrm>
          <a:prstGeom prst="roundRect">
            <a:avLst>
              <a:gd name="adj" fmla="val 4500"/>
            </a:avLst>
          </a:prstGeom>
          <a:solidFill>
            <a:srgbClr val="FFFFFF"/>
          </a:solidFill>
          <a:ln w="9525">
            <a:solidFill>
              <a:srgbClr val="D8DC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96112" y="3721608"/>
            <a:ext cx="3172968" cy="274320"/>
          </a:xfrm>
          <a:prstGeom prst="rect">
            <a:avLst/>
          </a:prstGeom>
          <a:noFill/>
        </p:spPr>
        <p:txBody>
          <a:bodyPr wrap="square" anchor="t" lIns="0" rIns="0" tIns="0" bIns="0">
            <a:spAutoFit/>
          </a:bodyPr>
          <a:lstStyle/>
          <a:p>
            <a:pPr algn="l">
              <a:lnSpc>
                <a:spcPct val="100000"/>
              </a:lnSpc>
              <a:spcAft>
                <a:spcPts val="0"/>
              </a:spcAft>
            </a:pPr>
            <a:r>
              <a:rPr sz="1000" b="1" i="0">
                <a:solidFill>
                  <a:srgbClr val="454F78"/>
                </a:solidFill>
                <a:latin typeface="Segoe UI"/>
              </a:rPr>
              <a:t/>
            </a:r>
          </a:p>
        </p:txBody>
      </p:sp>
      <p:sp>
        <p:nvSpPr>
          <p:cNvPr id="21" name="TextBox 20"/>
          <p:cNvSpPr txBox="1"/>
          <p:nvPr/>
        </p:nvSpPr>
        <p:spPr>
          <a:xfrm>
            <a:off x="896112" y="3995928"/>
            <a:ext cx="3172968" cy="868680"/>
          </a:xfrm>
          <a:prstGeom prst="rect">
            <a:avLst/>
          </a:prstGeom>
          <a:noFill/>
        </p:spPr>
        <p:txBody>
          <a:bodyPr wrap="square" anchor="t" lIns="0" rIns="0" tIns="0" bIns="0">
            <a:spAutoFit/>
          </a:bodyPr>
          <a:lstStyle/>
          <a:p>
            <a:pPr algn="l">
              <a:lnSpc>
                <a:spcPct val="112000"/>
              </a:lnSpc>
              <a:spcAft>
                <a:spcPts val="0"/>
              </a:spcAft>
            </a:pPr>
            <a:r>
              <a:rPr sz="1150" b="0" i="0">
                <a:solidFill>
                  <a:srgbClr val="1B2559"/>
                </a:solidFill>
                <a:latin typeface="Segoe UI"/>
              </a:rPr>
              <a:t>Asistencia QR</a:t>
            </a:r>
          </a:p>
          <a:p>
            <a:pPr algn="l">
              <a:lnSpc>
                <a:spcPct val="112000"/>
              </a:lnSpc>
              <a:spcAft>
                <a:spcPts val="0"/>
              </a:spcAft>
            </a:pPr>
            <a:r>
              <a:rPr sz="1150" b="0" i="0">
                <a:solidFill>
                  <a:srgbClr val="1B2559"/>
                </a:solidFill>
                <a:latin typeface="Segoe UI"/>
              </a:rPr>
              <a:t>Tokens, registros, consulta para padres</a:t>
            </a:r>
          </a:p>
        </p:txBody>
      </p:sp>
      <p:sp>
        <p:nvSpPr>
          <p:cNvPr id="22" name="Rounded Rectangle 21"/>
          <p:cNvSpPr/>
          <p:nvPr/>
        </p:nvSpPr>
        <p:spPr>
          <a:xfrm>
            <a:off x="4398264" y="3611880"/>
            <a:ext cx="3502152" cy="1371600"/>
          </a:xfrm>
          <a:prstGeom prst="roundRect">
            <a:avLst>
              <a:gd name="adj" fmla="val 4500"/>
            </a:avLst>
          </a:prstGeom>
          <a:solidFill>
            <a:srgbClr val="FFFFFF"/>
          </a:solidFill>
          <a:ln w="9525">
            <a:solidFill>
              <a:srgbClr val="D8DC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62856" y="3721608"/>
            <a:ext cx="3172968" cy="274320"/>
          </a:xfrm>
          <a:prstGeom prst="rect">
            <a:avLst/>
          </a:prstGeom>
          <a:noFill/>
        </p:spPr>
        <p:txBody>
          <a:bodyPr wrap="square" anchor="t" lIns="0" rIns="0" tIns="0" bIns="0">
            <a:spAutoFit/>
          </a:bodyPr>
          <a:lstStyle/>
          <a:p>
            <a:pPr algn="l">
              <a:lnSpc>
                <a:spcPct val="100000"/>
              </a:lnSpc>
              <a:spcAft>
                <a:spcPts val="0"/>
              </a:spcAft>
            </a:pPr>
            <a:r>
              <a:rPr sz="1000" b="1" i="0">
                <a:solidFill>
                  <a:srgbClr val="454F78"/>
                </a:solidFill>
                <a:latin typeface="Segoe UI"/>
              </a:rPr>
              <a:t/>
            </a:r>
          </a:p>
        </p:txBody>
      </p:sp>
      <p:sp>
        <p:nvSpPr>
          <p:cNvPr id="24" name="TextBox 23"/>
          <p:cNvSpPr txBox="1"/>
          <p:nvPr/>
        </p:nvSpPr>
        <p:spPr>
          <a:xfrm>
            <a:off x="4562856" y="3995928"/>
            <a:ext cx="3172968" cy="868680"/>
          </a:xfrm>
          <a:prstGeom prst="rect">
            <a:avLst/>
          </a:prstGeom>
          <a:noFill/>
        </p:spPr>
        <p:txBody>
          <a:bodyPr wrap="square" anchor="t" lIns="0" rIns="0" tIns="0" bIns="0">
            <a:spAutoFit/>
          </a:bodyPr>
          <a:lstStyle/>
          <a:p>
            <a:pPr algn="l">
              <a:lnSpc>
                <a:spcPct val="112000"/>
              </a:lnSpc>
              <a:spcAft>
                <a:spcPts val="0"/>
              </a:spcAft>
            </a:pPr>
            <a:r>
              <a:rPr sz="1150" b="0" i="0">
                <a:solidFill>
                  <a:srgbClr val="1B2559"/>
                </a:solidFill>
                <a:latin typeface="Segoe UI"/>
              </a:rPr>
              <a:t>Contenidos</a:t>
            </a:r>
          </a:p>
          <a:p>
            <a:pPr algn="l">
              <a:lnSpc>
                <a:spcPct val="112000"/>
              </a:lnSpc>
              <a:spcAft>
                <a:spcPts val="0"/>
              </a:spcAft>
            </a:pPr>
            <a:r>
              <a:rPr sz="1150" b="0" i="0">
                <a:solidFill>
                  <a:srgbClr val="1B2559"/>
                </a:solidFill>
                <a:latin typeface="Segoe UI"/>
              </a:rPr>
              <a:t>Recursos, blog, talleres</a:t>
            </a:r>
          </a:p>
        </p:txBody>
      </p:sp>
      <p:sp>
        <p:nvSpPr>
          <p:cNvPr id="25" name="Rounded Rectangle 24"/>
          <p:cNvSpPr/>
          <p:nvPr/>
        </p:nvSpPr>
        <p:spPr>
          <a:xfrm>
            <a:off x="8065008" y="3611880"/>
            <a:ext cx="3502152" cy="1371600"/>
          </a:xfrm>
          <a:prstGeom prst="roundRect">
            <a:avLst>
              <a:gd name="adj" fmla="val 4500"/>
            </a:avLst>
          </a:prstGeom>
          <a:solidFill>
            <a:srgbClr val="FFFFFF"/>
          </a:solidFill>
          <a:ln w="9525">
            <a:solidFill>
              <a:srgbClr val="D8DC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229600" y="3721608"/>
            <a:ext cx="3172968" cy="274320"/>
          </a:xfrm>
          <a:prstGeom prst="rect">
            <a:avLst/>
          </a:prstGeom>
          <a:noFill/>
        </p:spPr>
        <p:txBody>
          <a:bodyPr wrap="square" anchor="t" lIns="0" rIns="0" tIns="0" bIns="0">
            <a:spAutoFit/>
          </a:bodyPr>
          <a:lstStyle/>
          <a:p>
            <a:pPr algn="l">
              <a:lnSpc>
                <a:spcPct val="100000"/>
              </a:lnSpc>
              <a:spcAft>
                <a:spcPts val="0"/>
              </a:spcAft>
            </a:pPr>
            <a:r>
              <a:rPr sz="1000" b="1" i="0">
                <a:solidFill>
                  <a:srgbClr val="454F78"/>
                </a:solidFill>
                <a:latin typeface="Segoe UI"/>
              </a:rPr>
              <a:t/>
            </a:r>
          </a:p>
        </p:txBody>
      </p:sp>
      <p:sp>
        <p:nvSpPr>
          <p:cNvPr id="27" name="TextBox 26"/>
          <p:cNvSpPr txBox="1"/>
          <p:nvPr/>
        </p:nvSpPr>
        <p:spPr>
          <a:xfrm>
            <a:off x="8229600" y="3995928"/>
            <a:ext cx="3172968" cy="868680"/>
          </a:xfrm>
          <a:prstGeom prst="rect">
            <a:avLst/>
          </a:prstGeom>
          <a:noFill/>
        </p:spPr>
        <p:txBody>
          <a:bodyPr wrap="square" anchor="t" lIns="0" rIns="0" tIns="0" bIns="0">
            <a:spAutoFit/>
          </a:bodyPr>
          <a:lstStyle/>
          <a:p>
            <a:pPr algn="l">
              <a:lnSpc>
                <a:spcPct val="112000"/>
              </a:lnSpc>
              <a:spcAft>
                <a:spcPts val="0"/>
              </a:spcAft>
            </a:pPr>
            <a:r>
              <a:rPr sz="1150" b="0" i="0">
                <a:solidFill>
                  <a:srgbClr val="1B2559"/>
                </a:solidFill>
                <a:latin typeface="Segoe UI"/>
              </a:rPr>
              <a:t>Infraestructura</a:t>
            </a:r>
          </a:p>
          <a:p>
            <a:pPr algn="l">
              <a:lnSpc>
                <a:spcPct val="112000"/>
              </a:lnSpc>
              <a:spcAft>
                <a:spcPts val="0"/>
              </a:spcAft>
            </a:pPr>
            <a:r>
              <a:rPr sz="1150" b="0" i="0">
                <a:solidFill>
                  <a:srgbClr val="1B2559"/>
                </a:solidFill>
                <a:latin typeface="Segoe UI"/>
              </a:rPr>
              <a:t>Reglas Firestore, API REST, MySQL, PM2</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6F7FB"/>
        </a:solidFill>
        <a:effectLst/>
      </p:bgPr>
    </p:bg>
    <p:spTree>
      <p:nvGrpSpPr>
        <p:cNvPr id="1" name=""/>
        <p:cNvGrpSpPr/>
        <p:nvPr/>
      </p:nvGrpSpPr>
      <p:grpSpPr/>
      <p:sp>
        <p:nvSpPr>
          <p:cNvPr id="2" name="TextBox 1"/>
          <p:cNvSpPr txBox="1"/>
          <p:nvPr/>
        </p:nvSpPr>
        <p:spPr>
          <a:xfrm>
            <a:off x="731520" y="502920"/>
            <a:ext cx="9601200" cy="320040"/>
          </a:xfrm>
          <a:prstGeom prst="rect">
            <a:avLst/>
          </a:prstGeom>
          <a:noFill/>
        </p:spPr>
        <p:txBody>
          <a:bodyPr wrap="square" anchor="t" lIns="0" rIns="0" tIns="0" bIns="0">
            <a:spAutoFit/>
          </a:bodyPr>
          <a:lstStyle/>
          <a:p>
            <a:pPr algn="l">
              <a:lnSpc>
                <a:spcPct val="100000"/>
              </a:lnSpc>
              <a:spcAft>
                <a:spcPts val="0"/>
              </a:spcAft>
            </a:pPr>
            <a:r>
              <a:rPr sz="1250" b="1" i="0">
                <a:solidFill>
                  <a:srgbClr val="3B5BDB"/>
                </a:solidFill>
                <a:latin typeface="Segoe UI"/>
              </a:rPr>
              <a:t>E3 · 3.3 GESTIÓN DEL CRONOGRAMA</a:t>
            </a:r>
          </a:p>
        </p:txBody>
      </p:sp>
      <p:sp>
        <p:nvSpPr>
          <p:cNvPr id="3" name="TextBox 2"/>
          <p:cNvSpPr txBox="1"/>
          <p:nvPr/>
        </p:nvSpPr>
        <p:spPr>
          <a:xfrm>
            <a:off x="731520" y="841248"/>
            <a:ext cx="10607040" cy="914400"/>
          </a:xfrm>
          <a:prstGeom prst="rect">
            <a:avLst/>
          </a:prstGeom>
          <a:noFill/>
        </p:spPr>
        <p:txBody>
          <a:bodyPr wrap="square" anchor="t" lIns="0" rIns="0" tIns="0" bIns="0">
            <a:spAutoFit/>
          </a:bodyPr>
          <a:lstStyle/>
          <a:p>
            <a:pPr algn="l">
              <a:lnSpc>
                <a:spcPct val="102000"/>
              </a:lnSpc>
              <a:spcAft>
                <a:spcPts val="0"/>
              </a:spcAft>
            </a:pPr>
            <a:r>
              <a:rPr sz="2300" b="0" i="0">
                <a:solidFill>
                  <a:srgbClr val="1B2559"/>
                </a:solidFill>
                <a:latin typeface="Segoe UI"/>
              </a:rPr>
              <a:t>Ejecución iterativa por fases, documentada en el repositorio</a:t>
            </a:r>
          </a:p>
        </p:txBody>
      </p:sp>
      <p:sp>
        <p:nvSpPr>
          <p:cNvPr id="4" name="Rectangle 3"/>
          <p:cNvSpPr/>
          <p:nvPr/>
        </p:nvSpPr>
        <p:spPr>
          <a:xfrm>
            <a:off x="731520" y="1627632"/>
            <a:ext cx="10698480" cy="15240"/>
          </a:xfrm>
          <a:prstGeom prst="rect">
            <a:avLst/>
          </a:prstGeom>
          <a:solidFill>
            <a:srgbClr val="3B5B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6473952"/>
            <a:ext cx="7772400" cy="292608"/>
          </a:xfrm>
          <a:prstGeom prst="rect">
            <a:avLst/>
          </a:prstGeom>
          <a:noFill/>
        </p:spPr>
        <p:txBody>
          <a:bodyPr wrap="square" anchor="t" lIns="0" rIns="0" tIns="0" bIns="0">
            <a:spAutoFit/>
          </a:bodyPr>
          <a:lstStyle/>
          <a:p>
            <a:pPr algn="l">
              <a:lnSpc>
                <a:spcPct val="100000"/>
              </a:lnSpc>
              <a:spcAft>
                <a:spcPts val="0"/>
              </a:spcAft>
            </a:pPr>
            <a:r>
              <a:rPr sz="1050" b="0" i="0">
                <a:solidFill>
                  <a:srgbClr val="454F78"/>
                </a:solidFill>
                <a:latin typeface="Segoe UI"/>
              </a:rPr>
              <a:t>Expone: Cárdenas Vilca Rennzo   ·   ⏱ 50s</a:t>
            </a:r>
          </a:p>
        </p:txBody>
      </p:sp>
      <p:sp>
        <p:nvSpPr>
          <p:cNvPr id="6" name="TextBox 5"/>
          <p:cNvSpPr txBox="1"/>
          <p:nvPr/>
        </p:nvSpPr>
        <p:spPr>
          <a:xfrm>
            <a:off x="10881360" y="6473952"/>
            <a:ext cx="822960" cy="292608"/>
          </a:xfrm>
          <a:prstGeom prst="rect">
            <a:avLst/>
          </a:prstGeom>
          <a:noFill/>
        </p:spPr>
        <p:txBody>
          <a:bodyPr wrap="square" anchor="t" lIns="0" rIns="0" tIns="0" bIns="0">
            <a:spAutoFit/>
          </a:bodyPr>
          <a:lstStyle/>
          <a:p>
            <a:pPr algn="r">
              <a:lnSpc>
                <a:spcPct val="100000"/>
              </a:lnSpc>
              <a:spcAft>
                <a:spcPts val="0"/>
              </a:spcAft>
            </a:pPr>
            <a:r>
              <a:rPr sz="1050" b="0" i="0">
                <a:solidFill>
                  <a:srgbClr val="454F78"/>
                </a:solidFill>
                <a:latin typeface="Segoe UI"/>
              </a:rPr>
              <a:t>16 / 22</a:t>
            </a:r>
          </a:p>
        </p:txBody>
      </p:sp>
      <p:graphicFrame>
        <p:nvGraphicFramePr>
          <p:cNvPr id="7" name="Table 6"/>
          <p:cNvGraphicFramePr>
            <a:graphicFrameLocks noGrp="1"/>
          </p:cNvGraphicFramePr>
          <p:nvPr/>
        </p:nvGraphicFramePr>
        <p:xfrm>
          <a:off x="731520" y="1920240"/>
          <a:ext cx="10698480" cy="3749039"/>
        </p:xfrm>
        <a:graphic>
          <a:graphicData uri="http://schemas.openxmlformats.org/drawingml/2006/table">
            <a:tbl>
              <a:tblPr firstRow="1" bandRow="1">
                <a:tableStyleId>{5C22544A-7EE6-4342-B048-85BDC9FD1C3A}</a:tableStyleId>
              </a:tblPr>
              <a:tblGrid>
                <a:gridCol w="2926080"/>
                <a:gridCol w="7772400"/>
              </a:tblGrid>
              <a:tr h="468629">
                <a:tc>
                  <a:txBody>
                    <a:bodyPr/>
                    <a:lstStyle/>
                    <a:p>
                      <a:pPr>
                        <a:defRPr sz="1100" b="1">
                          <a:solidFill>
                            <a:srgbClr val="FFFFFF"/>
                          </a:solidFill>
                          <a:latin typeface="Segoe UI"/>
                        </a:defRPr>
                      </a:pPr>
                      <a:r>
                        <a:t>Hito</a:t>
                      </a:r>
                    </a:p>
                  </a:txBody>
                  <a:tcPr anchor="ctr" marL="76200" marR="76200" marT="50800" marB="50800">
                    <a:solidFill>
                      <a:srgbClr val="1B2559"/>
                    </a:solidFill>
                  </a:tcPr>
                </a:tc>
                <a:tc>
                  <a:txBody>
                    <a:bodyPr/>
                    <a:lstStyle/>
                    <a:p>
                      <a:pPr>
                        <a:defRPr sz="1100" b="1">
                          <a:solidFill>
                            <a:srgbClr val="FFFFFF"/>
                          </a:solidFill>
                          <a:latin typeface="Segoe UI"/>
                        </a:defRPr>
                      </a:pPr>
                      <a:r>
                        <a:t>Contenido representativo</a:t>
                      </a:r>
                    </a:p>
                  </a:txBody>
                  <a:tcPr anchor="ctr" marL="76200" marR="76200" marT="50800" marB="50800">
                    <a:solidFill>
                      <a:srgbClr val="1B2559"/>
                    </a:solidFill>
                  </a:tcPr>
                </a:tc>
              </a:tr>
              <a:tr h="468629">
                <a:tc>
                  <a:txBody>
                    <a:bodyPr/>
                    <a:lstStyle/>
                    <a:p>
                      <a:pPr>
                        <a:defRPr sz="1150" b="0">
                          <a:solidFill>
                            <a:srgbClr val="1B2559"/>
                          </a:solidFill>
                          <a:latin typeface="Segoe UI"/>
                        </a:defRPr>
                      </a:pPr>
                      <a:r>
                        <a:t>Fundacional</a:t>
                      </a:r>
                    </a:p>
                  </a:txBody>
                  <a:tcPr anchor="ctr" marL="76200" marR="76200" marT="50800" marB="50800">
                    <a:solidFill>
                      <a:srgbClr val="FFFFFF"/>
                    </a:solidFill>
                  </a:tcPr>
                </a:tc>
                <a:tc>
                  <a:txBody>
                    <a:bodyPr/>
                    <a:lstStyle/>
                    <a:p>
                      <a:pPr>
                        <a:defRPr sz="1150" b="0">
                          <a:solidFill>
                            <a:srgbClr val="1B2559"/>
                          </a:solidFill>
                          <a:latin typeface="Segoe UI"/>
                        </a:defRPr>
                      </a:pPr>
                      <a:r>
                        <a:t>Home público, header/navegación, hero, footer.</a:t>
                      </a:r>
                    </a:p>
                  </a:txBody>
                  <a:tcPr anchor="ctr" marL="76200" marR="76200" marT="50800" marB="50800">
                    <a:solidFill>
                      <a:srgbClr val="FFFFFF"/>
                    </a:solidFill>
                  </a:tcPr>
                </a:tc>
              </a:tr>
              <a:tr h="468629">
                <a:tc>
                  <a:txBody>
                    <a:bodyPr/>
                    <a:lstStyle/>
                    <a:p>
                      <a:pPr>
                        <a:defRPr sz="1150" b="0">
                          <a:solidFill>
                            <a:srgbClr val="1B2559"/>
                          </a:solidFill>
                          <a:latin typeface="Segoe UI"/>
                        </a:defRPr>
                      </a:pPr>
                      <a:r>
                        <a:t>Académico</a:t>
                      </a:r>
                    </a:p>
                  </a:txBody>
                  <a:tcPr anchor="ctr" marL="76200" marR="76200" marT="50800" marB="50800">
                    <a:solidFill>
                      <a:srgbClr val="FFFFFF"/>
                    </a:solidFill>
                  </a:tcPr>
                </a:tc>
                <a:tc>
                  <a:txBody>
                    <a:bodyPr/>
                    <a:lstStyle/>
                    <a:p>
                      <a:pPr>
                        <a:defRPr sz="1150" b="0">
                          <a:solidFill>
                            <a:srgbClr val="1B2559"/>
                          </a:solidFill>
                          <a:latin typeface="Segoe UI"/>
                        </a:defRPr>
                      </a:pPr>
                      <a:r>
                        <a:t>Ciclos, grupos, sedes, categorías, modalidad/turno.</a:t>
                      </a:r>
                    </a:p>
                  </a:txBody>
                  <a:tcPr anchor="ctr" marL="76200" marR="76200" marT="50800" marB="50800">
                    <a:solidFill>
                      <a:srgbClr val="FFFFFF"/>
                    </a:solidFill>
                  </a:tcPr>
                </a:tc>
              </a:tr>
              <a:tr h="468629">
                <a:tc>
                  <a:txBody>
                    <a:bodyPr/>
                    <a:lstStyle/>
                    <a:p>
                      <a:pPr>
                        <a:defRPr sz="1150" b="0">
                          <a:solidFill>
                            <a:srgbClr val="1B2559"/>
                          </a:solidFill>
                          <a:latin typeface="Segoe UI"/>
                        </a:defRPr>
                      </a:pPr>
                      <a:r>
                        <a:t>Matrícula y estados</a:t>
                      </a:r>
                    </a:p>
                  </a:txBody>
                  <a:tcPr anchor="ctr" marL="76200" marR="76200" marT="50800" marB="50800">
                    <a:solidFill>
                      <a:srgbClr val="FFFFFF"/>
                    </a:solidFill>
                  </a:tcPr>
                </a:tc>
                <a:tc>
                  <a:txBody>
                    <a:bodyPr/>
                    <a:lstStyle/>
                    <a:p>
                      <a:pPr>
                        <a:defRPr sz="1150" b="0">
                          <a:solidFill>
                            <a:srgbClr val="1B2559"/>
                          </a:solidFill>
                          <a:latin typeface="Segoe UI"/>
                        </a:defRPr>
                      </a:pPr>
                      <a:r>
                        <a:t>Máquina de estados de matrícula, cupos, activación.</a:t>
                      </a:r>
                    </a:p>
                  </a:txBody>
                  <a:tcPr anchor="ctr" marL="76200" marR="76200" marT="50800" marB="50800">
                    <a:solidFill>
                      <a:srgbClr val="FFFFFF"/>
                    </a:solidFill>
                  </a:tcPr>
                </a:tc>
              </a:tr>
              <a:tr h="468629">
                <a:tc>
                  <a:txBody>
                    <a:bodyPr/>
                    <a:lstStyle/>
                    <a:p>
                      <a:pPr>
                        <a:defRPr sz="1150" b="0">
                          <a:solidFill>
                            <a:srgbClr val="1B2559"/>
                          </a:solidFill>
                          <a:latin typeface="Segoe UI"/>
                        </a:defRPr>
                      </a:pPr>
                      <a:r>
                        <a:t>Crítico / seguridad</a:t>
                      </a:r>
                    </a:p>
                  </a:txBody>
                  <a:tcPr anchor="ctr" marL="76200" marR="76200" marT="50800" marB="50800">
                    <a:solidFill>
                      <a:srgbClr val="FFFFFF"/>
                    </a:solidFill>
                  </a:tcPr>
                </a:tc>
                <a:tc>
                  <a:txBody>
                    <a:bodyPr/>
                    <a:lstStyle/>
                    <a:p>
                      <a:pPr>
                        <a:defRPr sz="1150" b="0">
                          <a:solidFill>
                            <a:srgbClr val="1B2559"/>
                          </a:solidFill>
                          <a:latin typeface="Segoe UI"/>
                        </a:defRPr>
                      </a:pPr>
                      <a:r>
                        <a:t>Reglas de Firestore, deduplicación, payload de matrícula.</a:t>
                      </a:r>
                    </a:p>
                  </a:txBody>
                  <a:tcPr anchor="ctr" marL="76200" marR="76200" marT="50800" marB="50800">
                    <a:solidFill>
                      <a:srgbClr val="FFFFFF"/>
                    </a:solidFill>
                  </a:tcPr>
                </a:tc>
              </a:tr>
              <a:tr h="468629">
                <a:tc>
                  <a:txBody>
                    <a:bodyPr/>
                    <a:lstStyle/>
                    <a:p>
                      <a:pPr>
                        <a:defRPr sz="1150" b="0">
                          <a:solidFill>
                            <a:srgbClr val="1B2559"/>
                          </a:solidFill>
                          <a:latin typeface="Segoe UI"/>
                        </a:defRPr>
                      </a:pPr>
                      <a:r>
                        <a:t>UX administrativa</a:t>
                      </a:r>
                    </a:p>
                  </a:txBody>
                  <a:tcPr anchor="ctr" marL="76200" marR="76200" marT="50800" marB="50800">
                    <a:solidFill>
                      <a:srgbClr val="FFFFFF"/>
                    </a:solidFill>
                  </a:tcPr>
                </a:tc>
                <a:tc>
                  <a:txBody>
                    <a:bodyPr/>
                    <a:lstStyle/>
                    <a:p>
                      <a:pPr>
                        <a:defRPr sz="1150" b="0">
                          <a:solidFill>
                            <a:srgbClr val="1B2559"/>
                          </a:solidFill>
                          <a:latin typeface="Segoe UI"/>
                        </a:defRPr>
                      </a:pPr>
                      <a:r>
                        <a:t>Sidebar responsivo, formularios, KPIs de matrícula/pagos.</a:t>
                      </a:r>
                    </a:p>
                  </a:txBody>
                  <a:tcPr anchor="ctr" marL="76200" marR="76200" marT="50800" marB="50800">
                    <a:solidFill>
                      <a:srgbClr val="FFFFFF"/>
                    </a:solidFill>
                  </a:tcPr>
                </a:tc>
              </a:tr>
              <a:tr h="468629">
                <a:tc>
                  <a:txBody>
                    <a:bodyPr/>
                    <a:lstStyle/>
                    <a:p>
                      <a:pPr>
                        <a:defRPr sz="1150" b="0">
                          <a:solidFill>
                            <a:srgbClr val="1B2559"/>
                          </a:solidFill>
                          <a:latin typeface="Segoe UI"/>
                        </a:defRPr>
                      </a:pPr>
                      <a:r>
                        <a:t>Calidad</a:t>
                      </a:r>
                    </a:p>
                  </a:txBody>
                  <a:tcPr anchor="ctr" marL="76200" marR="76200" marT="50800" marB="50800">
                    <a:solidFill>
                      <a:srgbClr val="FFFFFF"/>
                    </a:solidFill>
                  </a:tcPr>
                </a:tc>
                <a:tc>
                  <a:txBody>
                    <a:bodyPr/>
                    <a:lstStyle/>
                    <a:p>
                      <a:pPr>
                        <a:defRPr sz="1150" b="0">
                          <a:solidFill>
                            <a:srgbClr val="1B2559"/>
                          </a:solidFill>
                          <a:latin typeface="Segoe UI"/>
                        </a:defRPr>
                      </a:pPr>
                      <a:r>
                        <a:t>Higiene de lint, tipado seguro, auditoría global.</a:t>
                      </a:r>
                    </a:p>
                  </a:txBody>
                  <a:tcPr anchor="ctr" marL="76200" marR="76200" marT="50800" marB="50800">
                    <a:solidFill>
                      <a:srgbClr val="FFFFFF"/>
                    </a:solidFill>
                  </a:tcPr>
                </a:tc>
              </a:tr>
              <a:tr h="468636">
                <a:tc>
                  <a:txBody>
                    <a:bodyPr/>
                    <a:lstStyle/>
                    <a:p>
                      <a:pPr>
                        <a:defRPr sz="1150" b="0">
                          <a:solidFill>
                            <a:srgbClr val="1B2559"/>
                          </a:solidFill>
                          <a:latin typeface="Segoe UI"/>
                        </a:defRPr>
                      </a:pPr>
                      <a:r>
                        <a:t>Cierre EPE</a:t>
                      </a:r>
                    </a:p>
                  </a:txBody>
                  <a:tcPr anchor="ctr" marL="76200" marR="76200" marT="50800" marB="50800">
                    <a:solidFill>
                      <a:srgbClr val="FFFFFF"/>
                    </a:solidFill>
                  </a:tcPr>
                </a:tc>
                <a:tc>
                  <a:txBody>
                    <a:bodyPr/>
                    <a:lstStyle/>
                    <a:p>
                      <a:pPr>
                        <a:defRPr sz="1150" b="0">
                          <a:solidFill>
                            <a:srgbClr val="1B2559"/>
                          </a:solidFill>
                          <a:latin typeface="Segoe UI"/>
                        </a:defRPr>
                      </a:pPr>
                      <a:r>
                        <a:t>Este perfil de egreso completo.</a:t>
                      </a:r>
                    </a:p>
                  </a:txBody>
                  <a:tcPr anchor="ctr" marL="76200" marR="76200" marT="50800" marB="50800">
                    <a:solidFill>
                      <a:srgbClr val="FFFFFF"/>
                    </a:solidFill>
                  </a:tcPr>
                </a:tc>
              </a:tr>
            </a:tbl>
          </a:graphicData>
        </a:graphic>
      </p:graphicFrame>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6F7FB"/>
        </a:solidFill>
        <a:effectLst/>
      </p:bgPr>
    </p:bg>
    <p:spTree>
      <p:nvGrpSpPr>
        <p:cNvPr id="1" name=""/>
        <p:cNvGrpSpPr/>
        <p:nvPr/>
      </p:nvGrpSpPr>
      <p:grpSpPr/>
      <p:sp>
        <p:nvSpPr>
          <p:cNvPr id="2" name="TextBox 1"/>
          <p:cNvSpPr txBox="1"/>
          <p:nvPr/>
        </p:nvSpPr>
        <p:spPr>
          <a:xfrm>
            <a:off x="731520" y="502920"/>
            <a:ext cx="9601200" cy="320040"/>
          </a:xfrm>
          <a:prstGeom prst="rect">
            <a:avLst/>
          </a:prstGeom>
          <a:noFill/>
        </p:spPr>
        <p:txBody>
          <a:bodyPr wrap="square" anchor="t" lIns="0" rIns="0" tIns="0" bIns="0">
            <a:spAutoFit/>
          </a:bodyPr>
          <a:lstStyle/>
          <a:p>
            <a:pPr algn="l">
              <a:lnSpc>
                <a:spcPct val="100000"/>
              </a:lnSpc>
              <a:spcAft>
                <a:spcPts val="0"/>
              </a:spcAft>
            </a:pPr>
            <a:r>
              <a:rPr sz="1250" b="1" i="0">
                <a:solidFill>
                  <a:srgbClr val="3B5BDB"/>
                </a:solidFill>
                <a:latin typeface="Segoe UI"/>
              </a:rPr>
              <a:t>E3 · 3.5–3.6 RIESGOS Y ENFOQUE ÁGIL</a:t>
            </a:r>
          </a:p>
        </p:txBody>
      </p:sp>
      <p:sp>
        <p:nvSpPr>
          <p:cNvPr id="3" name="TextBox 2"/>
          <p:cNvSpPr txBox="1"/>
          <p:nvPr/>
        </p:nvSpPr>
        <p:spPr>
          <a:xfrm>
            <a:off x="731520" y="841248"/>
            <a:ext cx="10607040" cy="914400"/>
          </a:xfrm>
          <a:prstGeom prst="rect">
            <a:avLst/>
          </a:prstGeom>
          <a:noFill/>
        </p:spPr>
        <p:txBody>
          <a:bodyPr wrap="square" anchor="t" lIns="0" rIns="0" tIns="0" bIns="0">
            <a:spAutoFit/>
          </a:bodyPr>
          <a:lstStyle/>
          <a:p>
            <a:pPr algn="l">
              <a:lnSpc>
                <a:spcPct val="102000"/>
              </a:lnSpc>
              <a:spcAft>
                <a:spcPts val="0"/>
              </a:spcAft>
            </a:pPr>
            <a:r>
              <a:rPr sz="2300" b="0" i="0">
                <a:solidFill>
                  <a:srgbClr val="1B2559"/>
                </a:solidFill>
                <a:latin typeface="Segoe UI"/>
              </a:rPr>
              <a:t>Ágil iterativo por fases, no Scrum forzado</a:t>
            </a:r>
          </a:p>
        </p:txBody>
      </p:sp>
      <p:sp>
        <p:nvSpPr>
          <p:cNvPr id="4" name="Rectangle 3"/>
          <p:cNvSpPr/>
          <p:nvPr/>
        </p:nvSpPr>
        <p:spPr>
          <a:xfrm>
            <a:off x="731520" y="1627632"/>
            <a:ext cx="10698480" cy="15240"/>
          </a:xfrm>
          <a:prstGeom prst="rect">
            <a:avLst/>
          </a:prstGeom>
          <a:solidFill>
            <a:srgbClr val="3B5B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6473952"/>
            <a:ext cx="7772400" cy="292608"/>
          </a:xfrm>
          <a:prstGeom prst="rect">
            <a:avLst/>
          </a:prstGeom>
          <a:noFill/>
        </p:spPr>
        <p:txBody>
          <a:bodyPr wrap="square" anchor="t" lIns="0" rIns="0" tIns="0" bIns="0">
            <a:spAutoFit/>
          </a:bodyPr>
          <a:lstStyle/>
          <a:p>
            <a:pPr algn="l">
              <a:lnSpc>
                <a:spcPct val="100000"/>
              </a:lnSpc>
              <a:spcAft>
                <a:spcPts val="0"/>
              </a:spcAft>
            </a:pPr>
            <a:r>
              <a:rPr sz="1050" b="0" i="0">
                <a:solidFill>
                  <a:srgbClr val="454F78"/>
                </a:solidFill>
                <a:latin typeface="Segoe UI"/>
              </a:rPr>
              <a:t>Expone: Cárdenas Vilca Rennzo   ·   ⏱ 45s</a:t>
            </a:r>
          </a:p>
        </p:txBody>
      </p:sp>
      <p:sp>
        <p:nvSpPr>
          <p:cNvPr id="6" name="TextBox 5"/>
          <p:cNvSpPr txBox="1"/>
          <p:nvPr/>
        </p:nvSpPr>
        <p:spPr>
          <a:xfrm>
            <a:off x="10881360" y="6473952"/>
            <a:ext cx="822960" cy="292608"/>
          </a:xfrm>
          <a:prstGeom prst="rect">
            <a:avLst/>
          </a:prstGeom>
          <a:noFill/>
        </p:spPr>
        <p:txBody>
          <a:bodyPr wrap="square" anchor="t" lIns="0" rIns="0" tIns="0" bIns="0">
            <a:spAutoFit/>
          </a:bodyPr>
          <a:lstStyle/>
          <a:p>
            <a:pPr algn="r">
              <a:lnSpc>
                <a:spcPct val="100000"/>
              </a:lnSpc>
              <a:spcAft>
                <a:spcPts val="0"/>
              </a:spcAft>
            </a:pPr>
            <a:r>
              <a:rPr sz="1050" b="0" i="0">
                <a:solidFill>
                  <a:srgbClr val="454F78"/>
                </a:solidFill>
                <a:latin typeface="Segoe UI"/>
              </a:rPr>
              <a:t>17 / 22</a:t>
            </a:r>
          </a:p>
        </p:txBody>
      </p:sp>
      <p:sp>
        <p:nvSpPr>
          <p:cNvPr id="7" name="Rounded Rectangle 6"/>
          <p:cNvSpPr/>
          <p:nvPr/>
        </p:nvSpPr>
        <p:spPr>
          <a:xfrm>
            <a:off x="731520" y="1965960"/>
            <a:ext cx="5120640" cy="2011680"/>
          </a:xfrm>
          <a:prstGeom prst="roundRect">
            <a:avLst>
              <a:gd name="adj" fmla="val 4500"/>
            </a:avLst>
          </a:prstGeom>
          <a:solidFill>
            <a:srgbClr val="FFFFFF"/>
          </a:solidFill>
          <a:ln w="9525">
            <a:solidFill>
              <a:srgbClr val="D8DC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31520" y="1965960"/>
            <a:ext cx="54864" cy="2011680"/>
          </a:xfrm>
          <a:prstGeom prst="rect">
            <a:avLst/>
          </a:prstGeom>
          <a:solidFill>
            <a:srgbClr val="C92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96112" y="2075688"/>
            <a:ext cx="4791456" cy="274320"/>
          </a:xfrm>
          <a:prstGeom prst="rect">
            <a:avLst/>
          </a:prstGeom>
          <a:noFill/>
        </p:spPr>
        <p:txBody>
          <a:bodyPr wrap="square" anchor="t" lIns="0" rIns="0" tIns="0" bIns="0">
            <a:spAutoFit/>
          </a:bodyPr>
          <a:lstStyle/>
          <a:p>
            <a:pPr algn="l">
              <a:lnSpc>
                <a:spcPct val="100000"/>
              </a:lnSpc>
              <a:spcAft>
                <a:spcPts val="0"/>
              </a:spcAft>
            </a:pPr>
            <a:r>
              <a:rPr sz="1000" b="1" i="0">
                <a:solidFill>
                  <a:srgbClr val="454F78"/>
                </a:solidFill>
                <a:latin typeface="Segoe UI"/>
              </a:rPr>
              <a:t>RIESGO PRINCIPAL</a:t>
            </a:r>
          </a:p>
        </p:txBody>
      </p:sp>
      <p:sp>
        <p:nvSpPr>
          <p:cNvPr id="10" name="TextBox 9"/>
          <p:cNvSpPr txBox="1"/>
          <p:nvPr/>
        </p:nvSpPr>
        <p:spPr>
          <a:xfrm>
            <a:off x="896112" y="2350008"/>
            <a:ext cx="4791456" cy="1508760"/>
          </a:xfrm>
          <a:prstGeom prst="rect">
            <a:avLst/>
          </a:prstGeom>
          <a:noFill/>
        </p:spPr>
        <p:txBody>
          <a:bodyPr wrap="square" anchor="t" lIns="0" rIns="0" tIns="0" bIns="0">
            <a:spAutoFit/>
          </a:bodyPr>
          <a:lstStyle/>
          <a:p>
            <a:pPr algn="l">
              <a:lnSpc>
                <a:spcPct val="112000"/>
              </a:lnSpc>
              <a:spcAft>
                <a:spcPts val="0"/>
              </a:spcAft>
            </a:pPr>
            <a:r>
              <a:rPr sz="1250" b="0" i="0">
                <a:solidFill>
                  <a:srgbClr val="1B2559"/>
                </a:solidFill>
                <a:latin typeface="Segoe UI"/>
              </a:rPr>
              <a:t>Regresiones al modificar reglas de seguridad de Firestore — probabilidad media, impacto alto. Se mitiga con verificación manual documentada antes de publicar.</a:t>
            </a:r>
          </a:p>
        </p:txBody>
      </p:sp>
      <p:sp>
        <p:nvSpPr>
          <p:cNvPr id="11" name="Rounded Rectangle 10"/>
          <p:cNvSpPr/>
          <p:nvPr/>
        </p:nvSpPr>
        <p:spPr>
          <a:xfrm>
            <a:off x="6035040" y="1965960"/>
            <a:ext cx="5394960" cy="2011680"/>
          </a:xfrm>
          <a:prstGeom prst="roundRect">
            <a:avLst>
              <a:gd name="adj" fmla="val 4500"/>
            </a:avLst>
          </a:prstGeom>
          <a:solidFill>
            <a:srgbClr val="FFFFFF"/>
          </a:solidFill>
          <a:ln w="9525">
            <a:solidFill>
              <a:srgbClr val="D8DC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99632" y="2075688"/>
            <a:ext cx="5065776" cy="274320"/>
          </a:xfrm>
          <a:prstGeom prst="rect">
            <a:avLst/>
          </a:prstGeom>
          <a:noFill/>
        </p:spPr>
        <p:txBody>
          <a:bodyPr wrap="square" anchor="t" lIns="0" rIns="0" tIns="0" bIns="0">
            <a:spAutoFit/>
          </a:bodyPr>
          <a:lstStyle/>
          <a:p>
            <a:pPr algn="l">
              <a:lnSpc>
                <a:spcPct val="100000"/>
              </a:lnSpc>
              <a:spcAft>
                <a:spcPts val="0"/>
              </a:spcAft>
            </a:pPr>
            <a:r>
              <a:rPr sz="1000" b="1" i="0">
                <a:solidFill>
                  <a:srgbClr val="454F78"/>
                </a:solidFill>
                <a:latin typeface="Segoe UI"/>
              </a:rPr>
              <a:t>ENFOQUE DE TRABAJO</a:t>
            </a:r>
          </a:p>
        </p:txBody>
      </p:sp>
      <p:sp>
        <p:nvSpPr>
          <p:cNvPr id="13" name="TextBox 12"/>
          <p:cNvSpPr txBox="1"/>
          <p:nvPr/>
        </p:nvSpPr>
        <p:spPr>
          <a:xfrm>
            <a:off x="6199632" y="2350008"/>
            <a:ext cx="5065776" cy="1508760"/>
          </a:xfrm>
          <a:prstGeom prst="rect">
            <a:avLst/>
          </a:prstGeom>
          <a:noFill/>
        </p:spPr>
        <p:txBody>
          <a:bodyPr wrap="square" anchor="t" lIns="0" rIns="0" tIns="0" bIns="0">
            <a:spAutoFit/>
          </a:bodyPr>
          <a:lstStyle/>
          <a:p>
            <a:pPr algn="l">
              <a:lnSpc>
                <a:spcPct val="112000"/>
              </a:lnSpc>
              <a:spcAft>
                <a:spcPts val="0"/>
              </a:spcAft>
            </a:pPr>
            <a:r>
              <a:rPr sz="1250" b="0" i="0">
                <a:solidFill>
                  <a:srgbClr val="1B2559"/>
                </a:solidFill>
                <a:latin typeface="Segoe UI"/>
              </a:rPr>
              <a:t>Sin sprints de calendario fijo: fases temáticas cerradas, cada una un incremento entregado y documentado antes de iniciar la siguiente.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1B2559"/>
        </a:solidFill>
        <a:effectLst/>
      </p:bgPr>
    </p:bg>
    <p:spTree>
      <p:nvGrpSpPr>
        <p:cNvPr id="1" name=""/>
        <p:cNvGrpSpPr/>
        <p:nvPr/>
      </p:nvGrpSpPr>
      <p:grpSpPr/>
      <p:sp>
        <p:nvSpPr>
          <p:cNvPr id="2" name="TextBox 1"/>
          <p:cNvSpPr txBox="1"/>
          <p:nvPr/>
        </p:nvSpPr>
        <p:spPr>
          <a:xfrm>
            <a:off x="731520" y="1828800"/>
            <a:ext cx="8229600" cy="320040"/>
          </a:xfrm>
          <a:prstGeom prst="rect">
            <a:avLst/>
          </a:prstGeom>
          <a:noFill/>
        </p:spPr>
        <p:txBody>
          <a:bodyPr wrap="square" anchor="t" lIns="0" rIns="0" tIns="0" bIns="0">
            <a:spAutoFit/>
          </a:bodyPr>
          <a:lstStyle/>
          <a:p>
            <a:pPr algn="l">
              <a:lnSpc>
                <a:spcPct val="100000"/>
              </a:lnSpc>
              <a:spcAft>
                <a:spcPts val="0"/>
              </a:spcAft>
            </a:pPr>
            <a:r>
              <a:rPr sz="1250" b="1" i="0">
                <a:solidFill>
                  <a:srgbClr val="AAB6FF"/>
                </a:solidFill>
                <a:latin typeface="Segoe UI"/>
              </a:rPr>
              <a:t>ENTREGABLE 04</a:t>
            </a:r>
          </a:p>
        </p:txBody>
      </p:sp>
      <p:sp>
        <p:nvSpPr>
          <p:cNvPr id="3" name="TextBox 2"/>
          <p:cNvSpPr txBox="1"/>
          <p:nvPr/>
        </p:nvSpPr>
        <p:spPr>
          <a:xfrm>
            <a:off x="731520" y="2331720"/>
            <a:ext cx="7863840" cy="1463040"/>
          </a:xfrm>
          <a:prstGeom prst="rect">
            <a:avLst/>
          </a:prstGeom>
          <a:noFill/>
        </p:spPr>
        <p:txBody>
          <a:bodyPr wrap="square" anchor="t" lIns="0" rIns="0" tIns="0" bIns="0">
            <a:spAutoFit/>
          </a:bodyPr>
          <a:lstStyle/>
          <a:p>
            <a:pPr algn="l">
              <a:lnSpc>
                <a:spcPct val="105000"/>
              </a:lnSpc>
              <a:spcAft>
                <a:spcPts val="0"/>
              </a:spcAft>
            </a:pPr>
            <a:r>
              <a:rPr sz="3200" b="0" i="0">
                <a:solidFill>
                  <a:srgbClr val="FFFFFF"/>
                </a:solidFill>
                <a:latin typeface="Segoe UI"/>
              </a:rPr>
              <a:t>Modelado de Procesos AS-IS / TO-BE</a:t>
            </a:r>
          </a:p>
        </p:txBody>
      </p:sp>
      <p:sp>
        <p:nvSpPr>
          <p:cNvPr id="4" name="TextBox 3"/>
          <p:cNvSpPr txBox="1"/>
          <p:nvPr/>
        </p:nvSpPr>
        <p:spPr>
          <a:xfrm>
            <a:off x="731520" y="3794760"/>
            <a:ext cx="7863840" cy="731520"/>
          </a:xfrm>
          <a:prstGeom prst="rect">
            <a:avLst/>
          </a:prstGeom>
          <a:noFill/>
        </p:spPr>
        <p:txBody>
          <a:bodyPr wrap="square" anchor="t" lIns="0" rIns="0" tIns="0" bIns="0">
            <a:spAutoFit/>
          </a:bodyPr>
          <a:lstStyle/>
          <a:p>
            <a:pPr algn="l">
              <a:lnSpc>
                <a:spcPct val="100000"/>
              </a:lnSpc>
              <a:spcAft>
                <a:spcPts val="0"/>
              </a:spcAft>
            </a:pPr>
            <a:r>
              <a:rPr sz="1300" b="0" i="0">
                <a:solidFill>
                  <a:srgbClr val="9AA4DE"/>
                </a:solidFill>
                <a:latin typeface="Segoe UI"/>
              </a:rPr>
              <a:t>Proceso analizado: matrícula de un alumno a un ciclo/grupo</a:t>
            </a:r>
          </a:p>
        </p:txBody>
      </p:sp>
      <p:sp>
        <p:nvSpPr>
          <p:cNvPr id="5" name="Rectangle 4"/>
          <p:cNvSpPr/>
          <p:nvPr/>
        </p:nvSpPr>
        <p:spPr>
          <a:xfrm>
            <a:off x="731520" y="4434840"/>
            <a:ext cx="2926080" cy="12700"/>
          </a:xfrm>
          <a:prstGeom prst="rect">
            <a:avLst/>
          </a:prstGeom>
          <a:solidFill>
            <a:srgbClr val="333C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4617720"/>
            <a:ext cx="3657600" cy="320040"/>
          </a:xfrm>
          <a:prstGeom prst="rect">
            <a:avLst/>
          </a:prstGeom>
          <a:noFill/>
        </p:spPr>
        <p:txBody>
          <a:bodyPr wrap="square" anchor="t" lIns="0" rIns="0" tIns="0" bIns="0">
            <a:spAutoFit/>
          </a:bodyPr>
          <a:lstStyle/>
          <a:p>
            <a:pPr algn="l">
              <a:lnSpc>
                <a:spcPct val="100000"/>
              </a:lnSpc>
              <a:spcAft>
                <a:spcPts val="0"/>
              </a:spcAft>
            </a:pPr>
            <a:r>
              <a:rPr sz="1050" b="1" i="0">
                <a:solidFill>
                  <a:srgbClr val="8B96E0"/>
                </a:solidFill>
                <a:latin typeface="Segoe UI"/>
              </a:rPr>
              <a:t>EXPONE</a:t>
            </a:r>
          </a:p>
        </p:txBody>
      </p:sp>
      <p:sp>
        <p:nvSpPr>
          <p:cNvPr id="7" name="TextBox 6"/>
          <p:cNvSpPr txBox="1"/>
          <p:nvPr/>
        </p:nvSpPr>
        <p:spPr>
          <a:xfrm>
            <a:off x="731520" y="4892040"/>
            <a:ext cx="4572000" cy="457200"/>
          </a:xfrm>
          <a:prstGeom prst="rect">
            <a:avLst/>
          </a:prstGeom>
          <a:noFill/>
        </p:spPr>
        <p:txBody>
          <a:bodyPr wrap="square" anchor="t" lIns="0" rIns="0" tIns="0" bIns="0">
            <a:spAutoFit/>
          </a:bodyPr>
          <a:lstStyle/>
          <a:p>
            <a:pPr algn="l">
              <a:lnSpc>
                <a:spcPct val="100000"/>
              </a:lnSpc>
              <a:spcAft>
                <a:spcPts val="0"/>
              </a:spcAft>
            </a:pPr>
            <a:r>
              <a:rPr sz="1700" b="1" i="0">
                <a:solidFill>
                  <a:srgbClr val="FFFFFF"/>
                </a:solidFill>
                <a:latin typeface="Segoe UI"/>
              </a:rPr>
              <a:t>Gladys Rosaura Yana Pari</a:t>
            </a:r>
          </a:p>
        </p:txBody>
      </p:sp>
      <p:sp>
        <p:nvSpPr>
          <p:cNvPr id="8" name="TextBox 7"/>
          <p:cNvSpPr txBox="1"/>
          <p:nvPr/>
        </p:nvSpPr>
        <p:spPr>
          <a:xfrm>
            <a:off x="5669280" y="4617720"/>
            <a:ext cx="2743200" cy="320040"/>
          </a:xfrm>
          <a:prstGeom prst="rect">
            <a:avLst/>
          </a:prstGeom>
          <a:noFill/>
        </p:spPr>
        <p:txBody>
          <a:bodyPr wrap="square" anchor="t" lIns="0" rIns="0" tIns="0" bIns="0">
            <a:spAutoFit/>
          </a:bodyPr>
          <a:lstStyle/>
          <a:p>
            <a:pPr algn="l">
              <a:lnSpc>
                <a:spcPct val="100000"/>
              </a:lnSpc>
              <a:spcAft>
                <a:spcPts val="0"/>
              </a:spcAft>
            </a:pPr>
            <a:r>
              <a:rPr sz="1050" b="1" i="0">
                <a:solidFill>
                  <a:srgbClr val="8B96E0"/>
                </a:solidFill>
                <a:latin typeface="Segoe UI"/>
              </a:rPr>
              <a:t>TIEMPO ASIGNADO</a:t>
            </a:r>
          </a:p>
        </p:txBody>
      </p:sp>
      <p:sp>
        <p:nvSpPr>
          <p:cNvPr id="9" name="TextBox 8"/>
          <p:cNvSpPr txBox="1"/>
          <p:nvPr/>
        </p:nvSpPr>
        <p:spPr>
          <a:xfrm>
            <a:off x="5669280" y="4892040"/>
            <a:ext cx="2743200" cy="457200"/>
          </a:xfrm>
          <a:prstGeom prst="rect">
            <a:avLst/>
          </a:prstGeom>
          <a:noFill/>
        </p:spPr>
        <p:txBody>
          <a:bodyPr wrap="square" anchor="t" lIns="0" rIns="0" tIns="0" bIns="0">
            <a:spAutoFit/>
          </a:bodyPr>
          <a:lstStyle/>
          <a:p>
            <a:pPr algn="l">
              <a:lnSpc>
                <a:spcPct val="100000"/>
              </a:lnSpc>
              <a:spcAft>
                <a:spcPts val="0"/>
              </a:spcAft>
            </a:pPr>
            <a:r>
              <a:rPr sz="1700" b="1" i="0">
                <a:solidFill>
                  <a:srgbClr val="FFFFFF"/>
                </a:solidFill>
                <a:latin typeface="Segoe UI"/>
              </a:rPr>
              <a:t>2:35</a:t>
            </a:r>
          </a:p>
        </p:txBody>
      </p:sp>
      <p:sp>
        <p:nvSpPr>
          <p:cNvPr id="10" name="TextBox 9"/>
          <p:cNvSpPr txBox="1"/>
          <p:nvPr/>
        </p:nvSpPr>
        <p:spPr>
          <a:xfrm>
            <a:off x="9326880" y="1463040"/>
            <a:ext cx="2377440" cy="2743200"/>
          </a:xfrm>
          <a:prstGeom prst="rect">
            <a:avLst/>
          </a:prstGeom>
          <a:noFill/>
        </p:spPr>
        <p:txBody>
          <a:bodyPr wrap="square" anchor="t" lIns="0" rIns="0" tIns="0" bIns="0">
            <a:spAutoFit/>
          </a:bodyPr>
          <a:lstStyle/>
          <a:p>
            <a:pPr algn="r">
              <a:lnSpc>
                <a:spcPct val="100000"/>
              </a:lnSpc>
              <a:spcAft>
                <a:spcPts val="0"/>
              </a:spcAft>
            </a:pPr>
            <a:r>
              <a:rPr sz="14000" b="0" i="0">
                <a:solidFill>
                  <a:srgbClr val="2C3576"/>
                </a:solidFill>
                <a:latin typeface="Georgia"/>
              </a:rPr>
              <a:t>04</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6F7FB"/>
        </a:solidFill>
        <a:effectLst/>
      </p:bgPr>
    </p:bg>
    <p:spTree>
      <p:nvGrpSpPr>
        <p:cNvPr id="1" name=""/>
        <p:cNvGrpSpPr/>
        <p:nvPr/>
      </p:nvGrpSpPr>
      <p:grpSpPr/>
      <p:sp>
        <p:nvSpPr>
          <p:cNvPr id="2" name="TextBox 1"/>
          <p:cNvSpPr txBox="1"/>
          <p:nvPr/>
        </p:nvSpPr>
        <p:spPr>
          <a:xfrm>
            <a:off x="731520" y="502920"/>
            <a:ext cx="9601200" cy="320040"/>
          </a:xfrm>
          <a:prstGeom prst="rect">
            <a:avLst/>
          </a:prstGeom>
          <a:noFill/>
        </p:spPr>
        <p:txBody>
          <a:bodyPr wrap="square" anchor="t" lIns="0" rIns="0" tIns="0" bIns="0">
            <a:spAutoFit/>
          </a:bodyPr>
          <a:lstStyle/>
          <a:p>
            <a:pPr algn="l">
              <a:lnSpc>
                <a:spcPct val="100000"/>
              </a:lnSpc>
              <a:spcAft>
                <a:spcPts val="0"/>
              </a:spcAft>
            </a:pPr>
            <a:r>
              <a:rPr sz="1250" b="1" i="0">
                <a:solidFill>
                  <a:srgbClr val="3B5BDB"/>
                </a:solidFill>
                <a:latin typeface="Segoe UI"/>
              </a:rPr>
              <a:t>E4 · 4.1 PROCESO ACTUAL (AS-IS)</a:t>
            </a:r>
          </a:p>
        </p:txBody>
      </p:sp>
      <p:sp>
        <p:nvSpPr>
          <p:cNvPr id="3" name="TextBox 2"/>
          <p:cNvSpPr txBox="1"/>
          <p:nvPr/>
        </p:nvSpPr>
        <p:spPr>
          <a:xfrm>
            <a:off x="731520" y="841248"/>
            <a:ext cx="10607040" cy="914400"/>
          </a:xfrm>
          <a:prstGeom prst="rect">
            <a:avLst/>
          </a:prstGeom>
          <a:noFill/>
        </p:spPr>
        <p:txBody>
          <a:bodyPr wrap="square" anchor="t" lIns="0" rIns="0" tIns="0" bIns="0">
            <a:spAutoFit/>
          </a:bodyPr>
          <a:lstStyle/>
          <a:p>
            <a:pPr algn="l">
              <a:lnSpc>
                <a:spcPct val="102000"/>
              </a:lnSpc>
              <a:spcAft>
                <a:spcPts val="0"/>
              </a:spcAft>
            </a:pPr>
            <a:r>
              <a:rPr sz="2300" b="0" i="0">
                <a:solidFill>
                  <a:srgbClr val="1B2559"/>
                </a:solidFill>
                <a:latin typeface="Segoe UI"/>
              </a:rPr>
              <a:t>Antes: todo manual, nada conectado</a:t>
            </a:r>
          </a:p>
        </p:txBody>
      </p:sp>
      <p:sp>
        <p:nvSpPr>
          <p:cNvPr id="4" name="Rectangle 3"/>
          <p:cNvSpPr/>
          <p:nvPr/>
        </p:nvSpPr>
        <p:spPr>
          <a:xfrm>
            <a:off x="731520" y="1627632"/>
            <a:ext cx="10698480" cy="15240"/>
          </a:xfrm>
          <a:prstGeom prst="rect">
            <a:avLst/>
          </a:prstGeom>
          <a:solidFill>
            <a:srgbClr val="3B5B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6473952"/>
            <a:ext cx="7772400" cy="292608"/>
          </a:xfrm>
          <a:prstGeom prst="rect">
            <a:avLst/>
          </a:prstGeom>
          <a:noFill/>
        </p:spPr>
        <p:txBody>
          <a:bodyPr wrap="square" anchor="t" lIns="0" rIns="0" tIns="0" bIns="0">
            <a:spAutoFit/>
          </a:bodyPr>
          <a:lstStyle/>
          <a:p>
            <a:pPr algn="l">
              <a:lnSpc>
                <a:spcPct val="100000"/>
              </a:lnSpc>
              <a:spcAft>
                <a:spcPts val="0"/>
              </a:spcAft>
            </a:pPr>
            <a:r>
              <a:rPr sz="1050" b="0" i="0">
                <a:solidFill>
                  <a:srgbClr val="454F78"/>
                </a:solidFill>
                <a:latin typeface="Segoe UI"/>
              </a:rPr>
              <a:t>Expone: Gladys Rosaura Yana Pari   ·   ⏱ 45s</a:t>
            </a:r>
          </a:p>
        </p:txBody>
      </p:sp>
      <p:sp>
        <p:nvSpPr>
          <p:cNvPr id="6" name="TextBox 5"/>
          <p:cNvSpPr txBox="1"/>
          <p:nvPr/>
        </p:nvSpPr>
        <p:spPr>
          <a:xfrm>
            <a:off x="10881360" y="6473952"/>
            <a:ext cx="822960" cy="292608"/>
          </a:xfrm>
          <a:prstGeom prst="rect">
            <a:avLst/>
          </a:prstGeom>
          <a:noFill/>
        </p:spPr>
        <p:txBody>
          <a:bodyPr wrap="square" anchor="t" lIns="0" rIns="0" tIns="0" bIns="0">
            <a:spAutoFit/>
          </a:bodyPr>
          <a:lstStyle/>
          <a:p>
            <a:pPr algn="r">
              <a:lnSpc>
                <a:spcPct val="100000"/>
              </a:lnSpc>
              <a:spcAft>
                <a:spcPts val="0"/>
              </a:spcAft>
            </a:pPr>
            <a:r>
              <a:rPr sz="1050" b="0" i="0">
                <a:solidFill>
                  <a:srgbClr val="454F78"/>
                </a:solidFill>
                <a:latin typeface="Segoe UI"/>
              </a:rPr>
              <a:t>19 / 22</a:t>
            </a:r>
          </a:p>
        </p:txBody>
      </p:sp>
      <p:sp>
        <p:nvSpPr>
          <p:cNvPr id="7" name="Rounded Rectangle 6"/>
          <p:cNvSpPr/>
          <p:nvPr/>
        </p:nvSpPr>
        <p:spPr>
          <a:xfrm>
            <a:off x="731520" y="2011680"/>
            <a:ext cx="1516380" cy="868680"/>
          </a:xfrm>
          <a:prstGeom prst="roundRect">
            <a:avLst>
              <a:gd name="adj" fmla="val 4500"/>
            </a:avLst>
          </a:prstGeom>
          <a:solidFill>
            <a:srgbClr val="FFFFFF"/>
          </a:solidFill>
          <a:ln w="9525">
            <a:solidFill>
              <a:srgbClr val="D8DC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31520" y="2011680"/>
            <a:ext cx="45720" cy="868680"/>
          </a:xfrm>
          <a:prstGeom prst="rect">
            <a:avLst/>
          </a:prstGeom>
          <a:solidFill>
            <a:srgbClr val="C92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41248" y="2084832"/>
            <a:ext cx="1296924" cy="722376"/>
          </a:xfrm>
          <a:prstGeom prst="rect">
            <a:avLst/>
          </a:prstGeom>
          <a:noFill/>
        </p:spPr>
        <p:txBody>
          <a:bodyPr wrap="square" anchor="ctr" lIns="0" rIns="0" tIns="0" bIns="0">
            <a:spAutoFit/>
          </a:bodyPr>
          <a:lstStyle/>
          <a:p>
            <a:pPr algn="l">
              <a:lnSpc>
                <a:spcPct val="105000"/>
              </a:lnSpc>
              <a:spcAft>
                <a:spcPts val="0"/>
              </a:spcAft>
            </a:pPr>
            <a:r>
              <a:rPr sz="1019" b="0" i="0">
                <a:solidFill>
                  <a:srgbClr val="1B2559"/>
                </a:solidFill>
                <a:latin typeface="Segoe UI"/>
              </a:rPr>
              <a:t>Padre/postulante</a:t>
            </a:r>
          </a:p>
          <a:p>
            <a:pPr algn="l">
              <a:lnSpc>
                <a:spcPct val="105000"/>
              </a:lnSpc>
              <a:spcAft>
                <a:spcPts val="0"/>
              </a:spcAft>
            </a:pPr>
            <a:r>
              <a:rPr sz="1019" b="0" i="0">
                <a:solidFill>
                  <a:srgbClr val="1B2559"/>
                </a:solidFill>
                <a:latin typeface="Segoe UI"/>
              </a:rPr>
              <a:t>consulta</a:t>
            </a:r>
          </a:p>
        </p:txBody>
      </p:sp>
      <p:sp>
        <p:nvSpPr>
          <p:cNvPr id="10" name="TextBox 9"/>
          <p:cNvSpPr txBox="1"/>
          <p:nvPr/>
        </p:nvSpPr>
        <p:spPr>
          <a:xfrm>
            <a:off x="2247900" y="2011680"/>
            <a:ext cx="320040" cy="868680"/>
          </a:xfrm>
          <a:prstGeom prst="rect">
            <a:avLst/>
          </a:prstGeom>
          <a:noFill/>
        </p:spPr>
        <p:txBody>
          <a:bodyPr wrap="square" anchor="ctr" lIns="0" rIns="0" tIns="0" bIns="0">
            <a:spAutoFit/>
          </a:bodyPr>
          <a:lstStyle/>
          <a:p>
            <a:pPr algn="ctr">
              <a:lnSpc>
                <a:spcPct val="100000"/>
              </a:lnSpc>
              <a:spcAft>
                <a:spcPts val="0"/>
              </a:spcAft>
            </a:pPr>
            <a:r>
              <a:rPr sz="1400" b="0" i="0">
                <a:solidFill>
                  <a:srgbClr val="454F78"/>
                </a:solidFill>
                <a:latin typeface="Segoe UI"/>
              </a:rPr>
              <a:t>→</a:t>
            </a:r>
          </a:p>
        </p:txBody>
      </p:sp>
      <p:sp>
        <p:nvSpPr>
          <p:cNvPr id="11" name="Rounded Rectangle 10"/>
          <p:cNvSpPr/>
          <p:nvPr/>
        </p:nvSpPr>
        <p:spPr>
          <a:xfrm>
            <a:off x="2567940" y="2011680"/>
            <a:ext cx="1516380" cy="868680"/>
          </a:xfrm>
          <a:prstGeom prst="roundRect">
            <a:avLst>
              <a:gd name="adj" fmla="val 4500"/>
            </a:avLst>
          </a:prstGeom>
          <a:solidFill>
            <a:srgbClr val="FFFFFF"/>
          </a:solidFill>
          <a:ln w="9525">
            <a:solidFill>
              <a:srgbClr val="D8DC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567940" y="2011680"/>
            <a:ext cx="45720" cy="868680"/>
          </a:xfrm>
          <a:prstGeom prst="rect">
            <a:avLst/>
          </a:prstGeom>
          <a:solidFill>
            <a:srgbClr val="C92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677668" y="2084832"/>
            <a:ext cx="1296924" cy="722376"/>
          </a:xfrm>
          <a:prstGeom prst="rect">
            <a:avLst/>
          </a:prstGeom>
          <a:noFill/>
        </p:spPr>
        <p:txBody>
          <a:bodyPr wrap="square" anchor="ctr" lIns="0" rIns="0" tIns="0" bIns="0">
            <a:spAutoFit/>
          </a:bodyPr>
          <a:lstStyle/>
          <a:p>
            <a:pPr algn="l">
              <a:lnSpc>
                <a:spcPct val="105000"/>
              </a:lnSpc>
              <a:spcAft>
                <a:spcPts val="0"/>
              </a:spcAft>
            </a:pPr>
            <a:r>
              <a:rPr sz="1019" b="0" i="0">
                <a:solidFill>
                  <a:srgbClr val="1B2559"/>
                </a:solidFill>
                <a:latin typeface="Segoe UI"/>
              </a:rPr>
              <a:t>Secretaría anota en</a:t>
            </a:r>
          </a:p>
          <a:p>
            <a:pPr algn="l">
              <a:lnSpc>
                <a:spcPct val="105000"/>
              </a:lnSpc>
              <a:spcAft>
                <a:spcPts val="0"/>
              </a:spcAft>
            </a:pPr>
            <a:r>
              <a:rPr sz="1019" b="0" i="0">
                <a:solidFill>
                  <a:srgbClr val="1B2559"/>
                </a:solidFill>
                <a:latin typeface="Segoe UI"/>
              </a:rPr>
              <a:t>cuaderno/Excel</a:t>
            </a:r>
          </a:p>
        </p:txBody>
      </p:sp>
      <p:sp>
        <p:nvSpPr>
          <p:cNvPr id="14" name="TextBox 13"/>
          <p:cNvSpPr txBox="1"/>
          <p:nvPr/>
        </p:nvSpPr>
        <p:spPr>
          <a:xfrm>
            <a:off x="4084320" y="2011680"/>
            <a:ext cx="320040" cy="868680"/>
          </a:xfrm>
          <a:prstGeom prst="rect">
            <a:avLst/>
          </a:prstGeom>
          <a:noFill/>
        </p:spPr>
        <p:txBody>
          <a:bodyPr wrap="square" anchor="ctr" lIns="0" rIns="0" tIns="0" bIns="0">
            <a:spAutoFit/>
          </a:bodyPr>
          <a:lstStyle/>
          <a:p>
            <a:pPr algn="ctr">
              <a:lnSpc>
                <a:spcPct val="100000"/>
              </a:lnSpc>
              <a:spcAft>
                <a:spcPts val="0"/>
              </a:spcAft>
            </a:pPr>
            <a:r>
              <a:rPr sz="1400" b="0" i="0">
                <a:solidFill>
                  <a:srgbClr val="454F78"/>
                </a:solidFill>
                <a:latin typeface="Segoe UI"/>
              </a:rPr>
              <a:t>→</a:t>
            </a:r>
          </a:p>
        </p:txBody>
      </p:sp>
      <p:sp>
        <p:nvSpPr>
          <p:cNvPr id="15" name="Rounded Rectangle 14"/>
          <p:cNvSpPr/>
          <p:nvPr/>
        </p:nvSpPr>
        <p:spPr>
          <a:xfrm>
            <a:off x="4404360" y="2011680"/>
            <a:ext cx="1516380" cy="868680"/>
          </a:xfrm>
          <a:prstGeom prst="roundRect">
            <a:avLst>
              <a:gd name="adj" fmla="val 4500"/>
            </a:avLst>
          </a:prstGeom>
          <a:solidFill>
            <a:srgbClr val="FFFFFF"/>
          </a:solidFill>
          <a:ln w="9525">
            <a:solidFill>
              <a:srgbClr val="D8DC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404360" y="2011680"/>
            <a:ext cx="45720" cy="868680"/>
          </a:xfrm>
          <a:prstGeom prst="rect">
            <a:avLst/>
          </a:prstGeom>
          <a:solidFill>
            <a:srgbClr val="C92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14088" y="2084832"/>
            <a:ext cx="1296924" cy="722376"/>
          </a:xfrm>
          <a:prstGeom prst="rect">
            <a:avLst/>
          </a:prstGeom>
          <a:noFill/>
        </p:spPr>
        <p:txBody>
          <a:bodyPr wrap="square" anchor="ctr" lIns="0" rIns="0" tIns="0" bIns="0">
            <a:spAutoFit/>
          </a:bodyPr>
          <a:lstStyle/>
          <a:p>
            <a:pPr algn="l">
              <a:lnSpc>
                <a:spcPct val="105000"/>
              </a:lnSpc>
              <a:spcAft>
                <a:spcPts val="0"/>
              </a:spcAft>
            </a:pPr>
            <a:r>
              <a:rPr sz="1019" b="0" i="0">
                <a:solidFill>
                  <a:srgbClr val="1B2559"/>
                </a:solidFill>
                <a:latin typeface="Segoe UI"/>
              </a:rPr>
              <a:t>Verificación manual</a:t>
            </a:r>
          </a:p>
          <a:p>
            <a:pPr algn="l">
              <a:lnSpc>
                <a:spcPct val="105000"/>
              </a:lnSpc>
              <a:spcAft>
                <a:spcPts val="0"/>
              </a:spcAft>
            </a:pPr>
            <a:r>
              <a:rPr sz="1019" b="0" i="0">
                <a:solidFill>
                  <a:srgbClr val="1B2559"/>
                </a:solidFill>
                <a:latin typeface="Segoe UI"/>
              </a:rPr>
              <a:t>de cupo</a:t>
            </a:r>
          </a:p>
        </p:txBody>
      </p:sp>
      <p:sp>
        <p:nvSpPr>
          <p:cNvPr id="18" name="TextBox 17"/>
          <p:cNvSpPr txBox="1"/>
          <p:nvPr/>
        </p:nvSpPr>
        <p:spPr>
          <a:xfrm>
            <a:off x="5920740" y="2011680"/>
            <a:ext cx="320040" cy="868680"/>
          </a:xfrm>
          <a:prstGeom prst="rect">
            <a:avLst/>
          </a:prstGeom>
          <a:noFill/>
        </p:spPr>
        <p:txBody>
          <a:bodyPr wrap="square" anchor="ctr" lIns="0" rIns="0" tIns="0" bIns="0">
            <a:spAutoFit/>
          </a:bodyPr>
          <a:lstStyle/>
          <a:p>
            <a:pPr algn="ctr">
              <a:lnSpc>
                <a:spcPct val="100000"/>
              </a:lnSpc>
              <a:spcAft>
                <a:spcPts val="0"/>
              </a:spcAft>
            </a:pPr>
            <a:r>
              <a:rPr sz="1400" b="0" i="0">
                <a:solidFill>
                  <a:srgbClr val="454F78"/>
                </a:solidFill>
                <a:latin typeface="Segoe UI"/>
              </a:rPr>
              <a:t>→</a:t>
            </a:r>
          </a:p>
        </p:txBody>
      </p:sp>
      <p:sp>
        <p:nvSpPr>
          <p:cNvPr id="19" name="Rounded Rectangle 18"/>
          <p:cNvSpPr/>
          <p:nvPr/>
        </p:nvSpPr>
        <p:spPr>
          <a:xfrm>
            <a:off x="6240780" y="2011680"/>
            <a:ext cx="1516380" cy="868680"/>
          </a:xfrm>
          <a:prstGeom prst="roundRect">
            <a:avLst>
              <a:gd name="adj" fmla="val 4500"/>
            </a:avLst>
          </a:prstGeom>
          <a:solidFill>
            <a:srgbClr val="FFFFFF"/>
          </a:solidFill>
          <a:ln w="9525">
            <a:solidFill>
              <a:srgbClr val="D8DC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40780" y="2011680"/>
            <a:ext cx="45720" cy="868680"/>
          </a:xfrm>
          <a:prstGeom prst="rect">
            <a:avLst/>
          </a:prstGeom>
          <a:solidFill>
            <a:srgbClr val="C92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350508" y="2084832"/>
            <a:ext cx="1296924" cy="722376"/>
          </a:xfrm>
          <a:prstGeom prst="rect">
            <a:avLst/>
          </a:prstGeom>
          <a:noFill/>
        </p:spPr>
        <p:txBody>
          <a:bodyPr wrap="square" anchor="ctr" lIns="0" rIns="0" tIns="0" bIns="0">
            <a:spAutoFit/>
          </a:bodyPr>
          <a:lstStyle/>
          <a:p>
            <a:pPr algn="l">
              <a:lnSpc>
                <a:spcPct val="105000"/>
              </a:lnSpc>
              <a:spcAft>
                <a:spcPts val="0"/>
              </a:spcAft>
            </a:pPr>
            <a:r>
              <a:rPr sz="1019" b="0" i="0">
                <a:solidFill>
                  <a:srgbClr val="1B2559"/>
                </a:solidFill>
                <a:latin typeface="Segoe UI"/>
              </a:rPr>
              <a:t>Pago en efectivo +</a:t>
            </a:r>
          </a:p>
          <a:p>
            <a:pPr algn="l">
              <a:lnSpc>
                <a:spcPct val="105000"/>
              </a:lnSpc>
              <a:spcAft>
                <a:spcPts val="0"/>
              </a:spcAft>
            </a:pPr>
            <a:r>
              <a:rPr sz="1019" b="0" i="0">
                <a:solidFill>
                  <a:srgbClr val="1B2559"/>
                </a:solidFill>
                <a:latin typeface="Segoe UI"/>
              </a:rPr>
              <a:t>recibo físico</a:t>
            </a:r>
          </a:p>
        </p:txBody>
      </p:sp>
      <p:sp>
        <p:nvSpPr>
          <p:cNvPr id="22" name="TextBox 21"/>
          <p:cNvSpPr txBox="1"/>
          <p:nvPr/>
        </p:nvSpPr>
        <p:spPr>
          <a:xfrm>
            <a:off x="7757160" y="2011680"/>
            <a:ext cx="320040" cy="868680"/>
          </a:xfrm>
          <a:prstGeom prst="rect">
            <a:avLst/>
          </a:prstGeom>
          <a:noFill/>
        </p:spPr>
        <p:txBody>
          <a:bodyPr wrap="square" anchor="ctr" lIns="0" rIns="0" tIns="0" bIns="0">
            <a:spAutoFit/>
          </a:bodyPr>
          <a:lstStyle/>
          <a:p>
            <a:pPr algn="ctr">
              <a:lnSpc>
                <a:spcPct val="100000"/>
              </a:lnSpc>
              <a:spcAft>
                <a:spcPts val="0"/>
              </a:spcAft>
            </a:pPr>
            <a:r>
              <a:rPr sz="1400" b="0" i="0">
                <a:solidFill>
                  <a:srgbClr val="454F78"/>
                </a:solidFill>
                <a:latin typeface="Segoe UI"/>
              </a:rPr>
              <a:t>→</a:t>
            </a:r>
          </a:p>
        </p:txBody>
      </p:sp>
      <p:sp>
        <p:nvSpPr>
          <p:cNvPr id="23" name="Rounded Rectangle 22"/>
          <p:cNvSpPr/>
          <p:nvPr/>
        </p:nvSpPr>
        <p:spPr>
          <a:xfrm>
            <a:off x="8077200" y="2011680"/>
            <a:ext cx="1516380" cy="868680"/>
          </a:xfrm>
          <a:prstGeom prst="roundRect">
            <a:avLst>
              <a:gd name="adj" fmla="val 4500"/>
            </a:avLst>
          </a:prstGeom>
          <a:solidFill>
            <a:srgbClr val="FFFFFF"/>
          </a:solidFill>
          <a:ln w="9525">
            <a:solidFill>
              <a:srgbClr val="D8DC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077200" y="2011680"/>
            <a:ext cx="45720" cy="868680"/>
          </a:xfrm>
          <a:prstGeom prst="rect">
            <a:avLst/>
          </a:prstGeom>
          <a:solidFill>
            <a:srgbClr val="C92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186928" y="2084832"/>
            <a:ext cx="1296924" cy="722376"/>
          </a:xfrm>
          <a:prstGeom prst="rect">
            <a:avLst/>
          </a:prstGeom>
          <a:noFill/>
        </p:spPr>
        <p:txBody>
          <a:bodyPr wrap="square" anchor="ctr" lIns="0" rIns="0" tIns="0" bIns="0">
            <a:spAutoFit/>
          </a:bodyPr>
          <a:lstStyle/>
          <a:p>
            <a:pPr algn="l">
              <a:lnSpc>
                <a:spcPct val="105000"/>
              </a:lnSpc>
              <a:spcAft>
                <a:spcPts val="0"/>
              </a:spcAft>
            </a:pPr>
            <a:r>
              <a:rPr sz="1019" b="0" i="0">
                <a:solidFill>
                  <a:srgbClr val="1B2559"/>
                </a:solidFill>
                <a:latin typeface="Segoe UI"/>
              </a:rPr>
              <a:t>Dirección aprueba</a:t>
            </a:r>
          </a:p>
          <a:p>
            <a:pPr algn="l">
              <a:lnSpc>
                <a:spcPct val="105000"/>
              </a:lnSpc>
              <a:spcAft>
                <a:spcPts val="0"/>
              </a:spcAft>
            </a:pPr>
            <a:r>
              <a:rPr sz="1019" b="0" i="0">
                <a:solidFill>
                  <a:srgbClr val="1B2559"/>
                </a:solidFill>
                <a:latin typeface="Segoe UI"/>
              </a:rPr>
              <a:t>presencialmente</a:t>
            </a:r>
          </a:p>
        </p:txBody>
      </p:sp>
      <p:sp>
        <p:nvSpPr>
          <p:cNvPr id="26" name="TextBox 25"/>
          <p:cNvSpPr txBox="1"/>
          <p:nvPr/>
        </p:nvSpPr>
        <p:spPr>
          <a:xfrm>
            <a:off x="9593580" y="2011680"/>
            <a:ext cx="320040" cy="868680"/>
          </a:xfrm>
          <a:prstGeom prst="rect">
            <a:avLst/>
          </a:prstGeom>
          <a:noFill/>
        </p:spPr>
        <p:txBody>
          <a:bodyPr wrap="square" anchor="ctr" lIns="0" rIns="0" tIns="0" bIns="0">
            <a:spAutoFit/>
          </a:bodyPr>
          <a:lstStyle/>
          <a:p>
            <a:pPr algn="ctr">
              <a:lnSpc>
                <a:spcPct val="100000"/>
              </a:lnSpc>
              <a:spcAft>
                <a:spcPts val="0"/>
              </a:spcAft>
            </a:pPr>
            <a:r>
              <a:rPr sz="1400" b="0" i="0">
                <a:solidFill>
                  <a:srgbClr val="454F78"/>
                </a:solidFill>
                <a:latin typeface="Segoe UI"/>
              </a:rPr>
              <a:t>→</a:t>
            </a:r>
          </a:p>
        </p:txBody>
      </p:sp>
      <p:sp>
        <p:nvSpPr>
          <p:cNvPr id="27" name="Rounded Rectangle 26"/>
          <p:cNvSpPr/>
          <p:nvPr/>
        </p:nvSpPr>
        <p:spPr>
          <a:xfrm>
            <a:off x="9913620" y="2011680"/>
            <a:ext cx="1516380" cy="868680"/>
          </a:xfrm>
          <a:prstGeom prst="roundRect">
            <a:avLst>
              <a:gd name="adj" fmla="val 4500"/>
            </a:avLst>
          </a:prstGeom>
          <a:solidFill>
            <a:srgbClr val="FFFFFF"/>
          </a:solidFill>
          <a:ln w="9525">
            <a:solidFill>
              <a:srgbClr val="D8DC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9913620" y="2011680"/>
            <a:ext cx="45720" cy="868680"/>
          </a:xfrm>
          <a:prstGeom prst="rect">
            <a:avLst/>
          </a:prstGeom>
          <a:solidFill>
            <a:srgbClr val="C92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023348" y="2084832"/>
            <a:ext cx="1296924" cy="722376"/>
          </a:xfrm>
          <a:prstGeom prst="rect">
            <a:avLst/>
          </a:prstGeom>
          <a:noFill/>
        </p:spPr>
        <p:txBody>
          <a:bodyPr wrap="square" anchor="ctr" lIns="0" rIns="0" tIns="0" bIns="0">
            <a:spAutoFit/>
          </a:bodyPr>
          <a:lstStyle/>
          <a:p>
            <a:pPr algn="l">
              <a:lnSpc>
                <a:spcPct val="105000"/>
              </a:lnSpc>
              <a:spcAft>
                <a:spcPts val="0"/>
              </a:spcAft>
            </a:pPr>
            <a:r>
              <a:rPr sz="1019" b="0" i="0">
                <a:solidFill>
                  <a:srgbClr val="1B2559"/>
                </a:solidFill>
                <a:latin typeface="Segoe UI"/>
              </a:rPr>
              <a:t>Matriculado sin</a:t>
            </a:r>
          </a:p>
          <a:p>
            <a:pPr algn="l">
              <a:lnSpc>
                <a:spcPct val="105000"/>
              </a:lnSpc>
              <a:spcAft>
                <a:spcPts val="0"/>
              </a:spcAft>
            </a:pPr>
            <a:r>
              <a:rPr sz="1019" b="0" i="0">
                <a:solidFill>
                  <a:srgbClr val="1B2559"/>
                </a:solidFill>
                <a:latin typeface="Segoe UI"/>
              </a:rPr>
              <a:t>confirmación digital</a:t>
            </a:r>
          </a:p>
        </p:txBody>
      </p:sp>
      <p:sp>
        <p:nvSpPr>
          <p:cNvPr id="30" name="Rounded Rectangle 29"/>
          <p:cNvSpPr/>
          <p:nvPr/>
        </p:nvSpPr>
        <p:spPr>
          <a:xfrm>
            <a:off x="731520" y="3383280"/>
            <a:ext cx="10698480" cy="1737360"/>
          </a:xfrm>
          <a:prstGeom prst="roundRect">
            <a:avLst>
              <a:gd name="adj" fmla="val 4500"/>
            </a:avLst>
          </a:prstGeom>
          <a:solidFill>
            <a:srgbClr val="FFFFFF"/>
          </a:solidFill>
          <a:ln w="9525">
            <a:solidFill>
              <a:srgbClr val="D8DC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31520" y="3383280"/>
            <a:ext cx="54864" cy="1737360"/>
          </a:xfrm>
          <a:prstGeom prst="rect">
            <a:avLst/>
          </a:prstGeom>
          <a:solidFill>
            <a:srgbClr val="C92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3493008"/>
            <a:ext cx="10369296" cy="274320"/>
          </a:xfrm>
          <a:prstGeom prst="rect">
            <a:avLst/>
          </a:prstGeom>
          <a:noFill/>
        </p:spPr>
        <p:txBody>
          <a:bodyPr wrap="square" anchor="t" lIns="0" rIns="0" tIns="0" bIns="0">
            <a:spAutoFit/>
          </a:bodyPr>
          <a:lstStyle/>
          <a:p>
            <a:pPr algn="l">
              <a:lnSpc>
                <a:spcPct val="100000"/>
              </a:lnSpc>
              <a:spcAft>
                <a:spcPts val="0"/>
              </a:spcAft>
            </a:pPr>
            <a:r>
              <a:rPr sz="1000" b="1" i="0">
                <a:solidFill>
                  <a:srgbClr val="454F78"/>
                </a:solidFill>
                <a:latin typeface="Segoe UI"/>
              </a:rPr>
              <a:t>PROBLEMAS DETECTADOS</a:t>
            </a:r>
          </a:p>
        </p:txBody>
      </p:sp>
      <p:sp>
        <p:nvSpPr>
          <p:cNvPr id="33" name="TextBox 32"/>
          <p:cNvSpPr txBox="1"/>
          <p:nvPr/>
        </p:nvSpPr>
        <p:spPr>
          <a:xfrm>
            <a:off x="896112" y="3767328"/>
            <a:ext cx="10369296" cy="1234440"/>
          </a:xfrm>
          <a:prstGeom prst="rect">
            <a:avLst/>
          </a:prstGeom>
          <a:noFill/>
        </p:spPr>
        <p:txBody>
          <a:bodyPr wrap="square" anchor="t" lIns="0" rIns="0" tIns="0" bIns="0">
            <a:spAutoFit/>
          </a:bodyPr>
          <a:lstStyle/>
          <a:p>
            <a:pPr algn="l">
              <a:lnSpc>
                <a:spcPct val="112000"/>
              </a:lnSpc>
              <a:spcAft>
                <a:spcPts val="0"/>
              </a:spcAft>
            </a:pPr>
            <a:r>
              <a:rPr sz="1350" b="0" i="0">
                <a:solidFill>
                  <a:srgbClr val="1B2559"/>
                </a:solidFill>
                <a:latin typeface="Segoe UI"/>
              </a:rPr>
              <a:t>Duplicidad de registros, riesgo real de sobre-cupo (dos registros manuales pueden desincronizarse), pago desconectado del estado de matrícula, nula trazabilidad para auditoría.</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6F7FB"/>
        </a:solidFill>
        <a:effectLst/>
      </p:bgPr>
    </p:bg>
    <p:spTree>
      <p:nvGrpSpPr>
        <p:cNvPr id="1" name=""/>
        <p:cNvGrpSpPr/>
        <p:nvPr/>
      </p:nvGrpSpPr>
      <p:grpSpPr/>
      <p:sp>
        <p:nvSpPr>
          <p:cNvPr id="2" name="TextBox 1"/>
          <p:cNvSpPr txBox="1"/>
          <p:nvPr/>
        </p:nvSpPr>
        <p:spPr>
          <a:xfrm>
            <a:off x="731520" y="502920"/>
            <a:ext cx="9601200" cy="320040"/>
          </a:xfrm>
          <a:prstGeom prst="rect">
            <a:avLst/>
          </a:prstGeom>
          <a:noFill/>
        </p:spPr>
        <p:txBody>
          <a:bodyPr wrap="square" anchor="t" lIns="0" rIns="0" tIns="0" bIns="0">
            <a:spAutoFit/>
          </a:bodyPr>
          <a:lstStyle/>
          <a:p>
            <a:pPr algn="l">
              <a:lnSpc>
                <a:spcPct val="100000"/>
              </a:lnSpc>
              <a:spcAft>
                <a:spcPts val="0"/>
              </a:spcAft>
            </a:pPr>
            <a:r>
              <a:rPr sz="1250" b="1" i="0">
                <a:solidFill>
                  <a:srgbClr val="3B5BDB"/>
                </a:solidFill>
                <a:latin typeface="Segoe UI"/>
              </a:rPr>
              <a:t>E4 · 4.2 PROCESO PROPUESTO (TO-BE)</a:t>
            </a:r>
          </a:p>
        </p:txBody>
      </p:sp>
      <p:sp>
        <p:nvSpPr>
          <p:cNvPr id="3" name="TextBox 2"/>
          <p:cNvSpPr txBox="1"/>
          <p:nvPr/>
        </p:nvSpPr>
        <p:spPr>
          <a:xfrm>
            <a:off x="731520" y="841248"/>
            <a:ext cx="10607040" cy="914400"/>
          </a:xfrm>
          <a:prstGeom prst="rect">
            <a:avLst/>
          </a:prstGeom>
          <a:noFill/>
        </p:spPr>
        <p:txBody>
          <a:bodyPr wrap="square" anchor="t" lIns="0" rIns="0" tIns="0" bIns="0">
            <a:spAutoFit/>
          </a:bodyPr>
          <a:lstStyle/>
          <a:p>
            <a:pPr algn="l">
              <a:lnSpc>
                <a:spcPct val="102000"/>
              </a:lnSpc>
              <a:spcAft>
                <a:spcPts val="0"/>
              </a:spcAft>
            </a:pPr>
            <a:r>
              <a:rPr sz="2300" b="0" i="0">
                <a:solidFill>
                  <a:srgbClr val="1B2559"/>
                </a:solidFill>
                <a:latin typeface="Segoe UI"/>
              </a:rPr>
              <a:t>Ahora: validación automática de principio a fin</a:t>
            </a:r>
          </a:p>
        </p:txBody>
      </p:sp>
      <p:sp>
        <p:nvSpPr>
          <p:cNvPr id="4" name="Rectangle 3"/>
          <p:cNvSpPr/>
          <p:nvPr/>
        </p:nvSpPr>
        <p:spPr>
          <a:xfrm>
            <a:off x="731520" y="1627632"/>
            <a:ext cx="10698480" cy="15240"/>
          </a:xfrm>
          <a:prstGeom prst="rect">
            <a:avLst/>
          </a:prstGeom>
          <a:solidFill>
            <a:srgbClr val="3B5B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6473952"/>
            <a:ext cx="7772400" cy="292608"/>
          </a:xfrm>
          <a:prstGeom prst="rect">
            <a:avLst/>
          </a:prstGeom>
          <a:noFill/>
        </p:spPr>
        <p:txBody>
          <a:bodyPr wrap="square" anchor="t" lIns="0" rIns="0" tIns="0" bIns="0">
            <a:spAutoFit/>
          </a:bodyPr>
          <a:lstStyle/>
          <a:p>
            <a:pPr algn="l">
              <a:lnSpc>
                <a:spcPct val="100000"/>
              </a:lnSpc>
              <a:spcAft>
                <a:spcPts val="0"/>
              </a:spcAft>
            </a:pPr>
            <a:r>
              <a:rPr sz="1050" b="0" i="0">
                <a:solidFill>
                  <a:srgbClr val="454F78"/>
                </a:solidFill>
                <a:latin typeface="Segoe UI"/>
              </a:rPr>
              <a:t>Expone: Gladys Rosaura Yana Pari   ·   ⏱ 50s</a:t>
            </a:r>
          </a:p>
        </p:txBody>
      </p:sp>
      <p:sp>
        <p:nvSpPr>
          <p:cNvPr id="6" name="TextBox 5"/>
          <p:cNvSpPr txBox="1"/>
          <p:nvPr/>
        </p:nvSpPr>
        <p:spPr>
          <a:xfrm>
            <a:off x="10881360" y="6473952"/>
            <a:ext cx="822960" cy="292608"/>
          </a:xfrm>
          <a:prstGeom prst="rect">
            <a:avLst/>
          </a:prstGeom>
          <a:noFill/>
        </p:spPr>
        <p:txBody>
          <a:bodyPr wrap="square" anchor="t" lIns="0" rIns="0" tIns="0" bIns="0">
            <a:spAutoFit/>
          </a:bodyPr>
          <a:lstStyle/>
          <a:p>
            <a:pPr algn="r">
              <a:lnSpc>
                <a:spcPct val="100000"/>
              </a:lnSpc>
              <a:spcAft>
                <a:spcPts val="0"/>
              </a:spcAft>
            </a:pPr>
            <a:r>
              <a:rPr sz="1050" b="0" i="0">
                <a:solidFill>
                  <a:srgbClr val="454F78"/>
                </a:solidFill>
                <a:latin typeface="Segoe UI"/>
              </a:rPr>
              <a:t>20 / 22</a:t>
            </a:r>
          </a:p>
        </p:txBody>
      </p:sp>
      <p:sp>
        <p:nvSpPr>
          <p:cNvPr id="7" name="Rounded Rectangle 6"/>
          <p:cNvSpPr/>
          <p:nvPr/>
        </p:nvSpPr>
        <p:spPr>
          <a:xfrm>
            <a:off x="731520" y="2011680"/>
            <a:ext cx="1516380" cy="868680"/>
          </a:xfrm>
          <a:prstGeom prst="roundRect">
            <a:avLst>
              <a:gd name="adj" fmla="val 4500"/>
            </a:avLst>
          </a:prstGeom>
          <a:solidFill>
            <a:srgbClr val="FFFFFF"/>
          </a:solidFill>
          <a:ln w="9525">
            <a:solidFill>
              <a:srgbClr val="D8DC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31520" y="2011680"/>
            <a:ext cx="45720" cy="868680"/>
          </a:xfrm>
          <a:prstGeom prst="rect">
            <a:avLst/>
          </a:prstGeom>
          <a:solidFill>
            <a:srgbClr val="2F9E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41248" y="2084832"/>
            <a:ext cx="1296924" cy="722376"/>
          </a:xfrm>
          <a:prstGeom prst="rect">
            <a:avLst/>
          </a:prstGeom>
          <a:noFill/>
        </p:spPr>
        <p:txBody>
          <a:bodyPr wrap="square" anchor="ctr" lIns="0" rIns="0" tIns="0" bIns="0">
            <a:spAutoFit/>
          </a:bodyPr>
          <a:lstStyle/>
          <a:p>
            <a:pPr algn="l">
              <a:lnSpc>
                <a:spcPct val="105000"/>
              </a:lnSpc>
              <a:spcAft>
                <a:spcPts val="0"/>
              </a:spcAft>
            </a:pPr>
            <a:r>
              <a:rPr sz="1019" b="0" i="0">
                <a:solidFill>
                  <a:srgbClr val="1B2559"/>
                </a:solidFill>
                <a:latin typeface="Segoe UI"/>
              </a:rPr>
              <a:t>Pre-matrícula</a:t>
            </a:r>
          </a:p>
          <a:p>
            <a:pPr algn="l">
              <a:lnSpc>
                <a:spcPct val="105000"/>
              </a:lnSpc>
              <a:spcAft>
                <a:spcPts val="0"/>
              </a:spcAft>
            </a:pPr>
            <a:r>
              <a:rPr sz="1019" b="0" i="0">
                <a:solidFill>
                  <a:srgbClr val="1B2559"/>
                </a:solidFill>
                <a:latin typeface="Segoe UI"/>
              </a:rPr>
              <a:t>pública en línea</a:t>
            </a:r>
          </a:p>
        </p:txBody>
      </p:sp>
      <p:sp>
        <p:nvSpPr>
          <p:cNvPr id="10" name="TextBox 9"/>
          <p:cNvSpPr txBox="1"/>
          <p:nvPr/>
        </p:nvSpPr>
        <p:spPr>
          <a:xfrm>
            <a:off x="2247900" y="2011680"/>
            <a:ext cx="320040" cy="868680"/>
          </a:xfrm>
          <a:prstGeom prst="rect">
            <a:avLst/>
          </a:prstGeom>
          <a:noFill/>
        </p:spPr>
        <p:txBody>
          <a:bodyPr wrap="square" anchor="ctr" lIns="0" rIns="0" tIns="0" bIns="0">
            <a:spAutoFit/>
          </a:bodyPr>
          <a:lstStyle/>
          <a:p>
            <a:pPr algn="ctr">
              <a:lnSpc>
                <a:spcPct val="100000"/>
              </a:lnSpc>
              <a:spcAft>
                <a:spcPts val="0"/>
              </a:spcAft>
            </a:pPr>
            <a:r>
              <a:rPr sz="1400" b="0" i="0">
                <a:solidFill>
                  <a:srgbClr val="454F78"/>
                </a:solidFill>
                <a:latin typeface="Segoe UI"/>
              </a:rPr>
              <a:t>→</a:t>
            </a:r>
          </a:p>
        </p:txBody>
      </p:sp>
      <p:sp>
        <p:nvSpPr>
          <p:cNvPr id="11" name="Rounded Rectangle 10"/>
          <p:cNvSpPr/>
          <p:nvPr/>
        </p:nvSpPr>
        <p:spPr>
          <a:xfrm>
            <a:off x="2567940" y="2011680"/>
            <a:ext cx="1516380" cy="868680"/>
          </a:xfrm>
          <a:prstGeom prst="roundRect">
            <a:avLst>
              <a:gd name="adj" fmla="val 4500"/>
            </a:avLst>
          </a:prstGeom>
          <a:solidFill>
            <a:srgbClr val="FFFFFF"/>
          </a:solidFill>
          <a:ln w="9525">
            <a:solidFill>
              <a:srgbClr val="D8DC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567940" y="2011680"/>
            <a:ext cx="45720" cy="868680"/>
          </a:xfrm>
          <a:prstGeom prst="rect">
            <a:avLst/>
          </a:prstGeom>
          <a:solidFill>
            <a:srgbClr val="2F9E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677668" y="2084832"/>
            <a:ext cx="1296924" cy="722376"/>
          </a:xfrm>
          <a:prstGeom prst="rect">
            <a:avLst/>
          </a:prstGeom>
          <a:noFill/>
        </p:spPr>
        <p:txBody>
          <a:bodyPr wrap="square" anchor="ctr" lIns="0" rIns="0" tIns="0" bIns="0">
            <a:spAutoFit/>
          </a:bodyPr>
          <a:lstStyle/>
          <a:p>
            <a:pPr algn="l">
              <a:lnSpc>
                <a:spcPct val="105000"/>
              </a:lnSpc>
              <a:spcAft>
                <a:spcPts val="0"/>
              </a:spcAft>
            </a:pPr>
            <a:r>
              <a:rPr sz="1019" b="0" i="0">
                <a:solidFill>
                  <a:srgbClr val="1B2559"/>
                </a:solidFill>
                <a:latin typeface="Segoe UI"/>
              </a:rPr>
              <a:t>Validación automática:</a:t>
            </a:r>
          </a:p>
          <a:p>
            <a:pPr algn="l">
              <a:lnSpc>
                <a:spcPct val="105000"/>
              </a:lnSpc>
              <a:spcAft>
                <a:spcPts val="0"/>
              </a:spcAft>
            </a:pPr>
            <a:r>
              <a:rPr sz="1019" b="0" i="0">
                <a:solidFill>
                  <a:srgbClr val="1B2559"/>
                </a:solidFill>
                <a:latin typeface="Segoe UI"/>
              </a:rPr>
              <a:t>ciclo abierto + cupo</a:t>
            </a:r>
          </a:p>
        </p:txBody>
      </p:sp>
      <p:sp>
        <p:nvSpPr>
          <p:cNvPr id="14" name="TextBox 13"/>
          <p:cNvSpPr txBox="1"/>
          <p:nvPr/>
        </p:nvSpPr>
        <p:spPr>
          <a:xfrm>
            <a:off x="4084320" y="2011680"/>
            <a:ext cx="320040" cy="868680"/>
          </a:xfrm>
          <a:prstGeom prst="rect">
            <a:avLst/>
          </a:prstGeom>
          <a:noFill/>
        </p:spPr>
        <p:txBody>
          <a:bodyPr wrap="square" anchor="ctr" lIns="0" rIns="0" tIns="0" bIns="0">
            <a:spAutoFit/>
          </a:bodyPr>
          <a:lstStyle/>
          <a:p>
            <a:pPr algn="ctr">
              <a:lnSpc>
                <a:spcPct val="100000"/>
              </a:lnSpc>
              <a:spcAft>
                <a:spcPts val="0"/>
              </a:spcAft>
            </a:pPr>
            <a:r>
              <a:rPr sz="1400" b="0" i="0">
                <a:solidFill>
                  <a:srgbClr val="454F78"/>
                </a:solidFill>
                <a:latin typeface="Segoe UI"/>
              </a:rPr>
              <a:t>→</a:t>
            </a:r>
          </a:p>
        </p:txBody>
      </p:sp>
      <p:sp>
        <p:nvSpPr>
          <p:cNvPr id="15" name="Rounded Rectangle 14"/>
          <p:cNvSpPr/>
          <p:nvPr/>
        </p:nvSpPr>
        <p:spPr>
          <a:xfrm>
            <a:off x="4404360" y="2011680"/>
            <a:ext cx="1516380" cy="868680"/>
          </a:xfrm>
          <a:prstGeom prst="roundRect">
            <a:avLst>
              <a:gd name="adj" fmla="val 4500"/>
            </a:avLst>
          </a:prstGeom>
          <a:solidFill>
            <a:srgbClr val="FFFFFF"/>
          </a:solidFill>
          <a:ln w="9525">
            <a:solidFill>
              <a:srgbClr val="D8DC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404360" y="2011680"/>
            <a:ext cx="45720" cy="868680"/>
          </a:xfrm>
          <a:prstGeom prst="rect">
            <a:avLst/>
          </a:prstGeom>
          <a:solidFill>
            <a:srgbClr val="2F9E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14088" y="2084832"/>
            <a:ext cx="1296924" cy="722376"/>
          </a:xfrm>
          <a:prstGeom prst="rect">
            <a:avLst/>
          </a:prstGeom>
          <a:noFill/>
        </p:spPr>
        <p:txBody>
          <a:bodyPr wrap="square" anchor="ctr" lIns="0" rIns="0" tIns="0" bIns="0">
            <a:spAutoFit/>
          </a:bodyPr>
          <a:lstStyle/>
          <a:p>
            <a:pPr algn="l">
              <a:lnSpc>
                <a:spcPct val="105000"/>
              </a:lnSpc>
              <a:spcAft>
                <a:spcPts val="0"/>
              </a:spcAft>
            </a:pPr>
            <a:r>
              <a:rPr sz="1019" b="0" i="0">
                <a:solidFill>
                  <a:srgbClr val="1B2559"/>
                </a:solidFill>
                <a:latin typeface="Segoe UI"/>
              </a:rPr>
              <a:t>Registro</a:t>
            </a:r>
          </a:p>
          <a:p>
            <a:pPr algn="l">
              <a:lnSpc>
                <a:spcPct val="105000"/>
              </a:lnSpc>
              <a:spcAft>
                <a:spcPts val="0"/>
              </a:spcAft>
            </a:pPr>
            <a:r>
              <a:rPr sz="1019" b="0" i="0">
                <a:solidFill>
                  <a:srgbClr val="1B2559"/>
                </a:solidFill>
                <a:latin typeface="Segoe UI"/>
              </a:rPr>
              <a:t>'pendiente'</a:t>
            </a:r>
          </a:p>
        </p:txBody>
      </p:sp>
      <p:sp>
        <p:nvSpPr>
          <p:cNvPr id="18" name="TextBox 17"/>
          <p:cNvSpPr txBox="1"/>
          <p:nvPr/>
        </p:nvSpPr>
        <p:spPr>
          <a:xfrm>
            <a:off x="5920740" y="2011680"/>
            <a:ext cx="320040" cy="868680"/>
          </a:xfrm>
          <a:prstGeom prst="rect">
            <a:avLst/>
          </a:prstGeom>
          <a:noFill/>
        </p:spPr>
        <p:txBody>
          <a:bodyPr wrap="square" anchor="ctr" lIns="0" rIns="0" tIns="0" bIns="0">
            <a:spAutoFit/>
          </a:bodyPr>
          <a:lstStyle/>
          <a:p>
            <a:pPr algn="ctr">
              <a:lnSpc>
                <a:spcPct val="100000"/>
              </a:lnSpc>
              <a:spcAft>
                <a:spcPts val="0"/>
              </a:spcAft>
            </a:pPr>
            <a:r>
              <a:rPr sz="1400" b="0" i="0">
                <a:solidFill>
                  <a:srgbClr val="454F78"/>
                </a:solidFill>
                <a:latin typeface="Segoe UI"/>
              </a:rPr>
              <a:t>→</a:t>
            </a:r>
          </a:p>
        </p:txBody>
      </p:sp>
      <p:sp>
        <p:nvSpPr>
          <p:cNvPr id="19" name="Rounded Rectangle 18"/>
          <p:cNvSpPr/>
          <p:nvPr/>
        </p:nvSpPr>
        <p:spPr>
          <a:xfrm>
            <a:off x="6240780" y="2011680"/>
            <a:ext cx="1516380" cy="868680"/>
          </a:xfrm>
          <a:prstGeom prst="roundRect">
            <a:avLst>
              <a:gd name="adj" fmla="val 4500"/>
            </a:avLst>
          </a:prstGeom>
          <a:solidFill>
            <a:srgbClr val="FFFFFF"/>
          </a:solidFill>
          <a:ln w="9525">
            <a:solidFill>
              <a:srgbClr val="D8DC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40780" y="2011680"/>
            <a:ext cx="45720" cy="868680"/>
          </a:xfrm>
          <a:prstGeom prst="rect">
            <a:avLst/>
          </a:prstGeom>
          <a:solidFill>
            <a:srgbClr val="2F9E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350508" y="2084832"/>
            <a:ext cx="1296924" cy="722376"/>
          </a:xfrm>
          <a:prstGeom prst="rect">
            <a:avLst/>
          </a:prstGeom>
          <a:noFill/>
        </p:spPr>
        <p:txBody>
          <a:bodyPr wrap="square" anchor="ctr" lIns="0" rIns="0" tIns="0" bIns="0">
            <a:spAutoFit/>
          </a:bodyPr>
          <a:lstStyle/>
          <a:p>
            <a:pPr algn="l">
              <a:lnSpc>
                <a:spcPct val="105000"/>
              </a:lnSpc>
              <a:spcAft>
                <a:spcPts val="0"/>
              </a:spcAft>
            </a:pPr>
            <a:r>
              <a:rPr sz="1019" b="0" i="0">
                <a:solidFill>
                  <a:srgbClr val="1B2559"/>
                </a:solidFill>
                <a:latin typeface="Segoe UI"/>
              </a:rPr>
              <a:t>Admin revisa y</a:t>
            </a:r>
          </a:p>
          <a:p>
            <a:pPr algn="l">
              <a:lnSpc>
                <a:spcPct val="105000"/>
              </a:lnSpc>
              <a:spcAft>
                <a:spcPts val="0"/>
              </a:spcAft>
            </a:pPr>
            <a:r>
              <a:rPr sz="1019" b="0" i="0">
                <a:solidFill>
                  <a:srgbClr val="1B2559"/>
                </a:solidFill>
                <a:latin typeface="Segoe UI"/>
              </a:rPr>
              <a:t>aprueba en el panel</a:t>
            </a:r>
          </a:p>
        </p:txBody>
      </p:sp>
      <p:sp>
        <p:nvSpPr>
          <p:cNvPr id="22" name="TextBox 21"/>
          <p:cNvSpPr txBox="1"/>
          <p:nvPr/>
        </p:nvSpPr>
        <p:spPr>
          <a:xfrm>
            <a:off x="7757160" y="2011680"/>
            <a:ext cx="320040" cy="868680"/>
          </a:xfrm>
          <a:prstGeom prst="rect">
            <a:avLst/>
          </a:prstGeom>
          <a:noFill/>
        </p:spPr>
        <p:txBody>
          <a:bodyPr wrap="square" anchor="ctr" lIns="0" rIns="0" tIns="0" bIns="0">
            <a:spAutoFit/>
          </a:bodyPr>
          <a:lstStyle/>
          <a:p>
            <a:pPr algn="ctr">
              <a:lnSpc>
                <a:spcPct val="100000"/>
              </a:lnSpc>
              <a:spcAft>
                <a:spcPts val="0"/>
              </a:spcAft>
            </a:pPr>
            <a:r>
              <a:rPr sz="1400" b="0" i="0">
                <a:solidFill>
                  <a:srgbClr val="454F78"/>
                </a:solidFill>
                <a:latin typeface="Segoe UI"/>
              </a:rPr>
              <a:t>→</a:t>
            </a:r>
          </a:p>
        </p:txBody>
      </p:sp>
      <p:sp>
        <p:nvSpPr>
          <p:cNvPr id="23" name="Rounded Rectangle 22"/>
          <p:cNvSpPr/>
          <p:nvPr/>
        </p:nvSpPr>
        <p:spPr>
          <a:xfrm>
            <a:off x="8077200" y="2011680"/>
            <a:ext cx="1516380" cy="868680"/>
          </a:xfrm>
          <a:prstGeom prst="roundRect">
            <a:avLst>
              <a:gd name="adj" fmla="val 4500"/>
            </a:avLst>
          </a:prstGeom>
          <a:solidFill>
            <a:srgbClr val="FFFFFF"/>
          </a:solidFill>
          <a:ln w="9525">
            <a:solidFill>
              <a:srgbClr val="D8DC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077200" y="2011680"/>
            <a:ext cx="45720" cy="868680"/>
          </a:xfrm>
          <a:prstGeom prst="rect">
            <a:avLst/>
          </a:prstGeom>
          <a:solidFill>
            <a:srgbClr val="2F9E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186928" y="2084832"/>
            <a:ext cx="1296924" cy="722376"/>
          </a:xfrm>
          <a:prstGeom prst="rect">
            <a:avLst/>
          </a:prstGeom>
          <a:noFill/>
        </p:spPr>
        <p:txBody>
          <a:bodyPr wrap="square" anchor="ctr" lIns="0" rIns="0" tIns="0" bIns="0">
            <a:spAutoFit/>
          </a:bodyPr>
          <a:lstStyle/>
          <a:p>
            <a:pPr algn="l">
              <a:lnSpc>
                <a:spcPct val="105000"/>
              </a:lnSpc>
              <a:spcAft>
                <a:spcPts val="0"/>
              </a:spcAft>
            </a:pPr>
            <a:r>
              <a:rPr sz="1019" b="0" i="0">
                <a:solidFill>
                  <a:srgbClr val="1B2559"/>
                </a:solidFill>
                <a:latin typeface="Segoe UI"/>
              </a:rPr>
              <a:t>Pago con</a:t>
            </a:r>
          </a:p>
          <a:p>
            <a:pPr algn="l">
              <a:lnSpc>
                <a:spcPct val="105000"/>
              </a:lnSpc>
              <a:spcAft>
                <a:spcPts val="0"/>
              </a:spcAft>
            </a:pPr>
            <a:r>
              <a:rPr sz="1019" b="0" i="0">
                <a:solidFill>
                  <a:srgbClr val="1B2559"/>
                </a:solidFill>
                <a:latin typeface="Segoe UI"/>
              </a:rPr>
              <a:t>trazabilidad de cuotas</a:t>
            </a:r>
          </a:p>
        </p:txBody>
      </p:sp>
      <p:sp>
        <p:nvSpPr>
          <p:cNvPr id="26" name="TextBox 25"/>
          <p:cNvSpPr txBox="1"/>
          <p:nvPr/>
        </p:nvSpPr>
        <p:spPr>
          <a:xfrm>
            <a:off x="9593580" y="2011680"/>
            <a:ext cx="320040" cy="868680"/>
          </a:xfrm>
          <a:prstGeom prst="rect">
            <a:avLst/>
          </a:prstGeom>
          <a:noFill/>
        </p:spPr>
        <p:txBody>
          <a:bodyPr wrap="square" anchor="ctr" lIns="0" rIns="0" tIns="0" bIns="0">
            <a:spAutoFit/>
          </a:bodyPr>
          <a:lstStyle/>
          <a:p>
            <a:pPr algn="ctr">
              <a:lnSpc>
                <a:spcPct val="100000"/>
              </a:lnSpc>
              <a:spcAft>
                <a:spcPts val="0"/>
              </a:spcAft>
            </a:pPr>
            <a:r>
              <a:rPr sz="1400" b="0" i="0">
                <a:solidFill>
                  <a:srgbClr val="454F78"/>
                </a:solidFill>
                <a:latin typeface="Segoe UI"/>
              </a:rPr>
              <a:t>→</a:t>
            </a:r>
          </a:p>
        </p:txBody>
      </p:sp>
      <p:sp>
        <p:nvSpPr>
          <p:cNvPr id="27" name="Rounded Rectangle 26"/>
          <p:cNvSpPr/>
          <p:nvPr/>
        </p:nvSpPr>
        <p:spPr>
          <a:xfrm>
            <a:off x="9913620" y="2011680"/>
            <a:ext cx="1516380" cy="868680"/>
          </a:xfrm>
          <a:prstGeom prst="roundRect">
            <a:avLst>
              <a:gd name="adj" fmla="val 4500"/>
            </a:avLst>
          </a:prstGeom>
          <a:solidFill>
            <a:srgbClr val="FFFFFF"/>
          </a:solidFill>
          <a:ln w="9525">
            <a:solidFill>
              <a:srgbClr val="D8DC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9913620" y="2011680"/>
            <a:ext cx="45720" cy="868680"/>
          </a:xfrm>
          <a:prstGeom prst="rect">
            <a:avLst/>
          </a:prstGeom>
          <a:solidFill>
            <a:srgbClr val="2F9E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023348" y="2084832"/>
            <a:ext cx="1296924" cy="722376"/>
          </a:xfrm>
          <a:prstGeom prst="rect">
            <a:avLst/>
          </a:prstGeom>
          <a:noFill/>
        </p:spPr>
        <p:txBody>
          <a:bodyPr wrap="square" anchor="ctr" lIns="0" rIns="0" tIns="0" bIns="0">
            <a:spAutoFit/>
          </a:bodyPr>
          <a:lstStyle/>
          <a:p>
            <a:pPr algn="l">
              <a:lnSpc>
                <a:spcPct val="105000"/>
              </a:lnSpc>
              <a:spcAft>
                <a:spcPts val="0"/>
              </a:spcAft>
            </a:pPr>
            <a:r>
              <a:rPr sz="1019" b="0" i="0">
                <a:solidFill>
                  <a:srgbClr val="1B2559"/>
                </a:solidFill>
                <a:latin typeface="Segoe UI"/>
              </a:rPr>
              <a:t>Activación automática</a:t>
            </a:r>
          </a:p>
          <a:p>
            <a:pPr algn="l">
              <a:lnSpc>
                <a:spcPct val="105000"/>
              </a:lnSpc>
              <a:spcAft>
                <a:spcPts val="0"/>
              </a:spcAft>
            </a:pPr>
            <a:r>
              <a:rPr sz="1019" b="0" i="0">
                <a:solidFill>
                  <a:srgbClr val="1B2559"/>
                </a:solidFill>
                <a:latin typeface="Segoe UI"/>
              </a:rPr>
              <a:t>+ código al padre</a:t>
            </a:r>
          </a:p>
        </p:txBody>
      </p:sp>
      <p:sp>
        <p:nvSpPr>
          <p:cNvPr id="30" name="Rounded Rectangle 29"/>
          <p:cNvSpPr/>
          <p:nvPr/>
        </p:nvSpPr>
        <p:spPr>
          <a:xfrm>
            <a:off x="731520" y="3383280"/>
            <a:ext cx="10698480" cy="1737360"/>
          </a:xfrm>
          <a:prstGeom prst="roundRect">
            <a:avLst>
              <a:gd name="adj" fmla="val 4500"/>
            </a:avLst>
          </a:prstGeom>
          <a:solidFill>
            <a:srgbClr val="FFFFFF"/>
          </a:solidFill>
          <a:ln w="9525">
            <a:solidFill>
              <a:srgbClr val="D8DC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31520" y="3383280"/>
            <a:ext cx="54864" cy="1737360"/>
          </a:xfrm>
          <a:prstGeom prst="rect">
            <a:avLst/>
          </a:prstGeom>
          <a:solidFill>
            <a:srgbClr val="2F9E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3493008"/>
            <a:ext cx="10369296" cy="274320"/>
          </a:xfrm>
          <a:prstGeom prst="rect">
            <a:avLst/>
          </a:prstGeom>
          <a:noFill/>
        </p:spPr>
        <p:txBody>
          <a:bodyPr wrap="square" anchor="t" lIns="0" rIns="0" tIns="0" bIns="0">
            <a:spAutoFit/>
          </a:bodyPr>
          <a:lstStyle/>
          <a:p>
            <a:pPr algn="l">
              <a:lnSpc>
                <a:spcPct val="100000"/>
              </a:lnSpc>
              <a:spcAft>
                <a:spcPts val="0"/>
              </a:spcAft>
            </a:pPr>
            <a:r>
              <a:rPr sz="1000" b="1" i="0">
                <a:solidFill>
                  <a:srgbClr val="454F78"/>
                </a:solidFill>
                <a:latin typeface="Segoe UI"/>
              </a:rPr>
              <a:t>AUTOMATIZACIONES INCORPORADAS</a:t>
            </a:r>
          </a:p>
        </p:txBody>
      </p:sp>
      <p:sp>
        <p:nvSpPr>
          <p:cNvPr id="33" name="TextBox 32"/>
          <p:cNvSpPr txBox="1"/>
          <p:nvPr/>
        </p:nvSpPr>
        <p:spPr>
          <a:xfrm>
            <a:off x="896112" y="3767328"/>
            <a:ext cx="10369296" cy="1234440"/>
          </a:xfrm>
          <a:prstGeom prst="rect">
            <a:avLst/>
          </a:prstGeom>
          <a:noFill/>
        </p:spPr>
        <p:txBody>
          <a:bodyPr wrap="square" anchor="t" lIns="0" rIns="0" tIns="0" bIns="0">
            <a:spAutoFit/>
          </a:bodyPr>
          <a:lstStyle/>
          <a:p>
            <a:pPr algn="l">
              <a:lnSpc>
                <a:spcPct val="112000"/>
              </a:lnSpc>
              <a:spcAft>
                <a:spcPts val="0"/>
              </a:spcAft>
            </a:pPr>
            <a:r>
              <a:rPr sz="1350" b="0" i="0">
                <a:solidFill>
                  <a:srgbClr val="1B2559"/>
                </a:solidFill>
                <a:latin typeface="Segoe UI"/>
              </a:rPr>
              <a:t>Validación transaccional de cupo (evita sobre-matrícula), deduplicación por alumno/ciclo, generación automática del acceso y del código de consulta de asistencia.</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6F7FB"/>
        </a:solidFill>
        <a:effectLst/>
      </p:bgPr>
    </p:bg>
    <p:spTree>
      <p:nvGrpSpPr>
        <p:cNvPr id="1" name=""/>
        <p:cNvGrpSpPr/>
        <p:nvPr/>
      </p:nvGrpSpPr>
      <p:grpSpPr/>
      <p:sp>
        <p:nvSpPr>
          <p:cNvPr id="2" name="TextBox 1"/>
          <p:cNvSpPr txBox="1"/>
          <p:nvPr/>
        </p:nvSpPr>
        <p:spPr>
          <a:xfrm>
            <a:off x="731520" y="502920"/>
            <a:ext cx="9601200" cy="320040"/>
          </a:xfrm>
          <a:prstGeom prst="rect">
            <a:avLst/>
          </a:prstGeom>
          <a:noFill/>
        </p:spPr>
        <p:txBody>
          <a:bodyPr wrap="square" anchor="t" lIns="0" rIns="0" tIns="0" bIns="0">
            <a:spAutoFit/>
          </a:bodyPr>
          <a:lstStyle/>
          <a:p>
            <a:pPr algn="l">
              <a:lnSpc>
                <a:spcPct val="100000"/>
              </a:lnSpc>
              <a:spcAft>
                <a:spcPts val="0"/>
              </a:spcAft>
            </a:pPr>
            <a:r>
              <a:rPr sz="1250" b="1" i="0">
                <a:solidFill>
                  <a:srgbClr val="3B5BDB"/>
                </a:solidFill>
                <a:latin typeface="Segoe UI"/>
              </a:rPr>
              <a:t>E4 · 4.3 ANÁLISIS COMPARATIVO</a:t>
            </a:r>
          </a:p>
        </p:txBody>
      </p:sp>
      <p:sp>
        <p:nvSpPr>
          <p:cNvPr id="3" name="TextBox 2"/>
          <p:cNvSpPr txBox="1"/>
          <p:nvPr/>
        </p:nvSpPr>
        <p:spPr>
          <a:xfrm>
            <a:off x="731520" y="841248"/>
            <a:ext cx="10607040" cy="914400"/>
          </a:xfrm>
          <a:prstGeom prst="rect">
            <a:avLst/>
          </a:prstGeom>
          <a:noFill/>
        </p:spPr>
        <p:txBody>
          <a:bodyPr wrap="square" anchor="t" lIns="0" rIns="0" tIns="0" bIns="0">
            <a:spAutoFit/>
          </a:bodyPr>
          <a:lstStyle/>
          <a:p>
            <a:pPr algn="l">
              <a:lnSpc>
                <a:spcPct val="102000"/>
              </a:lnSpc>
              <a:spcAft>
                <a:spcPts val="0"/>
              </a:spcAft>
            </a:pPr>
            <a:r>
              <a:rPr sz="2300" b="0" i="0">
                <a:solidFill>
                  <a:srgbClr val="1B2559"/>
                </a:solidFill>
                <a:latin typeface="Segoe UI"/>
              </a:rPr>
              <a:t>La mejora, en cuatro dimensiones</a:t>
            </a:r>
          </a:p>
        </p:txBody>
      </p:sp>
      <p:sp>
        <p:nvSpPr>
          <p:cNvPr id="4" name="Rectangle 3"/>
          <p:cNvSpPr/>
          <p:nvPr/>
        </p:nvSpPr>
        <p:spPr>
          <a:xfrm>
            <a:off x="731520" y="1627632"/>
            <a:ext cx="10698480" cy="15240"/>
          </a:xfrm>
          <a:prstGeom prst="rect">
            <a:avLst/>
          </a:prstGeom>
          <a:solidFill>
            <a:srgbClr val="3B5B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6473952"/>
            <a:ext cx="7772400" cy="292608"/>
          </a:xfrm>
          <a:prstGeom prst="rect">
            <a:avLst/>
          </a:prstGeom>
          <a:noFill/>
        </p:spPr>
        <p:txBody>
          <a:bodyPr wrap="square" anchor="t" lIns="0" rIns="0" tIns="0" bIns="0">
            <a:spAutoFit/>
          </a:bodyPr>
          <a:lstStyle/>
          <a:p>
            <a:pPr algn="l">
              <a:lnSpc>
                <a:spcPct val="100000"/>
              </a:lnSpc>
              <a:spcAft>
                <a:spcPts val="0"/>
              </a:spcAft>
            </a:pPr>
            <a:r>
              <a:rPr sz="1050" b="0" i="0">
                <a:solidFill>
                  <a:srgbClr val="454F78"/>
                </a:solidFill>
                <a:latin typeface="Segoe UI"/>
              </a:rPr>
              <a:t>Expone: Gladys Rosaura Yana Pari   ·   ⏱ 45s</a:t>
            </a:r>
          </a:p>
        </p:txBody>
      </p:sp>
      <p:sp>
        <p:nvSpPr>
          <p:cNvPr id="6" name="TextBox 5"/>
          <p:cNvSpPr txBox="1"/>
          <p:nvPr/>
        </p:nvSpPr>
        <p:spPr>
          <a:xfrm>
            <a:off x="10881360" y="6473952"/>
            <a:ext cx="822960" cy="292608"/>
          </a:xfrm>
          <a:prstGeom prst="rect">
            <a:avLst/>
          </a:prstGeom>
          <a:noFill/>
        </p:spPr>
        <p:txBody>
          <a:bodyPr wrap="square" anchor="t" lIns="0" rIns="0" tIns="0" bIns="0">
            <a:spAutoFit/>
          </a:bodyPr>
          <a:lstStyle/>
          <a:p>
            <a:pPr algn="r">
              <a:lnSpc>
                <a:spcPct val="100000"/>
              </a:lnSpc>
              <a:spcAft>
                <a:spcPts val="0"/>
              </a:spcAft>
            </a:pPr>
            <a:r>
              <a:rPr sz="1050" b="0" i="0">
                <a:solidFill>
                  <a:srgbClr val="454F78"/>
                </a:solidFill>
                <a:latin typeface="Segoe UI"/>
              </a:rPr>
              <a:t>21 / 22</a:t>
            </a:r>
          </a:p>
        </p:txBody>
      </p:sp>
      <p:graphicFrame>
        <p:nvGraphicFramePr>
          <p:cNvPr id="7" name="Table 6"/>
          <p:cNvGraphicFramePr>
            <a:graphicFrameLocks noGrp="1"/>
          </p:cNvGraphicFramePr>
          <p:nvPr/>
        </p:nvGraphicFramePr>
        <p:xfrm>
          <a:off x="731520" y="1920240"/>
          <a:ext cx="10698480" cy="2743200"/>
        </p:xfrm>
        <a:graphic>
          <a:graphicData uri="http://schemas.openxmlformats.org/drawingml/2006/table">
            <a:tbl>
              <a:tblPr firstRow="1" bandRow="1">
                <a:tableStyleId>{5C22544A-7EE6-4342-B048-85BDC9FD1C3A}</a:tableStyleId>
              </a:tblPr>
              <a:tblGrid>
                <a:gridCol w="3017520"/>
                <a:gridCol w="2377440"/>
                <a:gridCol w="2377440"/>
                <a:gridCol w="2926080"/>
              </a:tblGrid>
              <a:tr h="548640">
                <a:tc>
                  <a:txBody>
                    <a:bodyPr/>
                    <a:lstStyle/>
                    <a:p>
                      <a:pPr>
                        <a:defRPr sz="1150" b="1">
                          <a:solidFill>
                            <a:srgbClr val="FFFFFF"/>
                          </a:solidFill>
                          <a:latin typeface="Segoe UI"/>
                        </a:defRPr>
                      </a:pPr>
                      <a:r>
                        <a:t>Dimensión</a:t>
                      </a:r>
                    </a:p>
                  </a:txBody>
                  <a:tcPr anchor="ctr" marL="76200" marR="76200" marT="50800" marB="50800">
                    <a:solidFill>
                      <a:srgbClr val="1B2559"/>
                    </a:solidFill>
                  </a:tcPr>
                </a:tc>
                <a:tc>
                  <a:txBody>
                    <a:bodyPr/>
                    <a:lstStyle/>
                    <a:p>
                      <a:pPr>
                        <a:defRPr sz="1150" b="1">
                          <a:solidFill>
                            <a:srgbClr val="FFFFFF"/>
                          </a:solidFill>
                          <a:latin typeface="Segoe UI"/>
                        </a:defRPr>
                      </a:pPr>
                      <a:r>
                        <a:t>AS-IS</a:t>
                      </a:r>
                    </a:p>
                  </a:txBody>
                  <a:tcPr anchor="ctr" marL="76200" marR="76200" marT="50800" marB="50800">
                    <a:solidFill>
                      <a:srgbClr val="1B2559"/>
                    </a:solidFill>
                  </a:tcPr>
                </a:tc>
                <a:tc>
                  <a:txBody>
                    <a:bodyPr/>
                    <a:lstStyle/>
                    <a:p>
                      <a:pPr>
                        <a:defRPr sz="1150" b="1">
                          <a:solidFill>
                            <a:srgbClr val="FFFFFF"/>
                          </a:solidFill>
                          <a:latin typeface="Segoe UI"/>
                        </a:defRPr>
                      </a:pPr>
                      <a:r>
                        <a:t>TO-BE</a:t>
                      </a:r>
                    </a:p>
                  </a:txBody>
                  <a:tcPr anchor="ctr" marL="76200" marR="76200" marT="50800" marB="50800">
                    <a:solidFill>
                      <a:srgbClr val="1B2559"/>
                    </a:solidFill>
                  </a:tcPr>
                </a:tc>
                <a:tc>
                  <a:txBody>
                    <a:bodyPr/>
                    <a:lstStyle/>
                    <a:p>
                      <a:pPr>
                        <a:defRPr sz="1150" b="1">
                          <a:solidFill>
                            <a:srgbClr val="FFFFFF"/>
                          </a:solidFill>
                          <a:latin typeface="Segoe UI"/>
                        </a:defRPr>
                      </a:pPr>
                      <a:r>
                        <a:t>Mejora</a:t>
                      </a:r>
                    </a:p>
                  </a:txBody>
                  <a:tcPr anchor="ctr" marL="76200" marR="76200" marT="50800" marB="50800">
                    <a:solidFill>
                      <a:srgbClr val="1B2559"/>
                    </a:solidFill>
                  </a:tcPr>
                </a:tc>
              </a:tr>
              <a:tr h="548640">
                <a:tc>
                  <a:txBody>
                    <a:bodyPr/>
                    <a:lstStyle/>
                    <a:p>
                      <a:pPr>
                        <a:defRPr sz="1200" b="0">
                          <a:solidFill>
                            <a:srgbClr val="1B2559"/>
                          </a:solidFill>
                          <a:latin typeface="Segoe UI"/>
                        </a:defRPr>
                      </a:pPr>
                      <a:r>
                        <a:t>Tiempo de confirmación</a:t>
                      </a:r>
                    </a:p>
                  </a:txBody>
                  <a:tcPr anchor="ctr" marL="76200" marR="76200" marT="50800" marB="50800">
                    <a:solidFill>
                      <a:srgbClr val="FFFFFF"/>
                    </a:solidFill>
                  </a:tcPr>
                </a:tc>
                <a:tc>
                  <a:txBody>
                    <a:bodyPr/>
                    <a:lstStyle/>
                    <a:p>
                      <a:pPr>
                        <a:defRPr sz="1200" b="0">
                          <a:solidFill>
                            <a:srgbClr val="1B2559"/>
                          </a:solidFill>
                          <a:latin typeface="Segoe UI"/>
                        </a:defRPr>
                      </a:pPr>
                      <a:r>
                        <a:t>Horas a días</a:t>
                      </a:r>
                    </a:p>
                  </a:txBody>
                  <a:tcPr anchor="ctr" marL="76200" marR="76200" marT="50800" marB="50800">
                    <a:solidFill>
                      <a:srgbClr val="FFFFFF"/>
                    </a:solidFill>
                  </a:tcPr>
                </a:tc>
                <a:tc>
                  <a:txBody>
                    <a:bodyPr/>
                    <a:lstStyle/>
                    <a:p>
                      <a:pPr>
                        <a:defRPr sz="1200" b="0">
                          <a:solidFill>
                            <a:srgbClr val="1B2559"/>
                          </a:solidFill>
                          <a:latin typeface="Segoe UI"/>
                        </a:defRPr>
                      </a:pPr>
                      <a:r>
                        <a:t>Minutos</a:t>
                      </a:r>
                    </a:p>
                  </a:txBody>
                  <a:tcPr anchor="ctr" marL="76200" marR="76200" marT="50800" marB="50800">
                    <a:solidFill>
                      <a:srgbClr val="FFFFFF"/>
                    </a:solidFill>
                  </a:tcPr>
                </a:tc>
                <a:tc>
                  <a:txBody>
                    <a:bodyPr/>
                    <a:lstStyle/>
                    <a:p>
                      <a:pPr>
                        <a:defRPr sz="1200" b="0">
                          <a:solidFill>
                            <a:srgbClr val="1B2559"/>
                          </a:solidFill>
                          <a:latin typeface="Segoe UI"/>
                        </a:defRPr>
                      </a:pPr>
                      <a:r>
                        <a:t>Reducción drástica de espera</a:t>
                      </a:r>
                    </a:p>
                  </a:txBody>
                  <a:tcPr anchor="ctr" marL="76200" marR="76200" marT="50800" marB="50800">
                    <a:solidFill>
                      <a:srgbClr val="FFFFFF"/>
                    </a:solidFill>
                  </a:tcPr>
                </a:tc>
              </a:tr>
              <a:tr h="548640">
                <a:tc>
                  <a:txBody>
                    <a:bodyPr/>
                    <a:lstStyle/>
                    <a:p>
                      <a:pPr>
                        <a:defRPr sz="1200" b="0">
                          <a:solidFill>
                            <a:srgbClr val="1B2559"/>
                          </a:solidFill>
                          <a:latin typeface="Segoe UI"/>
                        </a:defRPr>
                      </a:pPr>
                      <a:r>
                        <a:t>Riesgo de sobre-cupo</a:t>
                      </a:r>
                    </a:p>
                  </a:txBody>
                  <a:tcPr anchor="ctr" marL="76200" marR="76200" marT="50800" marB="50800">
                    <a:solidFill>
                      <a:srgbClr val="FFFFFF"/>
                    </a:solidFill>
                  </a:tcPr>
                </a:tc>
                <a:tc>
                  <a:txBody>
                    <a:bodyPr/>
                    <a:lstStyle/>
                    <a:p>
                      <a:pPr>
                        <a:defRPr sz="1200" b="0">
                          <a:solidFill>
                            <a:srgbClr val="1B2559"/>
                          </a:solidFill>
                          <a:latin typeface="Segoe UI"/>
                        </a:defRPr>
                      </a:pPr>
                      <a:r>
                        <a:t>Real</a:t>
                      </a:r>
                    </a:p>
                  </a:txBody>
                  <a:tcPr anchor="ctr" marL="76200" marR="76200" marT="50800" marB="50800">
                    <a:solidFill>
                      <a:srgbClr val="FFFFFF"/>
                    </a:solidFill>
                  </a:tcPr>
                </a:tc>
                <a:tc>
                  <a:txBody>
                    <a:bodyPr/>
                    <a:lstStyle/>
                    <a:p>
                      <a:pPr>
                        <a:defRPr sz="1200" b="0">
                          <a:solidFill>
                            <a:srgbClr val="1B2559"/>
                          </a:solidFill>
                          <a:latin typeface="Segoe UI"/>
                        </a:defRPr>
                      </a:pPr>
                      <a:r>
                        <a:t>Eliminado</a:t>
                      </a:r>
                    </a:p>
                  </a:txBody>
                  <a:tcPr anchor="ctr" marL="76200" marR="76200" marT="50800" marB="50800">
                    <a:solidFill>
                      <a:srgbClr val="FFFFFF"/>
                    </a:solidFill>
                  </a:tcPr>
                </a:tc>
                <a:tc>
                  <a:txBody>
                    <a:bodyPr/>
                    <a:lstStyle/>
                    <a:p>
                      <a:pPr>
                        <a:defRPr sz="1200" b="0">
                          <a:solidFill>
                            <a:srgbClr val="1B2559"/>
                          </a:solidFill>
                          <a:latin typeface="Segoe UI"/>
                        </a:defRPr>
                      </a:pPr>
                      <a:r>
                        <a:t>Mejora de confiabilidad</a:t>
                      </a:r>
                    </a:p>
                  </a:txBody>
                  <a:tcPr anchor="ctr" marL="76200" marR="76200" marT="50800" marB="50800">
                    <a:solidFill>
                      <a:srgbClr val="FFFFFF"/>
                    </a:solidFill>
                  </a:tcPr>
                </a:tc>
              </a:tr>
              <a:tr h="548640">
                <a:tc>
                  <a:txBody>
                    <a:bodyPr/>
                    <a:lstStyle/>
                    <a:p>
                      <a:pPr>
                        <a:defRPr sz="1200" b="0">
                          <a:solidFill>
                            <a:srgbClr val="1B2559"/>
                          </a:solidFill>
                          <a:latin typeface="Segoe UI"/>
                        </a:defRPr>
                      </a:pPr>
                      <a:r>
                        <a:t>Trazabilidad de pagos</a:t>
                      </a:r>
                    </a:p>
                  </a:txBody>
                  <a:tcPr anchor="ctr" marL="76200" marR="76200" marT="50800" marB="50800">
                    <a:solidFill>
                      <a:srgbClr val="FFFFFF"/>
                    </a:solidFill>
                  </a:tcPr>
                </a:tc>
                <a:tc>
                  <a:txBody>
                    <a:bodyPr/>
                    <a:lstStyle/>
                    <a:p>
                      <a:pPr>
                        <a:defRPr sz="1200" b="0">
                          <a:solidFill>
                            <a:srgbClr val="1B2559"/>
                          </a:solidFill>
                          <a:latin typeface="Segoe UI"/>
                        </a:defRPr>
                      </a:pPr>
                      <a:r>
                        <a:t>Desconectada</a:t>
                      </a:r>
                    </a:p>
                  </a:txBody>
                  <a:tcPr anchor="ctr" marL="76200" marR="76200" marT="50800" marB="50800">
                    <a:solidFill>
                      <a:srgbClr val="FFFFFF"/>
                    </a:solidFill>
                  </a:tcPr>
                </a:tc>
                <a:tc>
                  <a:txBody>
                    <a:bodyPr/>
                    <a:lstStyle/>
                    <a:p>
                      <a:pPr>
                        <a:defRPr sz="1200" b="0">
                          <a:solidFill>
                            <a:srgbClr val="1B2559"/>
                          </a:solidFill>
                          <a:latin typeface="Segoe UI"/>
                        </a:defRPr>
                      </a:pPr>
                      <a:r>
                        <a:t>Vinculada 1:1</a:t>
                      </a:r>
                    </a:p>
                  </a:txBody>
                  <a:tcPr anchor="ctr" marL="76200" marR="76200" marT="50800" marB="50800">
                    <a:solidFill>
                      <a:srgbClr val="FFFFFF"/>
                    </a:solidFill>
                  </a:tcPr>
                </a:tc>
                <a:tc>
                  <a:txBody>
                    <a:bodyPr/>
                    <a:lstStyle/>
                    <a:p>
                      <a:pPr>
                        <a:defRPr sz="1200" b="0">
                          <a:solidFill>
                            <a:srgbClr val="1B2559"/>
                          </a:solidFill>
                          <a:latin typeface="Segoe UI"/>
                        </a:defRPr>
                      </a:pPr>
                      <a:r>
                        <a:t>Mejora de auditoría</a:t>
                      </a:r>
                    </a:p>
                  </a:txBody>
                  <a:tcPr anchor="ctr" marL="76200" marR="76200" marT="50800" marB="50800">
                    <a:solidFill>
                      <a:srgbClr val="FFFFFF"/>
                    </a:solidFill>
                  </a:tcPr>
                </a:tc>
              </a:tr>
              <a:tr h="548640">
                <a:tc>
                  <a:txBody>
                    <a:bodyPr/>
                    <a:lstStyle/>
                    <a:p>
                      <a:pPr>
                        <a:defRPr sz="1200" b="0">
                          <a:solidFill>
                            <a:srgbClr val="1B2559"/>
                          </a:solidFill>
                          <a:latin typeface="Segoe UI"/>
                        </a:defRPr>
                      </a:pPr>
                      <a:r>
                        <a:t>Confirmación al padre</a:t>
                      </a:r>
                    </a:p>
                  </a:txBody>
                  <a:tcPr anchor="ctr" marL="76200" marR="76200" marT="50800" marB="50800">
                    <a:solidFill>
                      <a:srgbClr val="FFFFFF"/>
                    </a:solidFill>
                  </a:tcPr>
                </a:tc>
                <a:tc>
                  <a:txBody>
                    <a:bodyPr/>
                    <a:lstStyle/>
                    <a:p>
                      <a:pPr>
                        <a:defRPr sz="1200" b="0">
                          <a:solidFill>
                            <a:srgbClr val="1B2559"/>
                          </a:solidFill>
                          <a:latin typeface="Segoe UI"/>
                        </a:defRPr>
                      </a:pPr>
                      <a:r>
                        <a:t>Ninguna formal</a:t>
                      </a:r>
                    </a:p>
                  </a:txBody>
                  <a:tcPr anchor="ctr" marL="76200" marR="76200" marT="50800" marB="50800">
                    <a:solidFill>
                      <a:srgbClr val="FFFFFF"/>
                    </a:solidFill>
                  </a:tcPr>
                </a:tc>
                <a:tc>
                  <a:txBody>
                    <a:bodyPr/>
                    <a:lstStyle/>
                    <a:p>
                      <a:pPr>
                        <a:defRPr sz="1200" b="0">
                          <a:solidFill>
                            <a:srgbClr val="1B2559"/>
                          </a:solidFill>
                          <a:latin typeface="Segoe UI"/>
                        </a:defRPr>
                      </a:pPr>
                      <a:r>
                        <a:t>Automática</a:t>
                      </a:r>
                    </a:p>
                  </a:txBody>
                  <a:tcPr anchor="ctr" marL="76200" marR="76200" marT="50800" marB="50800">
                    <a:solidFill>
                      <a:srgbClr val="FFFFFF"/>
                    </a:solidFill>
                  </a:tcPr>
                </a:tc>
                <a:tc>
                  <a:txBody>
                    <a:bodyPr/>
                    <a:lstStyle/>
                    <a:p>
                      <a:pPr>
                        <a:defRPr sz="1200" b="0">
                          <a:solidFill>
                            <a:srgbClr val="1B2559"/>
                          </a:solidFill>
                          <a:latin typeface="Segoe UI"/>
                        </a:defRPr>
                      </a:pPr>
                      <a:r>
                        <a:t>Menos llamadas a secretaría</a:t>
                      </a:r>
                    </a:p>
                  </a:txBody>
                  <a:tcPr anchor="ctr" marL="76200" marR="76200" marT="50800" marB="50800">
                    <a:solidFill>
                      <a:srgbClr val="FFFFFF"/>
                    </a:solidFill>
                  </a:tcPr>
                </a:tc>
              </a:tr>
            </a:tbl>
          </a:graphicData>
        </a:graphic>
      </p:graphicFrame>
      <p:sp>
        <p:nvSpPr>
          <p:cNvPr id="8" name="Rounded Rectangle 7"/>
          <p:cNvSpPr/>
          <p:nvPr/>
        </p:nvSpPr>
        <p:spPr>
          <a:xfrm>
            <a:off x="731520" y="4846320"/>
            <a:ext cx="3291840" cy="1051560"/>
          </a:xfrm>
          <a:prstGeom prst="roundRect">
            <a:avLst>
              <a:gd name="adj" fmla="val 4500"/>
            </a:avLst>
          </a:prstGeom>
          <a:solidFill>
            <a:srgbClr val="FFFFFF"/>
          </a:solidFill>
          <a:ln w="9525">
            <a:solidFill>
              <a:srgbClr val="D8DC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31520" y="4846320"/>
            <a:ext cx="54864" cy="1051560"/>
          </a:xfrm>
          <a:prstGeom prst="rect">
            <a:avLst/>
          </a:prstGeom>
          <a:solidFill>
            <a:srgbClr val="2F9E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4956048"/>
            <a:ext cx="2962656" cy="274320"/>
          </a:xfrm>
          <a:prstGeom prst="rect">
            <a:avLst/>
          </a:prstGeom>
          <a:noFill/>
        </p:spPr>
        <p:txBody>
          <a:bodyPr wrap="square" anchor="t" lIns="0" rIns="0" tIns="0" bIns="0">
            <a:spAutoFit/>
          </a:bodyPr>
          <a:lstStyle/>
          <a:p>
            <a:pPr algn="l">
              <a:lnSpc>
                <a:spcPct val="100000"/>
              </a:lnSpc>
              <a:spcAft>
                <a:spcPts val="0"/>
              </a:spcAft>
            </a:pPr>
            <a:r>
              <a:rPr sz="1000" b="1" i="0">
                <a:solidFill>
                  <a:srgbClr val="454F78"/>
                </a:solidFill>
                <a:latin typeface="Segoe UI"/>
              </a:rPr>
              <a:t>META</a:t>
            </a:r>
          </a:p>
        </p:txBody>
      </p:sp>
      <p:sp>
        <p:nvSpPr>
          <p:cNvPr id="11" name="TextBox 10"/>
          <p:cNvSpPr txBox="1"/>
          <p:nvPr/>
        </p:nvSpPr>
        <p:spPr>
          <a:xfrm>
            <a:off x="896112" y="5230368"/>
            <a:ext cx="2962656" cy="548640"/>
          </a:xfrm>
          <a:prstGeom prst="rect">
            <a:avLst/>
          </a:prstGeom>
          <a:noFill/>
        </p:spPr>
        <p:txBody>
          <a:bodyPr wrap="square" anchor="t" lIns="0" rIns="0" tIns="0" bIns="0">
            <a:spAutoFit/>
          </a:bodyPr>
          <a:lstStyle/>
          <a:p>
            <a:pPr algn="l">
              <a:lnSpc>
                <a:spcPct val="112000"/>
              </a:lnSpc>
              <a:spcAft>
                <a:spcPts val="0"/>
              </a:spcAft>
            </a:pPr>
            <a:r>
              <a:rPr sz="1400" b="0" i="0">
                <a:solidFill>
                  <a:srgbClr val="1B2559"/>
                </a:solidFill>
                <a:latin typeface="Segoe UI"/>
              </a:rPr>
              <a:t>0 incidentes de sobre-cupo</a:t>
            </a:r>
          </a:p>
        </p:txBody>
      </p:sp>
      <p:sp>
        <p:nvSpPr>
          <p:cNvPr id="12" name="Rounded Rectangle 11"/>
          <p:cNvSpPr/>
          <p:nvPr/>
        </p:nvSpPr>
        <p:spPr>
          <a:xfrm>
            <a:off x="4206240" y="4846320"/>
            <a:ext cx="3291840" cy="1051560"/>
          </a:xfrm>
          <a:prstGeom prst="roundRect">
            <a:avLst>
              <a:gd name="adj" fmla="val 4500"/>
            </a:avLst>
          </a:prstGeom>
          <a:solidFill>
            <a:srgbClr val="FFFFFF"/>
          </a:solidFill>
          <a:ln w="9525">
            <a:solidFill>
              <a:srgbClr val="D8DC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06240" y="4846320"/>
            <a:ext cx="54864" cy="1051560"/>
          </a:xfrm>
          <a:prstGeom prst="rect">
            <a:avLst/>
          </a:prstGeom>
          <a:solidFill>
            <a:srgbClr val="2F9E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370832" y="4956048"/>
            <a:ext cx="2962656" cy="274320"/>
          </a:xfrm>
          <a:prstGeom prst="rect">
            <a:avLst/>
          </a:prstGeom>
          <a:noFill/>
        </p:spPr>
        <p:txBody>
          <a:bodyPr wrap="square" anchor="t" lIns="0" rIns="0" tIns="0" bIns="0">
            <a:spAutoFit/>
          </a:bodyPr>
          <a:lstStyle/>
          <a:p>
            <a:pPr algn="l">
              <a:lnSpc>
                <a:spcPct val="100000"/>
              </a:lnSpc>
              <a:spcAft>
                <a:spcPts val="0"/>
              </a:spcAft>
            </a:pPr>
            <a:r>
              <a:rPr sz="1000" b="1" i="0">
                <a:solidFill>
                  <a:srgbClr val="454F78"/>
                </a:solidFill>
                <a:latin typeface="Segoe UI"/>
              </a:rPr>
              <a:t>ANTES VS. AHORA</a:t>
            </a:r>
          </a:p>
        </p:txBody>
      </p:sp>
      <p:sp>
        <p:nvSpPr>
          <p:cNvPr id="15" name="TextBox 14"/>
          <p:cNvSpPr txBox="1"/>
          <p:nvPr/>
        </p:nvSpPr>
        <p:spPr>
          <a:xfrm>
            <a:off x="4370832" y="5230368"/>
            <a:ext cx="2962656" cy="548640"/>
          </a:xfrm>
          <a:prstGeom prst="rect">
            <a:avLst/>
          </a:prstGeom>
          <a:noFill/>
        </p:spPr>
        <p:txBody>
          <a:bodyPr wrap="square" anchor="t" lIns="0" rIns="0" tIns="0" bIns="0">
            <a:spAutoFit/>
          </a:bodyPr>
          <a:lstStyle/>
          <a:p>
            <a:pPr algn="l">
              <a:lnSpc>
                <a:spcPct val="112000"/>
              </a:lnSpc>
              <a:spcAft>
                <a:spcPts val="0"/>
              </a:spcAft>
            </a:pPr>
            <a:r>
              <a:rPr sz="1400" b="0" i="0">
                <a:solidFill>
                  <a:srgbClr val="1B2559"/>
                </a:solidFill>
                <a:latin typeface="Segoe UI"/>
              </a:rPr>
              <a:t>Días → minutos, tiempo de aprobación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1B2559"/>
        </a:solidFill>
        <a:effectLst/>
      </p:bgPr>
    </p:bg>
    <p:spTree>
      <p:nvGrpSpPr>
        <p:cNvPr id="1" name=""/>
        <p:cNvGrpSpPr/>
        <p:nvPr/>
      </p:nvGrpSpPr>
      <p:grpSpPr/>
      <p:sp>
        <p:nvSpPr>
          <p:cNvPr id="2" name="TextBox 1"/>
          <p:cNvSpPr txBox="1"/>
          <p:nvPr/>
        </p:nvSpPr>
        <p:spPr>
          <a:xfrm>
            <a:off x="731520" y="2103120"/>
            <a:ext cx="8229600" cy="320040"/>
          </a:xfrm>
          <a:prstGeom prst="rect">
            <a:avLst/>
          </a:prstGeom>
          <a:noFill/>
        </p:spPr>
        <p:txBody>
          <a:bodyPr wrap="square" anchor="t" lIns="0" rIns="0" tIns="0" bIns="0">
            <a:spAutoFit/>
          </a:bodyPr>
          <a:lstStyle/>
          <a:p>
            <a:pPr algn="l">
              <a:lnSpc>
                <a:spcPct val="100000"/>
              </a:lnSpc>
              <a:spcAft>
                <a:spcPts val="0"/>
              </a:spcAft>
            </a:pPr>
            <a:r>
              <a:rPr sz="1250" b="1" i="0">
                <a:solidFill>
                  <a:srgbClr val="AAB6FF"/>
                </a:solidFill>
                <a:latin typeface="Segoe UI"/>
              </a:rPr>
              <a:t>CIERRE · LÍNEA CE01</a:t>
            </a:r>
          </a:p>
        </p:txBody>
      </p:sp>
      <p:sp>
        <p:nvSpPr>
          <p:cNvPr id="3" name="TextBox 2"/>
          <p:cNvSpPr txBox="1"/>
          <p:nvPr/>
        </p:nvSpPr>
        <p:spPr>
          <a:xfrm>
            <a:off x="731520" y="2514600"/>
            <a:ext cx="10058400" cy="1188720"/>
          </a:xfrm>
          <a:prstGeom prst="rect">
            <a:avLst/>
          </a:prstGeom>
          <a:noFill/>
        </p:spPr>
        <p:txBody>
          <a:bodyPr wrap="square" anchor="t" lIns="0" rIns="0" tIns="0" bIns="0">
            <a:spAutoFit/>
          </a:bodyPr>
          <a:lstStyle/>
          <a:p>
            <a:pPr algn="l">
              <a:lnSpc>
                <a:spcPct val="100000"/>
              </a:lnSpc>
              <a:spcAft>
                <a:spcPts val="0"/>
              </a:spcAft>
            </a:pPr>
            <a:r>
              <a:rPr sz="2800" b="0" i="0">
                <a:solidFill>
                  <a:srgbClr val="FFFFFF"/>
                </a:solidFill>
                <a:latin typeface="Segoe UI"/>
              </a:rPr>
              <a:t>De un diagnóstico honesto a un sistema que ya opera</a:t>
            </a:r>
          </a:p>
        </p:txBody>
      </p:sp>
      <p:sp>
        <p:nvSpPr>
          <p:cNvPr id="4" name="TextBox 3"/>
          <p:cNvSpPr txBox="1"/>
          <p:nvPr/>
        </p:nvSpPr>
        <p:spPr>
          <a:xfrm>
            <a:off x="731520" y="3657600"/>
            <a:ext cx="9326880" cy="822960"/>
          </a:xfrm>
          <a:prstGeom prst="rect">
            <a:avLst/>
          </a:prstGeom>
          <a:noFill/>
        </p:spPr>
        <p:txBody>
          <a:bodyPr wrap="square" anchor="t" lIns="0" rIns="0" tIns="0" bIns="0">
            <a:spAutoFit/>
          </a:bodyPr>
          <a:lstStyle/>
          <a:p>
            <a:pPr algn="l">
              <a:lnSpc>
                <a:spcPct val="120000"/>
              </a:lnSpc>
              <a:spcAft>
                <a:spcPts val="0"/>
              </a:spcAft>
            </a:pPr>
            <a:r>
              <a:rPr sz="1400" b="0" i="0">
                <a:solidFill>
                  <a:srgbClr val="9AA4DE"/>
                </a:solidFill>
                <a:latin typeface="Segoe UI"/>
              </a:rPr>
              <a:t>Diagnóstico, business case, plan de gestión y modelado de procesos: cuatro entregables que explican por qué se construyó la Plataforma CERMAT, no solo cómo.</a:t>
            </a:r>
          </a:p>
        </p:txBody>
      </p:sp>
      <p:sp>
        <p:nvSpPr>
          <p:cNvPr id="5" name="TextBox 4"/>
          <p:cNvSpPr txBox="1"/>
          <p:nvPr/>
        </p:nvSpPr>
        <p:spPr>
          <a:xfrm>
            <a:off x="731520" y="4846320"/>
            <a:ext cx="9144000" cy="365760"/>
          </a:xfrm>
          <a:prstGeom prst="rect">
            <a:avLst/>
          </a:prstGeom>
          <a:noFill/>
        </p:spPr>
        <p:txBody>
          <a:bodyPr wrap="square" anchor="t" lIns="0" rIns="0" tIns="0" bIns="0">
            <a:spAutoFit/>
          </a:bodyPr>
          <a:lstStyle/>
          <a:p>
            <a:pPr algn="l">
              <a:lnSpc>
                <a:spcPct val="100000"/>
              </a:lnSpc>
              <a:spcAft>
                <a:spcPts val="0"/>
              </a:spcAft>
            </a:pPr>
            <a:r>
              <a:rPr sz="1100" b="0" i="0">
                <a:solidFill>
                  <a:srgbClr val="9AA4DE"/>
                </a:solidFill>
                <a:latin typeface="Segoe UI"/>
              </a:rPr>
              <a:t>Academia La Prepa Cermat · Azángaro, Perú · 9° ciclo · Perfil de Egreso 2026</a:t>
            </a:r>
          </a:p>
        </p:txBody>
      </p:sp>
      <p:sp>
        <p:nvSpPr>
          <p:cNvPr id="6" name="TextBox 5"/>
          <p:cNvSpPr txBox="1"/>
          <p:nvPr/>
        </p:nvSpPr>
        <p:spPr>
          <a:xfrm>
            <a:off x="731520" y="5577840"/>
            <a:ext cx="7315200" cy="365760"/>
          </a:xfrm>
          <a:prstGeom prst="rect">
            <a:avLst/>
          </a:prstGeom>
          <a:noFill/>
        </p:spPr>
        <p:txBody>
          <a:bodyPr wrap="square" anchor="t" lIns="0" rIns="0" tIns="0" bIns="0">
            <a:spAutoFit/>
          </a:bodyPr>
          <a:lstStyle/>
          <a:p>
            <a:pPr algn="l">
              <a:lnSpc>
                <a:spcPct val="100000"/>
              </a:lnSpc>
              <a:spcAft>
                <a:spcPts val="0"/>
              </a:spcAft>
            </a:pPr>
            <a:r>
              <a:rPr sz="1500" b="1" i="0">
                <a:solidFill>
                  <a:srgbClr val="FFFFFF"/>
                </a:solidFill>
                <a:latin typeface="Segoe UI"/>
              </a:rPr>
              <a:t>Gracias. Quedamos atentos a sus preguntas.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