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78"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67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3572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(Presenta: David Robert Yucra Mamani) "Buenas tardes. Vamos a sustentar la línea CE01 de nuestro perfil de egreso: cuatro entregables que explican por qué se construyó la Plataforma CERMAT, no solo cómo. Tenemos 15 minutos, así que vamos directo al punto."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(Presenta: David Robert Yucra Mamani) "El orden es siempre el mismo: primero por qué era necesario el proyecto, después por qué esta solución y no otra, cómo se organizó, y qué cambió en la práctica. Cada uno de nosotros expone un entregable."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de hablar del sistema, hay que entender la academia: es un negocio donde los padres eligen según qué tan organizada se ve la institución. Por eso el seguimiento del alumno no es un detalle técnico, es el argumento de venta de CERMAT."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"Hicimos este FODA sobre la academia, no sobre el sistema. Las dos fortalezas que mencionamos — portales por rol y QR — ya existen, no son promesas. Y las amenazas, como la protección de datos de menores, las resolvemos en la línea de infraestructura."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nivel de madurez digital era medio-alto para el sector — ya hay una plataforma en producción — pero antes de ella, CERMAT operaba exactamente como el resto de academias de la zona: cuadernos, Excel y mensajería informal."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frase es el punto de partida de todo el perfil de egreso: el Business Case la retoma para justificar la inversión, y la línea de Ingeniería de Software la resuelve técnicamente."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son objetivos a futuro: los tres ya están en producción. Eso es lo que hace que este business case sea distinto — no estamos proyectando, estamos evaluando algo que ya funciona."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diferencia no está en el costo — el SaaS incluso pesa parecido en costo aparente. Está en el ajuste al flujo real: sedes, ciclos, turnos y grupos de CERMAT no son genéricos, y una plataforma propia es la única opción que se adapta al 100% y deja los datos en manos de la institución."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"Aclaramos siempre que estas cifras son estimadas para fines de sustentación, no reemplazan la contabilidad formal de la institución — eso es parte de la honestidad técnica de todo este perfil de egreso."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riesgo más real es el primero: somos un equipo pequeño. Por eso insistimos tanto en documentar todo — este perfil de egreso es, literalmente, la mitigación de ese riesgo."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"Marcamos con claridad qué NO incluye esta fase — pasarela de pagos automática y app móvil nativa — para que el jurado vea que el alcance fue una decisión consciente, no un olvido."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rama de esta EDT no es teórica: corresponde uno a uno con una carpeta features/ real del repositorio, con su propio esquema de datos y sus propias pantallas."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"Más de 90 documentos de fase y auditoría respaldan este cronograma — no es una promesa retroactiva, es historial real verificable por control de versiones."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"Decidimos ser honestos: no forzamos una notación Scrum que no usamos de verdad. Nuestro backlog priorizado por dominio funciona igual, solo que con otro nombre — fases, no sprints."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confirmar una matrícula tomaba de un día a varios días, y el padre no recibía ninguna confirmación formal — todo dependía de una llamada o de la memoria de secretaría."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"Esto no es diagrama de intención: está implementado en features/enrollments del repositorio, con auditoría propia documentando la deduplicación."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cuadro es el cierre de la línea CE01: el diagnóstico identificó el problema, el business case lo justificó económicamente, el plan lo organizó, y este modelado prueba, dimensión por dimensión, que el proceso realmente mejoró."</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(Presenta: David Robert Yucra Mamani) "Con esto cerramos la línea CE01. Quedamos atentos a sus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CD3B94E-0209-ABB2-6CA3-6ABE30E7A34F}"/>
              </a:ext>
            </a:extLst>
          </p:cNvPr>
          <p:cNvPicPr>
            <a:picLocks noChangeAspect="1"/>
          </p:cNvPicPr>
          <p:nvPr/>
        </p:nvPicPr>
        <p:blipFill>
          <a:blip r:embed="rId2"/>
          <a:stretch>
            <a:fillRect/>
          </a:stretch>
        </p:blipFill>
        <p:spPr>
          <a:xfrm>
            <a:off x="0" y="0"/>
            <a:ext cx="12192000" cy="6870922"/>
          </a:xfrm>
          <a:prstGeom prst="rect">
            <a:avLst/>
          </a:prstGeom>
        </p:spPr>
      </p:pic>
    </p:spTree>
    <p:extLst>
      <p:ext uri="{BB962C8B-B14F-4D97-AF65-F5344CB8AC3E}">
        <p14:creationId xmlns:p14="http://schemas.microsoft.com/office/powerpoint/2010/main" val="1676626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2559"/>
        </a:solidFill>
        <a:effectLst/>
      </p:bgPr>
    </p:bg>
    <p:spTree>
      <p:nvGrpSpPr>
        <p:cNvPr id="1" name=""/>
        <p:cNvGrpSpPr/>
        <p:nvPr/>
      </p:nvGrpSpPr>
      <p:grpSpPr>
        <a:xfrm>
          <a:off x="0" y="0"/>
          <a:ext cx="0" cy="0"/>
          <a:chOff x="0" y="0"/>
          <a:chExt cx="0" cy="0"/>
        </a:xfrm>
      </p:grpSpPr>
      <p:sp>
        <p:nvSpPr>
          <p:cNvPr id="2" name="TextBox 1"/>
          <p:cNvSpPr txBox="1"/>
          <p:nvPr/>
        </p:nvSpPr>
        <p:spPr>
          <a:xfrm>
            <a:off x="731520" y="822960"/>
            <a:ext cx="91440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AAB6FF"/>
                </a:solidFill>
                <a:latin typeface="Segoe UI"/>
              </a:rPr>
              <a:t>SUSTENTACIÓN · LÍNEA CE01 — GESTIÓN DE TECNOLOGÍAS DE INFORMACIÓN</a:t>
            </a:r>
          </a:p>
        </p:txBody>
      </p:sp>
      <p:sp>
        <p:nvSpPr>
          <p:cNvPr id="3" name="TextBox 2"/>
          <p:cNvSpPr txBox="1"/>
          <p:nvPr/>
        </p:nvSpPr>
        <p:spPr>
          <a:xfrm>
            <a:off x="731520" y="1371600"/>
            <a:ext cx="10515600" cy="2011680"/>
          </a:xfrm>
          <a:prstGeom prst="rect">
            <a:avLst/>
          </a:prstGeom>
          <a:noFill/>
        </p:spPr>
        <p:txBody>
          <a:bodyPr wrap="square" lIns="0" tIns="0" rIns="0" bIns="0" anchor="t">
            <a:spAutoFit/>
          </a:bodyPr>
          <a:lstStyle/>
          <a:p>
            <a:pPr algn="l">
              <a:lnSpc>
                <a:spcPct val="105000"/>
              </a:lnSpc>
              <a:spcAft>
                <a:spcPts val="0"/>
              </a:spcAft>
            </a:pPr>
            <a:r>
              <a:rPr sz="3800" b="0" i="0">
                <a:solidFill>
                  <a:srgbClr val="FFFFFF"/>
                </a:solidFill>
                <a:latin typeface="Segoe UI"/>
              </a:rPr>
              <a:t>Diagnóstico, Business Case,</a:t>
            </a:r>
          </a:p>
          <a:p>
            <a:pPr algn="l">
              <a:lnSpc>
                <a:spcPct val="105000"/>
              </a:lnSpc>
              <a:spcAft>
                <a:spcPts val="0"/>
              </a:spcAft>
            </a:pPr>
            <a:r>
              <a:rPr sz="3800" b="0" i="0">
                <a:solidFill>
                  <a:srgbClr val="FFFFFF"/>
                </a:solidFill>
                <a:latin typeface="Segoe UI"/>
              </a:rPr>
              <a:t>Plan de Gestión y Modelado de Procesos</a:t>
            </a:r>
          </a:p>
        </p:txBody>
      </p:sp>
      <p:sp>
        <p:nvSpPr>
          <p:cNvPr id="4" name="TextBox 3"/>
          <p:cNvSpPr txBox="1"/>
          <p:nvPr/>
        </p:nvSpPr>
        <p:spPr>
          <a:xfrm>
            <a:off x="731520" y="3246120"/>
            <a:ext cx="8686800" cy="640080"/>
          </a:xfrm>
          <a:prstGeom prst="rect">
            <a:avLst/>
          </a:prstGeom>
          <a:noFill/>
        </p:spPr>
        <p:txBody>
          <a:bodyPr wrap="square" lIns="0" tIns="0" rIns="0" bIns="0" anchor="t">
            <a:spAutoFit/>
          </a:bodyPr>
          <a:lstStyle/>
          <a:p>
            <a:pPr algn="l">
              <a:lnSpc>
                <a:spcPct val="100000"/>
              </a:lnSpc>
              <a:spcAft>
                <a:spcPts val="0"/>
              </a:spcAft>
            </a:pPr>
            <a:r>
              <a:rPr sz="1500" b="0" i="0">
                <a:solidFill>
                  <a:srgbClr val="9AA4DE"/>
                </a:solidFill>
                <a:latin typeface="Segoe UI"/>
              </a:rPr>
              <a:t>Plataforma Web Integral de Gestión Académica CERMAT — un sistema en producción, no un prototipo.</a:t>
            </a:r>
          </a:p>
        </p:txBody>
      </p:sp>
      <p:sp>
        <p:nvSpPr>
          <p:cNvPr id="5" name="Rectangle 4"/>
          <p:cNvSpPr/>
          <p:nvPr/>
        </p:nvSpPr>
        <p:spPr>
          <a:xfrm>
            <a:off x="731520" y="3977639"/>
            <a:ext cx="10515600" cy="12700"/>
          </a:xfrm>
          <a:prstGeom prst="rect">
            <a:avLst/>
          </a:prstGeom>
          <a:solidFill>
            <a:srgbClr val="333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206240"/>
            <a:ext cx="2423160" cy="27432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LÍDER</a:t>
            </a:r>
          </a:p>
        </p:txBody>
      </p:sp>
      <p:sp>
        <p:nvSpPr>
          <p:cNvPr id="7" name="TextBox 6"/>
          <p:cNvSpPr txBox="1"/>
          <p:nvPr/>
        </p:nvSpPr>
        <p:spPr>
          <a:xfrm>
            <a:off x="731520" y="4498848"/>
            <a:ext cx="2423160" cy="548640"/>
          </a:xfrm>
          <a:prstGeom prst="rect">
            <a:avLst/>
          </a:prstGeom>
          <a:noFill/>
        </p:spPr>
        <p:txBody>
          <a:bodyPr wrap="square" lIns="0" tIns="0" rIns="0" bIns="0" anchor="t">
            <a:spAutoFit/>
          </a:bodyPr>
          <a:lstStyle/>
          <a:p>
            <a:pPr algn="l">
              <a:lnSpc>
                <a:spcPct val="100000"/>
              </a:lnSpc>
              <a:spcAft>
                <a:spcPts val="0"/>
              </a:spcAft>
            </a:pPr>
            <a:r>
              <a:rPr sz="1400" b="0" i="0">
                <a:solidFill>
                  <a:srgbClr val="FFFFFF"/>
                </a:solidFill>
                <a:latin typeface="Segoe UI"/>
              </a:rPr>
              <a:t>David Robert Yucra Mamani</a:t>
            </a:r>
          </a:p>
        </p:txBody>
      </p:sp>
      <p:sp>
        <p:nvSpPr>
          <p:cNvPr id="8" name="TextBox 7"/>
          <p:cNvSpPr txBox="1"/>
          <p:nvPr/>
        </p:nvSpPr>
        <p:spPr>
          <a:xfrm>
            <a:off x="3337560" y="4206240"/>
            <a:ext cx="2423160" cy="27432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INTEGRANTE</a:t>
            </a:r>
          </a:p>
        </p:txBody>
      </p:sp>
      <p:sp>
        <p:nvSpPr>
          <p:cNvPr id="9" name="TextBox 8"/>
          <p:cNvSpPr txBox="1"/>
          <p:nvPr/>
        </p:nvSpPr>
        <p:spPr>
          <a:xfrm>
            <a:off x="3337560" y="4498848"/>
            <a:ext cx="2423160" cy="548640"/>
          </a:xfrm>
          <a:prstGeom prst="rect">
            <a:avLst/>
          </a:prstGeom>
          <a:noFill/>
        </p:spPr>
        <p:txBody>
          <a:bodyPr wrap="square" lIns="0" tIns="0" rIns="0" bIns="0" anchor="t">
            <a:spAutoFit/>
          </a:bodyPr>
          <a:lstStyle/>
          <a:p>
            <a:pPr algn="l">
              <a:lnSpc>
                <a:spcPct val="100000"/>
              </a:lnSpc>
              <a:spcAft>
                <a:spcPts val="0"/>
              </a:spcAft>
            </a:pPr>
            <a:r>
              <a:rPr sz="1400" b="0" i="0">
                <a:solidFill>
                  <a:srgbClr val="FFFFFF"/>
                </a:solidFill>
                <a:latin typeface="Segoe UI"/>
              </a:rPr>
              <a:t>Gladys Rosaura Yana Pari</a:t>
            </a:r>
          </a:p>
        </p:txBody>
      </p:sp>
      <p:sp>
        <p:nvSpPr>
          <p:cNvPr id="10" name="TextBox 9"/>
          <p:cNvSpPr txBox="1"/>
          <p:nvPr/>
        </p:nvSpPr>
        <p:spPr>
          <a:xfrm>
            <a:off x="5943600" y="4206240"/>
            <a:ext cx="2423160" cy="27432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INTEGRANTE</a:t>
            </a:r>
          </a:p>
        </p:txBody>
      </p:sp>
      <p:sp>
        <p:nvSpPr>
          <p:cNvPr id="11" name="TextBox 10"/>
          <p:cNvSpPr txBox="1"/>
          <p:nvPr/>
        </p:nvSpPr>
        <p:spPr>
          <a:xfrm>
            <a:off x="5943600" y="4498848"/>
            <a:ext cx="2423160" cy="548640"/>
          </a:xfrm>
          <a:prstGeom prst="rect">
            <a:avLst/>
          </a:prstGeom>
          <a:noFill/>
        </p:spPr>
        <p:txBody>
          <a:bodyPr wrap="square" lIns="0" tIns="0" rIns="0" bIns="0" anchor="t">
            <a:spAutoFit/>
          </a:bodyPr>
          <a:lstStyle/>
          <a:p>
            <a:pPr algn="l">
              <a:lnSpc>
                <a:spcPct val="100000"/>
              </a:lnSpc>
              <a:spcAft>
                <a:spcPts val="0"/>
              </a:spcAft>
            </a:pPr>
            <a:r>
              <a:rPr sz="1400" b="0" i="0">
                <a:solidFill>
                  <a:srgbClr val="FFFFFF"/>
                </a:solidFill>
                <a:latin typeface="Segoe UI"/>
              </a:rPr>
              <a:t>Denilson Leeke Mamani Flores</a:t>
            </a:r>
          </a:p>
        </p:txBody>
      </p:sp>
      <p:sp>
        <p:nvSpPr>
          <p:cNvPr id="12" name="TextBox 11"/>
          <p:cNvSpPr txBox="1"/>
          <p:nvPr/>
        </p:nvSpPr>
        <p:spPr>
          <a:xfrm>
            <a:off x="8549640" y="4206240"/>
            <a:ext cx="2423160" cy="27432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INTEGRANTE</a:t>
            </a:r>
          </a:p>
        </p:txBody>
      </p:sp>
      <p:sp>
        <p:nvSpPr>
          <p:cNvPr id="13" name="TextBox 12"/>
          <p:cNvSpPr txBox="1"/>
          <p:nvPr/>
        </p:nvSpPr>
        <p:spPr>
          <a:xfrm>
            <a:off x="8549640" y="4498848"/>
            <a:ext cx="2423160" cy="548640"/>
          </a:xfrm>
          <a:prstGeom prst="rect">
            <a:avLst/>
          </a:prstGeom>
          <a:noFill/>
        </p:spPr>
        <p:txBody>
          <a:bodyPr wrap="square" lIns="0" tIns="0" rIns="0" bIns="0" anchor="t">
            <a:spAutoFit/>
          </a:bodyPr>
          <a:lstStyle/>
          <a:p>
            <a:pPr algn="l">
              <a:lnSpc>
                <a:spcPct val="100000"/>
              </a:lnSpc>
              <a:spcAft>
                <a:spcPts val="0"/>
              </a:spcAft>
            </a:pPr>
            <a:r>
              <a:rPr sz="1400" b="0" i="0">
                <a:solidFill>
                  <a:srgbClr val="FFFFFF"/>
                </a:solidFill>
                <a:latin typeface="Segoe UI"/>
              </a:rPr>
              <a:t>Cárdenas Vilca Rennzo</a:t>
            </a:r>
          </a:p>
        </p:txBody>
      </p:sp>
      <p:sp>
        <p:nvSpPr>
          <p:cNvPr id="14" name="TextBox 13"/>
          <p:cNvSpPr txBox="1"/>
          <p:nvPr/>
        </p:nvSpPr>
        <p:spPr>
          <a:xfrm>
            <a:off x="731520" y="5349240"/>
            <a:ext cx="10058400" cy="365760"/>
          </a:xfrm>
          <a:prstGeom prst="rect">
            <a:avLst/>
          </a:prstGeom>
          <a:noFill/>
        </p:spPr>
        <p:txBody>
          <a:bodyPr wrap="square" lIns="0" tIns="0" rIns="0" bIns="0" anchor="t">
            <a:spAutoFit/>
          </a:bodyPr>
          <a:lstStyle/>
          <a:p>
            <a:pPr algn="l">
              <a:lnSpc>
                <a:spcPct val="100000"/>
              </a:lnSpc>
              <a:spcAft>
                <a:spcPts val="0"/>
              </a:spcAft>
            </a:pPr>
            <a:r>
              <a:rPr sz="1150" b="0" i="0">
                <a:solidFill>
                  <a:srgbClr val="9AA4DE"/>
                </a:solidFill>
                <a:latin typeface="Segoe UI"/>
              </a:rPr>
              <a:t>Academia La Prepa Cermat · Azángaro, Perú      9° ciclo      Perfil de Egreso (EPE) 2026</a:t>
            </a:r>
          </a:p>
        </p:txBody>
      </p:sp>
      <p:sp>
        <p:nvSpPr>
          <p:cNvPr id="15" name="TextBox 14"/>
          <p:cNvSpPr txBox="1"/>
          <p:nvPr/>
        </p:nvSpPr>
        <p:spPr>
          <a:xfrm>
            <a:off x="731520" y="5852160"/>
            <a:ext cx="10058400" cy="365760"/>
          </a:xfrm>
          <a:prstGeom prst="rect">
            <a:avLst/>
          </a:prstGeom>
          <a:noFill/>
        </p:spPr>
        <p:txBody>
          <a:bodyPr wrap="square" lIns="0" tIns="0" rIns="0" bIns="0" anchor="t">
            <a:spAutoFit/>
          </a:bodyPr>
          <a:lstStyle/>
          <a:p>
            <a:pPr algn="l">
              <a:lnSpc>
                <a:spcPct val="100000"/>
              </a:lnSpc>
              <a:spcAft>
                <a:spcPts val="0"/>
              </a:spcAft>
            </a:pPr>
            <a:r>
              <a:rPr sz="1150" b="1" i="0">
                <a:solidFill>
                  <a:srgbClr val="AAB6FF"/>
                </a:solidFill>
                <a:latin typeface="Segoe UI"/>
              </a:rPr>
              <a:t>Duración objetivo: 15 minutos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640080"/>
            <a:ext cx="7315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AGENDA · 15 MINUTOS</a:t>
            </a:r>
          </a:p>
        </p:txBody>
      </p:sp>
      <p:sp>
        <p:nvSpPr>
          <p:cNvPr id="3" name="TextBox 2"/>
          <p:cNvSpPr txBox="1"/>
          <p:nvPr/>
        </p:nvSpPr>
        <p:spPr>
          <a:xfrm>
            <a:off x="731520" y="1005840"/>
            <a:ext cx="9601200" cy="822960"/>
          </a:xfrm>
          <a:prstGeom prst="rect">
            <a:avLst/>
          </a:prstGeom>
          <a:noFill/>
        </p:spPr>
        <p:txBody>
          <a:bodyPr wrap="square" lIns="0" tIns="0" rIns="0" bIns="0" anchor="t">
            <a:spAutoFit/>
          </a:bodyPr>
          <a:lstStyle/>
          <a:p>
            <a:pPr algn="l">
              <a:lnSpc>
                <a:spcPct val="100000"/>
              </a:lnSpc>
              <a:spcAft>
                <a:spcPts val="0"/>
              </a:spcAft>
            </a:pPr>
            <a:r>
              <a:rPr sz="2600" b="0" i="0">
                <a:solidFill>
                  <a:srgbClr val="1B2559"/>
                </a:solidFill>
                <a:latin typeface="Segoe UI"/>
              </a:rPr>
              <a:t>Cuatro entregables, un mismo hilo: del diagnóstico a la ejecución</a:t>
            </a:r>
          </a:p>
        </p:txBody>
      </p:sp>
      <p:sp>
        <p:nvSpPr>
          <p:cNvPr id="4" name="Rectangle 3"/>
          <p:cNvSpPr/>
          <p:nvPr/>
        </p:nvSpPr>
        <p:spPr>
          <a:xfrm>
            <a:off x="731520" y="2011680"/>
            <a:ext cx="10698480" cy="12700"/>
          </a:xfrm>
          <a:prstGeom prst="rect">
            <a:avLst/>
          </a:prstGeom>
          <a:solidFill>
            <a:srgbClr val="D8D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2834640"/>
            <a:ext cx="10698480" cy="12700"/>
          </a:xfrm>
          <a:prstGeom prst="rect">
            <a:avLst/>
          </a:prstGeom>
          <a:solidFill>
            <a:srgbClr val="D8D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057400"/>
            <a:ext cx="822960" cy="457200"/>
          </a:xfrm>
          <a:prstGeom prst="rect">
            <a:avLst/>
          </a:prstGeom>
          <a:noFill/>
        </p:spPr>
        <p:txBody>
          <a:bodyPr wrap="square" lIns="0" tIns="0" rIns="0" bIns="0" anchor="t">
            <a:spAutoFit/>
          </a:bodyPr>
          <a:lstStyle/>
          <a:p>
            <a:pPr algn="l">
              <a:lnSpc>
                <a:spcPct val="100000"/>
              </a:lnSpc>
              <a:spcAft>
                <a:spcPts val="0"/>
              </a:spcAft>
            </a:pPr>
            <a:r>
              <a:rPr sz="2000" b="1" i="0">
                <a:solidFill>
                  <a:srgbClr val="3B5BDB"/>
                </a:solidFill>
                <a:latin typeface="Segoe UI"/>
              </a:rPr>
              <a:t>E1</a:t>
            </a:r>
          </a:p>
        </p:txBody>
      </p:sp>
      <p:sp>
        <p:nvSpPr>
          <p:cNvPr id="7" name="TextBox 6"/>
          <p:cNvSpPr txBox="1"/>
          <p:nvPr/>
        </p:nvSpPr>
        <p:spPr>
          <a:xfrm>
            <a:off x="1691640" y="2057400"/>
            <a:ext cx="6035040" cy="457200"/>
          </a:xfrm>
          <a:prstGeom prst="rect">
            <a:avLst/>
          </a:prstGeom>
          <a:noFill/>
        </p:spPr>
        <p:txBody>
          <a:bodyPr wrap="square" lIns="0" tIns="0" rIns="0" bIns="0" anchor="t">
            <a:spAutoFit/>
          </a:bodyPr>
          <a:lstStyle/>
          <a:p>
            <a:pPr algn="l">
              <a:lnSpc>
                <a:spcPct val="100000"/>
              </a:lnSpc>
              <a:spcAft>
                <a:spcPts val="0"/>
              </a:spcAft>
            </a:pPr>
            <a:r>
              <a:rPr sz="1550" b="0" i="0">
                <a:solidFill>
                  <a:srgbClr val="1B2559"/>
                </a:solidFill>
                <a:latin typeface="Segoe UI"/>
              </a:rPr>
              <a:t>Diagnóstico Organizacional y Alineamiento Estratégico</a:t>
            </a:r>
          </a:p>
        </p:txBody>
      </p:sp>
      <p:sp>
        <p:nvSpPr>
          <p:cNvPr id="8" name="TextBox 7"/>
          <p:cNvSpPr txBox="1"/>
          <p:nvPr/>
        </p:nvSpPr>
        <p:spPr>
          <a:xfrm>
            <a:off x="1691640" y="2441448"/>
            <a:ext cx="6035040" cy="320040"/>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CE0111–CE0115</a:t>
            </a:r>
          </a:p>
        </p:txBody>
      </p:sp>
      <p:sp>
        <p:nvSpPr>
          <p:cNvPr id="9" name="TextBox 8"/>
          <p:cNvSpPr txBox="1"/>
          <p:nvPr/>
        </p:nvSpPr>
        <p:spPr>
          <a:xfrm>
            <a:off x="7909560" y="2148840"/>
            <a:ext cx="2377440" cy="365760"/>
          </a:xfrm>
          <a:prstGeom prst="rect">
            <a:avLst/>
          </a:prstGeom>
          <a:noFill/>
        </p:spPr>
        <p:txBody>
          <a:bodyPr wrap="square" lIns="0" tIns="0" rIns="0" bIns="0" anchor="t">
            <a:spAutoFit/>
          </a:bodyPr>
          <a:lstStyle/>
          <a:p>
            <a:pPr algn="l">
              <a:lnSpc>
                <a:spcPct val="100000"/>
              </a:lnSpc>
              <a:spcAft>
                <a:spcPts val="0"/>
              </a:spcAft>
            </a:pPr>
            <a:r>
              <a:rPr sz="1150" b="0" i="0">
                <a:solidFill>
                  <a:srgbClr val="454F78"/>
                </a:solidFill>
                <a:latin typeface="Segoe UI"/>
              </a:rPr>
              <a:t>Expone: David Robert Yucra Mamani</a:t>
            </a:r>
          </a:p>
        </p:txBody>
      </p:sp>
      <p:sp>
        <p:nvSpPr>
          <p:cNvPr id="10" name="TextBox 9"/>
          <p:cNvSpPr txBox="1"/>
          <p:nvPr/>
        </p:nvSpPr>
        <p:spPr>
          <a:xfrm>
            <a:off x="10378440" y="2148840"/>
            <a:ext cx="1005840" cy="365760"/>
          </a:xfrm>
          <a:prstGeom prst="rect">
            <a:avLst/>
          </a:prstGeom>
          <a:noFill/>
        </p:spPr>
        <p:txBody>
          <a:bodyPr wrap="square" lIns="0" tIns="0" rIns="0" bIns="0" anchor="t">
            <a:spAutoFit/>
          </a:bodyPr>
          <a:lstStyle/>
          <a:p>
            <a:pPr algn="r">
              <a:lnSpc>
                <a:spcPct val="100000"/>
              </a:lnSpc>
              <a:spcAft>
                <a:spcPts val="0"/>
              </a:spcAft>
            </a:pPr>
            <a:r>
              <a:rPr sz="1300" b="1" i="0">
                <a:solidFill>
                  <a:srgbClr val="1B2559"/>
                </a:solidFill>
                <a:latin typeface="Segoe UI"/>
              </a:rPr>
              <a:t>3:30</a:t>
            </a:r>
          </a:p>
        </p:txBody>
      </p:sp>
      <p:sp>
        <p:nvSpPr>
          <p:cNvPr id="11" name="Rectangle 10"/>
          <p:cNvSpPr/>
          <p:nvPr/>
        </p:nvSpPr>
        <p:spPr>
          <a:xfrm>
            <a:off x="731520" y="3703320"/>
            <a:ext cx="10698480" cy="12700"/>
          </a:xfrm>
          <a:prstGeom prst="rect">
            <a:avLst/>
          </a:prstGeom>
          <a:solidFill>
            <a:srgbClr val="D8D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926080"/>
            <a:ext cx="822960" cy="457200"/>
          </a:xfrm>
          <a:prstGeom prst="rect">
            <a:avLst/>
          </a:prstGeom>
          <a:noFill/>
        </p:spPr>
        <p:txBody>
          <a:bodyPr wrap="square" lIns="0" tIns="0" rIns="0" bIns="0" anchor="t">
            <a:spAutoFit/>
          </a:bodyPr>
          <a:lstStyle/>
          <a:p>
            <a:pPr algn="l">
              <a:lnSpc>
                <a:spcPct val="100000"/>
              </a:lnSpc>
              <a:spcAft>
                <a:spcPts val="0"/>
              </a:spcAft>
            </a:pPr>
            <a:r>
              <a:rPr sz="2000" b="1" i="0">
                <a:solidFill>
                  <a:srgbClr val="3B5BDB"/>
                </a:solidFill>
                <a:latin typeface="Segoe UI"/>
              </a:rPr>
              <a:t>E2</a:t>
            </a:r>
          </a:p>
        </p:txBody>
      </p:sp>
      <p:sp>
        <p:nvSpPr>
          <p:cNvPr id="13" name="TextBox 12"/>
          <p:cNvSpPr txBox="1"/>
          <p:nvPr/>
        </p:nvSpPr>
        <p:spPr>
          <a:xfrm>
            <a:off x="1691640" y="2926080"/>
            <a:ext cx="6035040" cy="457200"/>
          </a:xfrm>
          <a:prstGeom prst="rect">
            <a:avLst/>
          </a:prstGeom>
          <a:noFill/>
        </p:spPr>
        <p:txBody>
          <a:bodyPr wrap="square" lIns="0" tIns="0" rIns="0" bIns="0" anchor="t">
            <a:spAutoFit/>
          </a:bodyPr>
          <a:lstStyle/>
          <a:p>
            <a:pPr algn="l">
              <a:lnSpc>
                <a:spcPct val="100000"/>
              </a:lnSpc>
              <a:spcAft>
                <a:spcPts val="0"/>
              </a:spcAft>
            </a:pPr>
            <a:r>
              <a:rPr sz="1550" b="0" i="0">
                <a:solidFill>
                  <a:srgbClr val="1B2559"/>
                </a:solidFill>
                <a:latin typeface="Segoe UI"/>
              </a:rPr>
              <a:t>Business Case del Proyecto</a:t>
            </a:r>
          </a:p>
        </p:txBody>
      </p:sp>
      <p:sp>
        <p:nvSpPr>
          <p:cNvPr id="14" name="TextBox 13"/>
          <p:cNvSpPr txBox="1"/>
          <p:nvPr/>
        </p:nvSpPr>
        <p:spPr>
          <a:xfrm>
            <a:off x="1691640" y="3310128"/>
            <a:ext cx="6035040" cy="320040"/>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CE0113</a:t>
            </a:r>
          </a:p>
        </p:txBody>
      </p:sp>
      <p:sp>
        <p:nvSpPr>
          <p:cNvPr id="15" name="TextBox 14"/>
          <p:cNvSpPr txBox="1"/>
          <p:nvPr/>
        </p:nvSpPr>
        <p:spPr>
          <a:xfrm>
            <a:off x="7909560" y="3017520"/>
            <a:ext cx="2377440" cy="365760"/>
          </a:xfrm>
          <a:prstGeom prst="rect">
            <a:avLst/>
          </a:prstGeom>
          <a:noFill/>
        </p:spPr>
        <p:txBody>
          <a:bodyPr wrap="square" lIns="0" tIns="0" rIns="0" bIns="0" anchor="t">
            <a:spAutoFit/>
          </a:bodyPr>
          <a:lstStyle/>
          <a:p>
            <a:pPr algn="l">
              <a:lnSpc>
                <a:spcPct val="100000"/>
              </a:lnSpc>
              <a:spcAft>
                <a:spcPts val="0"/>
              </a:spcAft>
            </a:pPr>
            <a:r>
              <a:rPr sz="1150" b="0" i="0">
                <a:solidFill>
                  <a:srgbClr val="454F78"/>
                </a:solidFill>
                <a:latin typeface="Segoe UI"/>
              </a:rPr>
              <a:t>Expone: Denilson Leeke Mamani Flores</a:t>
            </a:r>
          </a:p>
        </p:txBody>
      </p:sp>
      <p:sp>
        <p:nvSpPr>
          <p:cNvPr id="16" name="TextBox 15"/>
          <p:cNvSpPr txBox="1"/>
          <p:nvPr/>
        </p:nvSpPr>
        <p:spPr>
          <a:xfrm>
            <a:off x="10378440" y="3017520"/>
            <a:ext cx="1005840" cy="365760"/>
          </a:xfrm>
          <a:prstGeom prst="rect">
            <a:avLst/>
          </a:prstGeom>
          <a:noFill/>
        </p:spPr>
        <p:txBody>
          <a:bodyPr wrap="square" lIns="0" tIns="0" rIns="0" bIns="0" anchor="t">
            <a:spAutoFit/>
          </a:bodyPr>
          <a:lstStyle/>
          <a:p>
            <a:pPr algn="r">
              <a:lnSpc>
                <a:spcPct val="100000"/>
              </a:lnSpc>
              <a:spcAft>
                <a:spcPts val="0"/>
              </a:spcAft>
            </a:pPr>
            <a:r>
              <a:rPr sz="1300" b="1" i="0">
                <a:solidFill>
                  <a:srgbClr val="1B2559"/>
                </a:solidFill>
                <a:latin typeface="Segoe UI"/>
              </a:rPr>
              <a:t>3:00</a:t>
            </a:r>
          </a:p>
        </p:txBody>
      </p:sp>
      <p:sp>
        <p:nvSpPr>
          <p:cNvPr id="17" name="Rectangle 16"/>
          <p:cNvSpPr/>
          <p:nvPr/>
        </p:nvSpPr>
        <p:spPr>
          <a:xfrm>
            <a:off x="731520" y="4572000"/>
            <a:ext cx="10698480" cy="12700"/>
          </a:xfrm>
          <a:prstGeom prst="rect">
            <a:avLst/>
          </a:prstGeom>
          <a:solidFill>
            <a:srgbClr val="D8D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794760"/>
            <a:ext cx="822960" cy="457200"/>
          </a:xfrm>
          <a:prstGeom prst="rect">
            <a:avLst/>
          </a:prstGeom>
          <a:noFill/>
        </p:spPr>
        <p:txBody>
          <a:bodyPr wrap="square" lIns="0" tIns="0" rIns="0" bIns="0" anchor="t">
            <a:spAutoFit/>
          </a:bodyPr>
          <a:lstStyle/>
          <a:p>
            <a:pPr algn="l">
              <a:lnSpc>
                <a:spcPct val="100000"/>
              </a:lnSpc>
              <a:spcAft>
                <a:spcPts val="0"/>
              </a:spcAft>
            </a:pPr>
            <a:r>
              <a:rPr sz="2000" b="1" i="0">
                <a:solidFill>
                  <a:srgbClr val="3B5BDB"/>
                </a:solidFill>
                <a:latin typeface="Segoe UI"/>
              </a:rPr>
              <a:t>E3</a:t>
            </a:r>
          </a:p>
        </p:txBody>
      </p:sp>
      <p:sp>
        <p:nvSpPr>
          <p:cNvPr id="19" name="TextBox 18"/>
          <p:cNvSpPr txBox="1"/>
          <p:nvPr/>
        </p:nvSpPr>
        <p:spPr>
          <a:xfrm>
            <a:off x="1691640" y="3794760"/>
            <a:ext cx="6035040" cy="457200"/>
          </a:xfrm>
          <a:prstGeom prst="rect">
            <a:avLst/>
          </a:prstGeom>
          <a:noFill/>
        </p:spPr>
        <p:txBody>
          <a:bodyPr wrap="square" lIns="0" tIns="0" rIns="0" bIns="0" anchor="t">
            <a:spAutoFit/>
          </a:bodyPr>
          <a:lstStyle/>
          <a:p>
            <a:pPr algn="l">
              <a:lnSpc>
                <a:spcPct val="100000"/>
              </a:lnSpc>
              <a:spcAft>
                <a:spcPts val="0"/>
              </a:spcAft>
            </a:pPr>
            <a:r>
              <a:rPr sz="1550" b="0" i="0">
                <a:solidFill>
                  <a:srgbClr val="1B2559"/>
                </a:solidFill>
                <a:latin typeface="Segoe UI"/>
              </a:rPr>
              <a:t>Plan de Gestión del Proyecto</a:t>
            </a:r>
          </a:p>
        </p:txBody>
      </p:sp>
      <p:sp>
        <p:nvSpPr>
          <p:cNvPr id="20" name="TextBox 19"/>
          <p:cNvSpPr txBox="1"/>
          <p:nvPr/>
        </p:nvSpPr>
        <p:spPr>
          <a:xfrm>
            <a:off x="1691640" y="4178808"/>
            <a:ext cx="6035040" cy="320040"/>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CE0121–CE0125</a:t>
            </a:r>
          </a:p>
        </p:txBody>
      </p:sp>
      <p:sp>
        <p:nvSpPr>
          <p:cNvPr id="21" name="TextBox 20"/>
          <p:cNvSpPr txBox="1"/>
          <p:nvPr/>
        </p:nvSpPr>
        <p:spPr>
          <a:xfrm>
            <a:off x="7909560" y="3886200"/>
            <a:ext cx="2377440" cy="365760"/>
          </a:xfrm>
          <a:prstGeom prst="rect">
            <a:avLst/>
          </a:prstGeom>
          <a:noFill/>
        </p:spPr>
        <p:txBody>
          <a:bodyPr wrap="square" lIns="0" tIns="0" rIns="0" bIns="0" anchor="t">
            <a:spAutoFit/>
          </a:bodyPr>
          <a:lstStyle/>
          <a:p>
            <a:pPr algn="l">
              <a:lnSpc>
                <a:spcPct val="100000"/>
              </a:lnSpc>
              <a:spcAft>
                <a:spcPts val="0"/>
              </a:spcAft>
            </a:pPr>
            <a:r>
              <a:rPr sz="1150" b="0" i="0">
                <a:solidFill>
                  <a:srgbClr val="454F78"/>
                </a:solidFill>
                <a:latin typeface="Segoe UI"/>
              </a:rPr>
              <a:t>Expone: Cárdenas Vilca Rennzo</a:t>
            </a:r>
          </a:p>
        </p:txBody>
      </p:sp>
      <p:sp>
        <p:nvSpPr>
          <p:cNvPr id="22" name="TextBox 21"/>
          <p:cNvSpPr txBox="1"/>
          <p:nvPr/>
        </p:nvSpPr>
        <p:spPr>
          <a:xfrm>
            <a:off x="10378440" y="3886200"/>
            <a:ext cx="1005840" cy="365760"/>
          </a:xfrm>
          <a:prstGeom prst="rect">
            <a:avLst/>
          </a:prstGeom>
          <a:noFill/>
        </p:spPr>
        <p:txBody>
          <a:bodyPr wrap="square" lIns="0" tIns="0" rIns="0" bIns="0" anchor="t">
            <a:spAutoFit/>
          </a:bodyPr>
          <a:lstStyle/>
          <a:p>
            <a:pPr algn="r">
              <a:lnSpc>
                <a:spcPct val="100000"/>
              </a:lnSpc>
              <a:spcAft>
                <a:spcPts val="0"/>
              </a:spcAft>
            </a:pPr>
            <a:r>
              <a:rPr sz="1300" b="1" i="0">
                <a:solidFill>
                  <a:srgbClr val="1B2559"/>
                </a:solidFill>
                <a:latin typeface="Segoe UI"/>
              </a:rPr>
              <a:t>3:15</a:t>
            </a:r>
          </a:p>
        </p:txBody>
      </p:sp>
      <p:sp>
        <p:nvSpPr>
          <p:cNvPr id="23" name="Rectangle 22"/>
          <p:cNvSpPr/>
          <p:nvPr/>
        </p:nvSpPr>
        <p:spPr>
          <a:xfrm>
            <a:off x="731520" y="5440680"/>
            <a:ext cx="10698480" cy="12700"/>
          </a:xfrm>
          <a:prstGeom prst="rect">
            <a:avLst/>
          </a:prstGeom>
          <a:solidFill>
            <a:srgbClr val="D8D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4663440"/>
            <a:ext cx="822960" cy="457200"/>
          </a:xfrm>
          <a:prstGeom prst="rect">
            <a:avLst/>
          </a:prstGeom>
          <a:noFill/>
        </p:spPr>
        <p:txBody>
          <a:bodyPr wrap="square" lIns="0" tIns="0" rIns="0" bIns="0" anchor="t">
            <a:spAutoFit/>
          </a:bodyPr>
          <a:lstStyle/>
          <a:p>
            <a:pPr algn="l">
              <a:lnSpc>
                <a:spcPct val="100000"/>
              </a:lnSpc>
              <a:spcAft>
                <a:spcPts val="0"/>
              </a:spcAft>
            </a:pPr>
            <a:r>
              <a:rPr sz="2000" b="1" i="0">
                <a:solidFill>
                  <a:srgbClr val="3B5BDB"/>
                </a:solidFill>
                <a:latin typeface="Segoe UI"/>
              </a:rPr>
              <a:t>E4</a:t>
            </a:r>
          </a:p>
        </p:txBody>
      </p:sp>
      <p:sp>
        <p:nvSpPr>
          <p:cNvPr id="25" name="TextBox 24"/>
          <p:cNvSpPr txBox="1"/>
          <p:nvPr/>
        </p:nvSpPr>
        <p:spPr>
          <a:xfrm>
            <a:off x="1691640" y="4663440"/>
            <a:ext cx="6035040" cy="457200"/>
          </a:xfrm>
          <a:prstGeom prst="rect">
            <a:avLst/>
          </a:prstGeom>
          <a:noFill/>
        </p:spPr>
        <p:txBody>
          <a:bodyPr wrap="square" lIns="0" tIns="0" rIns="0" bIns="0" anchor="t">
            <a:spAutoFit/>
          </a:bodyPr>
          <a:lstStyle/>
          <a:p>
            <a:pPr algn="l">
              <a:lnSpc>
                <a:spcPct val="100000"/>
              </a:lnSpc>
              <a:spcAft>
                <a:spcPts val="0"/>
              </a:spcAft>
            </a:pPr>
            <a:r>
              <a:rPr sz="1550" b="0" i="0">
                <a:solidFill>
                  <a:srgbClr val="1B2559"/>
                </a:solidFill>
                <a:latin typeface="Segoe UI"/>
              </a:rPr>
              <a:t>Modelado de Procesos AS-IS / TO-BE</a:t>
            </a:r>
          </a:p>
        </p:txBody>
      </p:sp>
      <p:sp>
        <p:nvSpPr>
          <p:cNvPr id="26" name="TextBox 25"/>
          <p:cNvSpPr txBox="1"/>
          <p:nvPr/>
        </p:nvSpPr>
        <p:spPr>
          <a:xfrm>
            <a:off x="1691640" y="5047488"/>
            <a:ext cx="6035040" cy="320040"/>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CE0131–CE0135</a:t>
            </a:r>
          </a:p>
        </p:txBody>
      </p:sp>
      <p:sp>
        <p:nvSpPr>
          <p:cNvPr id="27" name="TextBox 26"/>
          <p:cNvSpPr txBox="1"/>
          <p:nvPr/>
        </p:nvSpPr>
        <p:spPr>
          <a:xfrm>
            <a:off x="7909560" y="4754880"/>
            <a:ext cx="2377440" cy="365760"/>
          </a:xfrm>
          <a:prstGeom prst="rect">
            <a:avLst/>
          </a:prstGeom>
          <a:noFill/>
        </p:spPr>
        <p:txBody>
          <a:bodyPr wrap="square" lIns="0" tIns="0" rIns="0" bIns="0" anchor="t">
            <a:spAutoFit/>
          </a:bodyPr>
          <a:lstStyle/>
          <a:p>
            <a:pPr algn="l">
              <a:lnSpc>
                <a:spcPct val="100000"/>
              </a:lnSpc>
              <a:spcAft>
                <a:spcPts val="0"/>
              </a:spcAft>
            </a:pPr>
            <a:r>
              <a:rPr sz="1150" b="0" i="0">
                <a:solidFill>
                  <a:srgbClr val="454F78"/>
                </a:solidFill>
                <a:latin typeface="Segoe UI"/>
              </a:rPr>
              <a:t>Expone: Gladys Rosaura Yana Pari</a:t>
            </a:r>
          </a:p>
        </p:txBody>
      </p:sp>
      <p:sp>
        <p:nvSpPr>
          <p:cNvPr id="28" name="TextBox 27"/>
          <p:cNvSpPr txBox="1"/>
          <p:nvPr/>
        </p:nvSpPr>
        <p:spPr>
          <a:xfrm>
            <a:off x="10378440" y="4754880"/>
            <a:ext cx="1005840" cy="365760"/>
          </a:xfrm>
          <a:prstGeom prst="rect">
            <a:avLst/>
          </a:prstGeom>
          <a:noFill/>
        </p:spPr>
        <p:txBody>
          <a:bodyPr wrap="square" lIns="0" tIns="0" rIns="0" bIns="0" anchor="t">
            <a:spAutoFit/>
          </a:bodyPr>
          <a:lstStyle/>
          <a:p>
            <a:pPr algn="r">
              <a:lnSpc>
                <a:spcPct val="100000"/>
              </a:lnSpc>
              <a:spcAft>
                <a:spcPts val="0"/>
              </a:spcAft>
            </a:pPr>
            <a:r>
              <a:rPr sz="1300" b="1" i="0">
                <a:solidFill>
                  <a:srgbClr val="1B2559"/>
                </a:solidFill>
                <a:latin typeface="Segoe UI"/>
              </a:rPr>
              <a:t>2:35</a:t>
            </a:r>
          </a:p>
        </p:txBody>
      </p:sp>
      <p:sp>
        <p:nvSpPr>
          <p:cNvPr id="29" name="TextBox 28"/>
          <p:cNvSpPr txBox="1"/>
          <p:nvPr/>
        </p:nvSpPr>
        <p:spPr>
          <a:xfrm>
            <a:off x="731520" y="6172200"/>
            <a:ext cx="10058400" cy="365760"/>
          </a:xfrm>
          <a:prstGeom prst="rect">
            <a:avLst/>
          </a:prstGeom>
          <a:noFill/>
        </p:spPr>
        <p:txBody>
          <a:bodyPr wrap="square" lIns="0" tIns="0" rIns="0" bIns="0" anchor="t">
            <a:spAutoFit/>
          </a:bodyPr>
          <a:lstStyle/>
          <a:p>
            <a:pPr algn="l">
              <a:lnSpc>
                <a:spcPct val="100000"/>
              </a:lnSpc>
              <a:spcAft>
                <a:spcPts val="0"/>
              </a:spcAft>
            </a:pPr>
            <a:r>
              <a:rPr sz="1100" b="0" i="1">
                <a:solidFill>
                  <a:srgbClr val="454F78"/>
                </a:solidFill>
                <a:latin typeface="Segoe UI"/>
              </a:rPr>
              <a:t>Apertura y cierre a cargo de David Robert Yucra Mamani  ·  Total estimado: ~14:00, con margen hasta 15:00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559"/>
        </a:solidFill>
        <a:effectLst/>
      </p:bgPr>
    </p:bg>
    <p:spTree>
      <p:nvGrpSpPr>
        <p:cNvPr id="1" name=""/>
        <p:cNvGrpSpPr/>
        <p:nvPr/>
      </p:nvGrpSpPr>
      <p:grpSpPr>
        <a:xfrm>
          <a:off x="0" y="0"/>
          <a:ext cx="0" cy="0"/>
          <a:chOff x="0" y="0"/>
          <a:chExt cx="0" cy="0"/>
        </a:xfrm>
      </p:grpSpPr>
      <p:sp>
        <p:nvSpPr>
          <p:cNvPr id="2" name="TextBox 1"/>
          <p:cNvSpPr txBox="1"/>
          <p:nvPr/>
        </p:nvSpPr>
        <p:spPr>
          <a:xfrm>
            <a:off x="731520" y="1828800"/>
            <a:ext cx="82296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AAB6FF"/>
                </a:solidFill>
                <a:latin typeface="Segoe UI"/>
              </a:rPr>
              <a:t>ENTREGABLE 01</a:t>
            </a:r>
          </a:p>
        </p:txBody>
      </p:sp>
      <p:sp>
        <p:nvSpPr>
          <p:cNvPr id="3" name="TextBox 2"/>
          <p:cNvSpPr txBox="1"/>
          <p:nvPr/>
        </p:nvSpPr>
        <p:spPr>
          <a:xfrm>
            <a:off x="731520" y="2331720"/>
            <a:ext cx="7863840" cy="1463040"/>
          </a:xfrm>
          <a:prstGeom prst="rect">
            <a:avLst/>
          </a:prstGeom>
          <a:noFill/>
        </p:spPr>
        <p:txBody>
          <a:bodyPr wrap="square" lIns="0" tIns="0" rIns="0" bIns="0" anchor="t">
            <a:spAutoFit/>
          </a:bodyPr>
          <a:lstStyle/>
          <a:p>
            <a:pPr algn="l">
              <a:lnSpc>
                <a:spcPct val="105000"/>
              </a:lnSpc>
              <a:spcAft>
                <a:spcPts val="0"/>
              </a:spcAft>
            </a:pPr>
            <a:r>
              <a:rPr sz="3200" b="0" i="0">
                <a:solidFill>
                  <a:srgbClr val="FFFFFF"/>
                </a:solidFill>
                <a:latin typeface="Segoe UI"/>
              </a:rPr>
              <a:t>Diagnóstico Organizacional y Alineamiento Estratégico</a:t>
            </a:r>
          </a:p>
        </p:txBody>
      </p:sp>
      <p:sp>
        <p:nvSpPr>
          <p:cNvPr id="4" name="TextBox 3"/>
          <p:cNvSpPr txBox="1"/>
          <p:nvPr/>
        </p:nvSpPr>
        <p:spPr>
          <a:xfrm>
            <a:off x="731520" y="3794760"/>
            <a:ext cx="7863840" cy="731520"/>
          </a:xfrm>
          <a:prstGeom prst="rect">
            <a:avLst/>
          </a:prstGeom>
          <a:noFill/>
        </p:spPr>
        <p:txBody>
          <a:bodyPr wrap="square" lIns="0" tIns="0" rIns="0" bIns="0" anchor="t">
            <a:spAutoFit/>
          </a:bodyPr>
          <a:lstStyle/>
          <a:p>
            <a:pPr algn="l">
              <a:lnSpc>
                <a:spcPct val="100000"/>
              </a:lnSpc>
              <a:spcAft>
                <a:spcPts val="0"/>
              </a:spcAft>
            </a:pPr>
            <a:r>
              <a:rPr sz="1300" b="0" i="0">
                <a:solidFill>
                  <a:srgbClr val="9AA4DE"/>
                </a:solidFill>
                <a:latin typeface="Segoe UI"/>
              </a:rPr>
              <a:t>Diagnóstico organizacional · Alineamiento estratégico · Caso de negocio · Roadmap de tecnología · Matriz de riesgos estratégicos</a:t>
            </a:r>
          </a:p>
        </p:txBody>
      </p:sp>
      <p:sp>
        <p:nvSpPr>
          <p:cNvPr id="5" name="Rectangle 4"/>
          <p:cNvSpPr/>
          <p:nvPr/>
        </p:nvSpPr>
        <p:spPr>
          <a:xfrm>
            <a:off x="731520" y="4434840"/>
            <a:ext cx="2926080" cy="12700"/>
          </a:xfrm>
          <a:prstGeom prst="rect">
            <a:avLst/>
          </a:prstGeom>
          <a:solidFill>
            <a:srgbClr val="333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617720"/>
            <a:ext cx="3657600" cy="32004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EXPONE</a:t>
            </a:r>
          </a:p>
        </p:txBody>
      </p:sp>
      <p:sp>
        <p:nvSpPr>
          <p:cNvPr id="7" name="TextBox 6"/>
          <p:cNvSpPr txBox="1"/>
          <p:nvPr/>
        </p:nvSpPr>
        <p:spPr>
          <a:xfrm>
            <a:off x="731520" y="4892040"/>
            <a:ext cx="4572000" cy="457200"/>
          </a:xfrm>
          <a:prstGeom prst="rect">
            <a:avLst/>
          </a:prstGeom>
          <a:noFill/>
        </p:spPr>
        <p:txBody>
          <a:bodyPr wrap="square" lIns="0" tIns="0" rIns="0" bIns="0" anchor="t">
            <a:spAutoFit/>
          </a:bodyPr>
          <a:lstStyle/>
          <a:p>
            <a:pPr algn="l">
              <a:lnSpc>
                <a:spcPct val="100000"/>
              </a:lnSpc>
              <a:spcAft>
                <a:spcPts val="0"/>
              </a:spcAft>
            </a:pPr>
            <a:r>
              <a:rPr sz="1700" b="1" i="0">
                <a:solidFill>
                  <a:srgbClr val="FFFFFF"/>
                </a:solidFill>
                <a:latin typeface="Segoe UI"/>
              </a:rPr>
              <a:t>David Robert Yucra Mamani</a:t>
            </a:r>
          </a:p>
        </p:txBody>
      </p:sp>
      <p:sp>
        <p:nvSpPr>
          <p:cNvPr id="8" name="TextBox 7"/>
          <p:cNvSpPr txBox="1"/>
          <p:nvPr/>
        </p:nvSpPr>
        <p:spPr>
          <a:xfrm>
            <a:off x="5669280" y="4617720"/>
            <a:ext cx="2743200" cy="32004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TIEMPO ASIGNADO</a:t>
            </a:r>
          </a:p>
        </p:txBody>
      </p:sp>
      <p:sp>
        <p:nvSpPr>
          <p:cNvPr id="9" name="TextBox 8"/>
          <p:cNvSpPr txBox="1"/>
          <p:nvPr/>
        </p:nvSpPr>
        <p:spPr>
          <a:xfrm>
            <a:off x="5669280" y="4892040"/>
            <a:ext cx="2743200" cy="457200"/>
          </a:xfrm>
          <a:prstGeom prst="rect">
            <a:avLst/>
          </a:prstGeom>
          <a:noFill/>
        </p:spPr>
        <p:txBody>
          <a:bodyPr wrap="square" lIns="0" tIns="0" rIns="0" bIns="0" anchor="t">
            <a:spAutoFit/>
          </a:bodyPr>
          <a:lstStyle/>
          <a:p>
            <a:pPr algn="l">
              <a:lnSpc>
                <a:spcPct val="100000"/>
              </a:lnSpc>
              <a:spcAft>
                <a:spcPts val="0"/>
              </a:spcAft>
            </a:pPr>
            <a:r>
              <a:rPr sz="1700" b="1" i="0">
                <a:solidFill>
                  <a:srgbClr val="FFFFFF"/>
                </a:solidFill>
                <a:latin typeface="Segoe UI"/>
              </a:rPr>
              <a:t>3:30</a:t>
            </a:r>
          </a:p>
        </p:txBody>
      </p:sp>
      <p:sp>
        <p:nvSpPr>
          <p:cNvPr id="10" name="TextBox 9"/>
          <p:cNvSpPr txBox="1"/>
          <p:nvPr/>
        </p:nvSpPr>
        <p:spPr>
          <a:xfrm>
            <a:off x="9326880" y="1463040"/>
            <a:ext cx="2377440" cy="2743200"/>
          </a:xfrm>
          <a:prstGeom prst="rect">
            <a:avLst/>
          </a:prstGeom>
          <a:noFill/>
        </p:spPr>
        <p:txBody>
          <a:bodyPr wrap="square" lIns="0" tIns="0" rIns="0" bIns="0" anchor="t">
            <a:spAutoFit/>
          </a:bodyPr>
          <a:lstStyle/>
          <a:p>
            <a:pPr algn="r">
              <a:lnSpc>
                <a:spcPct val="100000"/>
              </a:lnSpc>
              <a:spcAft>
                <a:spcPts val="0"/>
              </a:spcAft>
            </a:pPr>
            <a:r>
              <a:rPr sz="14000" b="0" i="0">
                <a:solidFill>
                  <a:srgbClr val="2C3576"/>
                </a:solidFill>
                <a:latin typeface="Georgia"/>
              </a:rPr>
              <a:t>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E1 · 1.1 CONTEXTO ORGANIZACIONAL</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Una academia privada donde el seguimiento al alumno es el diferenciador comercial</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David Robert Yucra Mamani   ·   ⏱ 45s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4 / 22</a:t>
            </a:r>
          </a:p>
        </p:txBody>
      </p:sp>
      <p:sp>
        <p:nvSpPr>
          <p:cNvPr id="7" name="Rounded Rectangle 6"/>
          <p:cNvSpPr/>
          <p:nvPr/>
        </p:nvSpPr>
        <p:spPr>
          <a:xfrm>
            <a:off x="731520" y="1920240"/>
            <a:ext cx="5120640" cy="146304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029968"/>
            <a:ext cx="47914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ESTRUCTURA</a:t>
            </a:r>
          </a:p>
        </p:txBody>
      </p:sp>
      <p:sp>
        <p:nvSpPr>
          <p:cNvPr id="9" name="TextBox 8"/>
          <p:cNvSpPr txBox="1"/>
          <p:nvPr/>
        </p:nvSpPr>
        <p:spPr>
          <a:xfrm>
            <a:off x="896112" y="2304288"/>
            <a:ext cx="4791456" cy="96012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Dirección general → coordinación académica/secretaría → docentes por ciclo → auxiliares → alumnos y padres.</a:t>
            </a:r>
          </a:p>
        </p:txBody>
      </p:sp>
      <p:sp>
        <p:nvSpPr>
          <p:cNvPr id="10" name="Rounded Rectangle 9"/>
          <p:cNvSpPr/>
          <p:nvPr/>
        </p:nvSpPr>
        <p:spPr>
          <a:xfrm>
            <a:off x="6035040" y="1920240"/>
            <a:ext cx="5394960" cy="146304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99632" y="2029968"/>
            <a:ext cx="506577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SECTOR</a:t>
            </a:r>
          </a:p>
        </p:txBody>
      </p:sp>
      <p:sp>
        <p:nvSpPr>
          <p:cNvPr id="12" name="TextBox 11"/>
          <p:cNvSpPr txBox="1"/>
          <p:nvPr/>
        </p:nvSpPr>
        <p:spPr>
          <a:xfrm>
            <a:off x="6199632" y="2304288"/>
            <a:ext cx="5065776" cy="96012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Educación básica privada en Azángaro, Puno — varias academias compitiendo por matrícula, donde organización y comunicación con padres son el diferenciador.</a:t>
            </a:r>
          </a:p>
        </p:txBody>
      </p:sp>
      <p:sp>
        <p:nvSpPr>
          <p:cNvPr id="13" name="TextBox 12"/>
          <p:cNvSpPr txBox="1"/>
          <p:nvPr/>
        </p:nvSpPr>
        <p:spPr>
          <a:xfrm>
            <a:off x="731520" y="3657600"/>
            <a:ext cx="5486400" cy="274320"/>
          </a:xfrm>
          <a:prstGeom prst="rect">
            <a:avLst/>
          </a:prstGeom>
          <a:noFill/>
        </p:spPr>
        <p:txBody>
          <a:bodyPr wrap="square" lIns="0" tIns="0" rIns="0" bIns="0" anchor="t">
            <a:spAutoFit/>
          </a:bodyPr>
          <a:lstStyle/>
          <a:p>
            <a:pPr algn="l">
              <a:lnSpc>
                <a:spcPct val="100000"/>
              </a:lnSpc>
              <a:spcAft>
                <a:spcPts val="0"/>
              </a:spcAft>
            </a:pPr>
            <a:r>
              <a:rPr sz="1050" b="1" i="0">
                <a:solidFill>
                  <a:srgbClr val="454F78"/>
                </a:solidFill>
                <a:latin typeface="Segoe UI"/>
              </a:rPr>
              <a:t>CADENA DE VALOR</a:t>
            </a:r>
          </a:p>
        </p:txBody>
      </p:sp>
      <p:sp>
        <p:nvSpPr>
          <p:cNvPr id="14" name="Rounded Rectangle 13"/>
          <p:cNvSpPr/>
          <p:nvPr/>
        </p:nvSpPr>
        <p:spPr>
          <a:xfrm>
            <a:off x="731520" y="3977639"/>
            <a:ext cx="1254034"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1520" y="3977639"/>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 y="4050791"/>
            <a:ext cx="1034578"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Captación</a:t>
            </a:r>
          </a:p>
          <a:p>
            <a:pPr algn="l">
              <a:lnSpc>
                <a:spcPct val="105000"/>
              </a:lnSpc>
              <a:spcAft>
                <a:spcPts val="0"/>
              </a:spcAft>
            </a:pPr>
            <a:r>
              <a:rPr sz="1019" b="0" i="0">
                <a:solidFill>
                  <a:srgbClr val="1B2559"/>
                </a:solidFill>
                <a:latin typeface="Segoe UI"/>
              </a:rPr>
              <a:t>(sitio, redes)</a:t>
            </a:r>
          </a:p>
        </p:txBody>
      </p:sp>
      <p:sp>
        <p:nvSpPr>
          <p:cNvPr id="17" name="TextBox 16"/>
          <p:cNvSpPr txBox="1"/>
          <p:nvPr/>
        </p:nvSpPr>
        <p:spPr>
          <a:xfrm>
            <a:off x="1985554" y="3977639"/>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18" name="Rounded Rectangle 17"/>
          <p:cNvSpPr/>
          <p:nvPr/>
        </p:nvSpPr>
        <p:spPr>
          <a:xfrm>
            <a:off x="2305594" y="3977639"/>
            <a:ext cx="1254034"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305594" y="3977639"/>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15322" y="4050791"/>
            <a:ext cx="1034578"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Pre-matrícula</a:t>
            </a:r>
          </a:p>
        </p:txBody>
      </p:sp>
      <p:sp>
        <p:nvSpPr>
          <p:cNvPr id="21" name="TextBox 20"/>
          <p:cNvSpPr txBox="1"/>
          <p:nvPr/>
        </p:nvSpPr>
        <p:spPr>
          <a:xfrm>
            <a:off x="3559628" y="3977639"/>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22" name="Rounded Rectangle 21"/>
          <p:cNvSpPr/>
          <p:nvPr/>
        </p:nvSpPr>
        <p:spPr>
          <a:xfrm>
            <a:off x="3879668" y="3977639"/>
            <a:ext cx="1254034"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879668" y="3977639"/>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989396" y="4050791"/>
            <a:ext cx="1034578"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Matrícula</a:t>
            </a:r>
          </a:p>
          <a:p>
            <a:pPr algn="l">
              <a:lnSpc>
                <a:spcPct val="105000"/>
              </a:lnSpc>
              <a:spcAft>
                <a:spcPts val="0"/>
              </a:spcAft>
            </a:pPr>
            <a:r>
              <a:rPr sz="1019" b="0" i="0">
                <a:solidFill>
                  <a:srgbClr val="1B2559"/>
                </a:solidFill>
                <a:latin typeface="Segoe UI"/>
              </a:rPr>
              <a:t>y cobro</a:t>
            </a:r>
          </a:p>
        </p:txBody>
      </p:sp>
      <p:sp>
        <p:nvSpPr>
          <p:cNvPr id="25" name="TextBox 24"/>
          <p:cNvSpPr txBox="1"/>
          <p:nvPr/>
        </p:nvSpPr>
        <p:spPr>
          <a:xfrm>
            <a:off x="5133702" y="3977639"/>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26" name="Rounded Rectangle 25"/>
          <p:cNvSpPr/>
          <p:nvPr/>
        </p:nvSpPr>
        <p:spPr>
          <a:xfrm>
            <a:off x="5453742" y="3977639"/>
            <a:ext cx="1254034"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53742" y="3977639"/>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563470" y="4050791"/>
            <a:ext cx="1034578"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Dictado por</a:t>
            </a:r>
          </a:p>
          <a:p>
            <a:pPr algn="l">
              <a:lnSpc>
                <a:spcPct val="105000"/>
              </a:lnSpc>
              <a:spcAft>
                <a:spcPts val="0"/>
              </a:spcAft>
            </a:pPr>
            <a:r>
              <a:rPr sz="1019" b="0" i="0">
                <a:solidFill>
                  <a:srgbClr val="1B2559"/>
                </a:solidFill>
                <a:latin typeface="Segoe UI"/>
              </a:rPr>
              <a:t>sede/grupo/turno</a:t>
            </a:r>
          </a:p>
        </p:txBody>
      </p:sp>
      <p:sp>
        <p:nvSpPr>
          <p:cNvPr id="29" name="TextBox 28"/>
          <p:cNvSpPr txBox="1"/>
          <p:nvPr/>
        </p:nvSpPr>
        <p:spPr>
          <a:xfrm>
            <a:off x="6707777" y="3977639"/>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30" name="Rounded Rectangle 29"/>
          <p:cNvSpPr/>
          <p:nvPr/>
        </p:nvSpPr>
        <p:spPr>
          <a:xfrm>
            <a:off x="7027817" y="3977639"/>
            <a:ext cx="1254034"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027817" y="3977639"/>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37545" y="4050791"/>
            <a:ext cx="1034578"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Seguimiento de</a:t>
            </a:r>
          </a:p>
          <a:p>
            <a:pPr algn="l">
              <a:lnSpc>
                <a:spcPct val="105000"/>
              </a:lnSpc>
              <a:spcAft>
                <a:spcPts val="0"/>
              </a:spcAft>
            </a:pPr>
            <a:r>
              <a:rPr sz="1019" b="0" i="0">
                <a:solidFill>
                  <a:srgbClr val="1B2559"/>
                </a:solidFill>
                <a:latin typeface="Segoe UI"/>
              </a:rPr>
              <a:t>asistencia</a:t>
            </a:r>
          </a:p>
        </p:txBody>
      </p:sp>
      <p:sp>
        <p:nvSpPr>
          <p:cNvPr id="33" name="TextBox 32"/>
          <p:cNvSpPr txBox="1"/>
          <p:nvPr/>
        </p:nvSpPr>
        <p:spPr>
          <a:xfrm>
            <a:off x="8281851" y="3977639"/>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34" name="Rounded Rectangle 33"/>
          <p:cNvSpPr/>
          <p:nvPr/>
        </p:nvSpPr>
        <p:spPr>
          <a:xfrm>
            <a:off x="8601891" y="3977639"/>
            <a:ext cx="1254034"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601891" y="3977639"/>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711619" y="4050791"/>
            <a:ext cx="1034578"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Comunicación</a:t>
            </a:r>
          </a:p>
          <a:p>
            <a:pPr algn="l">
              <a:lnSpc>
                <a:spcPct val="105000"/>
              </a:lnSpc>
              <a:spcAft>
                <a:spcPts val="0"/>
              </a:spcAft>
            </a:pPr>
            <a:r>
              <a:rPr sz="1019" b="0" i="0">
                <a:solidFill>
                  <a:srgbClr val="1B2559"/>
                </a:solidFill>
                <a:latin typeface="Segoe UI"/>
              </a:rPr>
              <a:t>con padres</a:t>
            </a:r>
          </a:p>
        </p:txBody>
      </p:sp>
      <p:sp>
        <p:nvSpPr>
          <p:cNvPr id="37" name="TextBox 36"/>
          <p:cNvSpPr txBox="1"/>
          <p:nvPr/>
        </p:nvSpPr>
        <p:spPr>
          <a:xfrm>
            <a:off x="9855925" y="3977639"/>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38" name="Rounded Rectangle 37"/>
          <p:cNvSpPr/>
          <p:nvPr/>
        </p:nvSpPr>
        <p:spPr>
          <a:xfrm>
            <a:off x="10175965" y="3977639"/>
            <a:ext cx="1254034"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175965" y="3977639"/>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85693" y="4050791"/>
            <a:ext cx="1034578"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Egreso /</a:t>
            </a:r>
          </a:p>
          <a:p>
            <a:pPr algn="l">
              <a:lnSpc>
                <a:spcPct val="105000"/>
              </a:lnSpc>
              <a:spcAft>
                <a:spcPts val="0"/>
              </a:spcAft>
            </a:pPr>
            <a:r>
              <a:rPr sz="1019" b="0" i="0">
                <a:solidFill>
                  <a:srgbClr val="1B2559"/>
                </a:solidFill>
                <a:latin typeface="Segoe UI"/>
              </a:rPr>
              <a:t>renovación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E1 · 1.2 ANÁLISIS ESTRATÉGICO</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FODA: la plataforma ataca justo las debilidades y amenazas del negocio</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David Robert Yucra Mamani   ·   ⏱ 55s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5 / 22</a:t>
            </a:r>
          </a:p>
        </p:txBody>
      </p:sp>
      <p:sp>
        <p:nvSpPr>
          <p:cNvPr id="7" name="Rounded Rectangle 6"/>
          <p:cNvSpPr/>
          <p:nvPr/>
        </p:nvSpPr>
        <p:spPr>
          <a:xfrm>
            <a:off x="731520" y="1920240"/>
            <a:ext cx="5257800" cy="182880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54864" cy="182880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029968"/>
            <a:ext cx="492861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FORTALEZAS</a:t>
            </a:r>
          </a:p>
        </p:txBody>
      </p:sp>
      <p:sp>
        <p:nvSpPr>
          <p:cNvPr id="10" name="TextBox 9"/>
          <p:cNvSpPr txBox="1"/>
          <p:nvPr/>
        </p:nvSpPr>
        <p:spPr>
          <a:xfrm>
            <a:off x="896112" y="2304288"/>
            <a:ext cx="4928616" cy="132588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Plataforma digital propia con portales por rol, control de asistencia por QR, matrícula pública conectada al flujo interno.</a:t>
            </a:r>
          </a:p>
        </p:txBody>
      </p:sp>
      <p:sp>
        <p:nvSpPr>
          <p:cNvPr id="11" name="Rounded Rectangle 10"/>
          <p:cNvSpPr/>
          <p:nvPr/>
        </p:nvSpPr>
        <p:spPr>
          <a:xfrm>
            <a:off x="6172200" y="1920240"/>
            <a:ext cx="5257800" cy="182880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920240"/>
            <a:ext cx="54864" cy="182880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36792" y="2029968"/>
            <a:ext cx="492861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OPORTUNIDADES</a:t>
            </a:r>
          </a:p>
        </p:txBody>
      </p:sp>
      <p:sp>
        <p:nvSpPr>
          <p:cNvPr id="14" name="TextBox 13"/>
          <p:cNvSpPr txBox="1"/>
          <p:nvPr/>
        </p:nvSpPr>
        <p:spPr>
          <a:xfrm>
            <a:off x="6336792" y="2304288"/>
            <a:ext cx="4928616" cy="132588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Crecimiento de matrícula frente a competidores menos digitales; réplica a nuevas sedes con bajo costo marginal.</a:t>
            </a:r>
          </a:p>
        </p:txBody>
      </p:sp>
      <p:sp>
        <p:nvSpPr>
          <p:cNvPr id="15" name="Rounded Rectangle 14"/>
          <p:cNvSpPr/>
          <p:nvPr/>
        </p:nvSpPr>
        <p:spPr>
          <a:xfrm>
            <a:off x="731520" y="3931920"/>
            <a:ext cx="5257800" cy="182880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3931920"/>
            <a:ext cx="54864" cy="182880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4041648"/>
            <a:ext cx="492861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DEBILIDADES</a:t>
            </a:r>
          </a:p>
        </p:txBody>
      </p:sp>
      <p:sp>
        <p:nvSpPr>
          <p:cNvPr id="18" name="TextBox 17"/>
          <p:cNvSpPr txBox="1"/>
          <p:nvPr/>
        </p:nvSpPr>
        <p:spPr>
          <a:xfrm>
            <a:off x="896112" y="4315968"/>
            <a:ext cx="4928616" cy="132588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Dependencia de un equipo técnico pequeño; procesos históricos aún en transición hacia el flujo digital.</a:t>
            </a:r>
          </a:p>
        </p:txBody>
      </p:sp>
      <p:sp>
        <p:nvSpPr>
          <p:cNvPr id="19" name="Rounded Rectangle 18"/>
          <p:cNvSpPr/>
          <p:nvPr/>
        </p:nvSpPr>
        <p:spPr>
          <a:xfrm>
            <a:off x="6172200" y="3931920"/>
            <a:ext cx="5257800" cy="182880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3931920"/>
            <a:ext cx="54864" cy="182880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36792" y="4041648"/>
            <a:ext cx="492861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AMENAZAS</a:t>
            </a:r>
          </a:p>
        </p:txBody>
      </p:sp>
      <p:sp>
        <p:nvSpPr>
          <p:cNvPr id="22" name="TextBox 21"/>
          <p:cNvSpPr txBox="1"/>
          <p:nvPr/>
        </p:nvSpPr>
        <p:spPr>
          <a:xfrm>
            <a:off x="6336792" y="4315968"/>
            <a:ext cx="4928616" cy="132588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Competencia con marketing agresivo; regulación de protección de datos de menores de edad.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E1 · 1.3 DIAGNÓSTICO DIGITAL</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Antes de la plataforma no existía ningún sistema propio</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David Robert Yucra Mamani   ·   ⏱ 45s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6 / 22</a:t>
            </a:r>
          </a:p>
        </p:txBody>
      </p:sp>
      <p:sp>
        <p:nvSpPr>
          <p:cNvPr id="7" name="Rounded Rectangle 6"/>
          <p:cNvSpPr/>
          <p:nvPr/>
        </p:nvSpPr>
        <p:spPr>
          <a:xfrm>
            <a:off x="731520" y="1920240"/>
            <a:ext cx="5120640" cy="310896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029968"/>
            <a:ext cx="47914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ANTES DEL SISTEMA</a:t>
            </a:r>
          </a:p>
        </p:txBody>
      </p:sp>
      <p:sp>
        <p:nvSpPr>
          <p:cNvPr id="9" name="TextBox 8"/>
          <p:cNvSpPr txBox="1"/>
          <p:nvPr/>
        </p:nvSpPr>
        <p:spPr>
          <a:xfrm>
            <a:off x="896112" y="2304288"/>
            <a:ext cx="4791456" cy="2606040"/>
          </a:xfrm>
          <a:prstGeom prst="rect">
            <a:avLst/>
          </a:prstGeom>
          <a:noFill/>
        </p:spPr>
        <p:txBody>
          <a:bodyPr wrap="square" lIns="0" tIns="0" rIns="0" bIns="0" anchor="t">
            <a:spAutoFit/>
          </a:bodyPr>
          <a:lstStyle/>
          <a:p>
            <a:pPr algn="l">
              <a:lnSpc>
                <a:spcPct val="112000"/>
              </a:lnSpc>
              <a:spcAft>
                <a:spcPts val="0"/>
              </a:spcAft>
            </a:pPr>
            <a:r>
              <a:rPr sz="1350" b="0" i="0">
                <a:solidFill>
                  <a:srgbClr val="1B2559"/>
                </a:solidFill>
                <a:latin typeface="Segoe UI"/>
              </a:rPr>
              <a:t>• Formularios no integrados</a:t>
            </a:r>
          </a:p>
          <a:p>
            <a:pPr algn="l">
              <a:lnSpc>
                <a:spcPct val="112000"/>
              </a:lnSpc>
              <a:spcAft>
                <a:spcPts val="0"/>
              </a:spcAft>
            </a:pPr>
            <a:r>
              <a:rPr sz="1350" b="0" i="0">
                <a:solidFill>
                  <a:srgbClr val="1B2559"/>
                </a:solidFill>
                <a:latin typeface="Segoe UI"/>
              </a:rPr>
              <a:t>• Gestión manual de alumnos</a:t>
            </a:r>
          </a:p>
          <a:p>
            <a:pPr algn="l">
              <a:lnSpc>
                <a:spcPct val="112000"/>
              </a:lnSpc>
              <a:spcAft>
                <a:spcPts val="0"/>
              </a:spcAft>
            </a:pPr>
            <a:r>
              <a:rPr sz="1350" b="0" i="0">
                <a:solidFill>
                  <a:srgbClr val="1B2559"/>
                </a:solidFill>
                <a:latin typeface="Segoe UI"/>
              </a:rPr>
              <a:t>• Asistencia poco trazable</a:t>
            </a:r>
          </a:p>
          <a:p>
            <a:pPr algn="l">
              <a:lnSpc>
                <a:spcPct val="112000"/>
              </a:lnSpc>
              <a:spcAft>
                <a:spcPts val="0"/>
              </a:spcAft>
            </a:pPr>
            <a:r>
              <a:rPr sz="1350" b="0" i="0">
                <a:solidFill>
                  <a:srgbClr val="1B2559"/>
                </a:solidFill>
                <a:latin typeface="Segoe UI"/>
              </a:rPr>
              <a:t>• Pagos separados de la matrícula</a:t>
            </a:r>
          </a:p>
          <a:p>
            <a:pPr algn="l">
              <a:lnSpc>
                <a:spcPct val="112000"/>
              </a:lnSpc>
              <a:spcAft>
                <a:spcPts val="0"/>
              </a:spcAft>
            </a:pPr>
            <a:r>
              <a:rPr sz="1350" b="0" i="0">
                <a:solidFill>
                  <a:srgbClr val="1B2559"/>
                </a:solidFill>
                <a:latin typeface="Segoe UI"/>
              </a:rPr>
              <a:t>• Sin portales diferenciados por rol</a:t>
            </a:r>
          </a:p>
        </p:txBody>
      </p:sp>
      <p:sp>
        <p:nvSpPr>
          <p:cNvPr id="10" name="Rounded Rectangle 9"/>
          <p:cNvSpPr/>
          <p:nvPr/>
        </p:nvSpPr>
        <p:spPr>
          <a:xfrm>
            <a:off x="6035040" y="1920240"/>
            <a:ext cx="5394960" cy="310896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35040" y="1920240"/>
            <a:ext cx="54864" cy="310896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2029968"/>
            <a:ext cx="506577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CONSECUENCIAS</a:t>
            </a:r>
          </a:p>
        </p:txBody>
      </p:sp>
      <p:sp>
        <p:nvSpPr>
          <p:cNvPr id="13" name="TextBox 12"/>
          <p:cNvSpPr txBox="1"/>
          <p:nvPr/>
        </p:nvSpPr>
        <p:spPr>
          <a:xfrm>
            <a:off x="6199632" y="2304288"/>
            <a:ext cx="5065776" cy="2606040"/>
          </a:xfrm>
          <a:prstGeom prst="rect">
            <a:avLst/>
          </a:prstGeom>
          <a:noFill/>
        </p:spPr>
        <p:txBody>
          <a:bodyPr wrap="square" lIns="0" tIns="0" rIns="0" bIns="0" anchor="t">
            <a:spAutoFit/>
          </a:bodyPr>
          <a:lstStyle/>
          <a:p>
            <a:pPr algn="l">
              <a:lnSpc>
                <a:spcPct val="112000"/>
              </a:lnSpc>
              <a:spcAft>
                <a:spcPts val="0"/>
              </a:spcAft>
            </a:pPr>
            <a:r>
              <a:rPr sz="1350" b="0" i="0">
                <a:solidFill>
                  <a:srgbClr val="1B2559"/>
                </a:solidFill>
                <a:latin typeface="Segoe UI"/>
              </a:rPr>
              <a:t>• Duplicidad de datos</a:t>
            </a:r>
          </a:p>
          <a:p>
            <a:pPr algn="l">
              <a:lnSpc>
                <a:spcPct val="112000"/>
              </a:lnSpc>
              <a:spcAft>
                <a:spcPts val="0"/>
              </a:spcAft>
            </a:pPr>
            <a:r>
              <a:rPr sz="1350" b="0" i="0">
                <a:solidFill>
                  <a:srgbClr val="1B2559"/>
                </a:solidFill>
                <a:latin typeface="Segoe UI"/>
              </a:rPr>
              <a:t>• Baja visibilidad operativa</a:t>
            </a:r>
          </a:p>
          <a:p>
            <a:pPr algn="l">
              <a:lnSpc>
                <a:spcPct val="112000"/>
              </a:lnSpc>
              <a:spcAft>
                <a:spcPts val="0"/>
              </a:spcAft>
            </a:pPr>
            <a:r>
              <a:rPr sz="1350" b="0" i="0">
                <a:solidFill>
                  <a:srgbClr val="1B2559"/>
                </a:solidFill>
                <a:latin typeface="Segoe UI"/>
              </a:rPr>
              <a:t>• Riesgo de errores en cupos</a:t>
            </a:r>
          </a:p>
          <a:p>
            <a:pPr algn="l">
              <a:lnSpc>
                <a:spcPct val="112000"/>
              </a:lnSpc>
              <a:spcAft>
                <a:spcPts val="0"/>
              </a:spcAft>
            </a:pPr>
            <a:r>
              <a:rPr sz="1350" b="0" i="0">
                <a:solidFill>
                  <a:srgbClr val="1B2559"/>
                </a:solidFill>
                <a:latin typeface="Segoe UI"/>
              </a:rPr>
              <a:t>• Demora en la atención a padres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E1 · 1.4 IDENTIFICACIÓN DEL PROBLEMA</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La tesis del diagnóstico</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David Robert Yucra Mamani   ·   ⏱ 50s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7 / 22</a:t>
            </a:r>
          </a:p>
        </p:txBody>
      </p:sp>
      <p:sp>
        <p:nvSpPr>
          <p:cNvPr id="7" name="Rectangle 6"/>
          <p:cNvSpPr/>
          <p:nvPr/>
        </p:nvSpPr>
        <p:spPr>
          <a:xfrm>
            <a:off x="731520" y="1965960"/>
            <a:ext cx="54864" cy="118872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965960"/>
            <a:ext cx="10287000" cy="1188720"/>
          </a:xfrm>
          <a:prstGeom prst="rect">
            <a:avLst/>
          </a:prstGeom>
          <a:noFill/>
        </p:spPr>
        <p:txBody>
          <a:bodyPr wrap="square" lIns="0" tIns="0" rIns="0" bIns="0" anchor="t">
            <a:spAutoFit/>
          </a:bodyPr>
          <a:lstStyle/>
          <a:p>
            <a:pPr algn="l">
              <a:lnSpc>
                <a:spcPct val="120000"/>
              </a:lnSpc>
              <a:spcAft>
                <a:spcPts val="0"/>
              </a:spcAft>
            </a:pPr>
            <a:r>
              <a:rPr sz="1700" b="0" i="1">
                <a:solidFill>
                  <a:srgbClr val="1B2559"/>
                </a:solidFill>
                <a:latin typeface="Georgia"/>
              </a:rPr>
              <a:t>“Academia La Prepa Cermat necesitaba centralizar su gestión académica y administrativa porque operaba con canales dispersos y procesos manuales que generaban duplicidad de datos y baja visibilidad operativa.”</a:t>
            </a:r>
          </a:p>
        </p:txBody>
      </p:sp>
      <p:sp>
        <p:nvSpPr>
          <p:cNvPr id="9" name="Rounded Rectangle 8"/>
          <p:cNvSpPr/>
          <p:nvPr/>
        </p:nvSpPr>
        <p:spPr>
          <a:xfrm>
            <a:off x="731520" y="3429000"/>
            <a:ext cx="5120640" cy="15544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3538728"/>
            <a:ext cx="47914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CAUSA RAÍZ</a:t>
            </a:r>
          </a:p>
        </p:txBody>
      </p:sp>
      <p:sp>
        <p:nvSpPr>
          <p:cNvPr id="11" name="TextBox 10"/>
          <p:cNvSpPr txBox="1"/>
          <p:nvPr/>
        </p:nvSpPr>
        <p:spPr>
          <a:xfrm>
            <a:off x="896112" y="3813048"/>
            <a:ext cx="4791456" cy="105156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Sin sistema propio históricamente; crecimiento de sedes/ciclos/alumnos sin que la gestión escalara junto con ese crecimiento.</a:t>
            </a:r>
          </a:p>
        </p:txBody>
      </p:sp>
      <p:sp>
        <p:nvSpPr>
          <p:cNvPr id="12" name="Rounded Rectangle 11"/>
          <p:cNvSpPr/>
          <p:nvPr/>
        </p:nvSpPr>
        <p:spPr>
          <a:xfrm>
            <a:off x="6035040" y="3429000"/>
            <a:ext cx="5394960" cy="15544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99632" y="3538728"/>
            <a:ext cx="506577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IMPACTO ESTRATÉGICO</a:t>
            </a:r>
          </a:p>
        </p:txBody>
      </p:sp>
      <p:sp>
        <p:nvSpPr>
          <p:cNvPr id="14" name="TextBox 13"/>
          <p:cNvSpPr txBox="1"/>
          <p:nvPr/>
        </p:nvSpPr>
        <p:spPr>
          <a:xfrm>
            <a:off x="6199632" y="3813048"/>
            <a:ext cx="5065776" cy="105156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Riesgo de perder matrículas frente a competidores mejor organizados; decisiones de dirección con información incompleta.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2559"/>
        </a:solidFill>
        <a:effectLst/>
      </p:bgPr>
    </p:bg>
    <p:spTree>
      <p:nvGrpSpPr>
        <p:cNvPr id="1" name=""/>
        <p:cNvGrpSpPr/>
        <p:nvPr/>
      </p:nvGrpSpPr>
      <p:grpSpPr>
        <a:xfrm>
          <a:off x="0" y="0"/>
          <a:ext cx="0" cy="0"/>
          <a:chOff x="0" y="0"/>
          <a:chExt cx="0" cy="0"/>
        </a:xfrm>
      </p:grpSpPr>
      <p:sp>
        <p:nvSpPr>
          <p:cNvPr id="2" name="TextBox 1"/>
          <p:cNvSpPr txBox="1"/>
          <p:nvPr/>
        </p:nvSpPr>
        <p:spPr>
          <a:xfrm>
            <a:off x="731520" y="1828800"/>
            <a:ext cx="82296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AAB6FF"/>
                </a:solidFill>
                <a:latin typeface="Segoe UI"/>
              </a:rPr>
              <a:t>ENTREGABLE 02</a:t>
            </a:r>
          </a:p>
        </p:txBody>
      </p:sp>
      <p:sp>
        <p:nvSpPr>
          <p:cNvPr id="3" name="TextBox 2"/>
          <p:cNvSpPr txBox="1"/>
          <p:nvPr/>
        </p:nvSpPr>
        <p:spPr>
          <a:xfrm>
            <a:off x="731520" y="2331720"/>
            <a:ext cx="7863840" cy="1463040"/>
          </a:xfrm>
          <a:prstGeom prst="rect">
            <a:avLst/>
          </a:prstGeom>
          <a:noFill/>
        </p:spPr>
        <p:txBody>
          <a:bodyPr wrap="square" lIns="0" tIns="0" rIns="0" bIns="0" anchor="t">
            <a:spAutoFit/>
          </a:bodyPr>
          <a:lstStyle/>
          <a:p>
            <a:pPr algn="l">
              <a:lnSpc>
                <a:spcPct val="105000"/>
              </a:lnSpc>
              <a:spcAft>
                <a:spcPts val="0"/>
              </a:spcAft>
            </a:pPr>
            <a:r>
              <a:rPr sz="3200" b="0" i="0">
                <a:solidFill>
                  <a:srgbClr val="FFFFFF"/>
                </a:solidFill>
                <a:latin typeface="Segoe UI"/>
              </a:rPr>
              <a:t>Business Case del Proyecto</a:t>
            </a:r>
          </a:p>
        </p:txBody>
      </p:sp>
      <p:sp>
        <p:nvSpPr>
          <p:cNvPr id="4" name="TextBox 3"/>
          <p:cNvSpPr txBox="1"/>
          <p:nvPr/>
        </p:nvSpPr>
        <p:spPr>
          <a:xfrm>
            <a:off x="731520" y="3794760"/>
            <a:ext cx="7863840" cy="731520"/>
          </a:xfrm>
          <a:prstGeom prst="rect">
            <a:avLst/>
          </a:prstGeom>
          <a:noFill/>
        </p:spPr>
        <p:txBody>
          <a:bodyPr wrap="square" lIns="0" tIns="0" rIns="0" bIns="0" anchor="t">
            <a:spAutoFit/>
          </a:bodyPr>
          <a:lstStyle/>
          <a:p>
            <a:pPr algn="l">
              <a:lnSpc>
                <a:spcPct val="100000"/>
              </a:lnSpc>
              <a:spcAft>
                <a:spcPts val="0"/>
              </a:spcAft>
            </a:pPr>
            <a:r>
              <a:rPr sz="1300" b="0" i="0">
                <a:solidFill>
                  <a:srgbClr val="9AA4DE"/>
                </a:solidFill>
                <a:latin typeface="Segoe UI"/>
              </a:rPr>
              <a:t>Objetivos SMART · alternativas evaluadas · costos y beneficios · riesgos iniciales</a:t>
            </a:r>
          </a:p>
        </p:txBody>
      </p:sp>
      <p:sp>
        <p:nvSpPr>
          <p:cNvPr id="5" name="Rectangle 4"/>
          <p:cNvSpPr/>
          <p:nvPr/>
        </p:nvSpPr>
        <p:spPr>
          <a:xfrm>
            <a:off x="731520" y="4434840"/>
            <a:ext cx="2926080" cy="12700"/>
          </a:xfrm>
          <a:prstGeom prst="rect">
            <a:avLst/>
          </a:prstGeom>
          <a:solidFill>
            <a:srgbClr val="333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617720"/>
            <a:ext cx="3657600" cy="32004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EXPONE</a:t>
            </a:r>
          </a:p>
        </p:txBody>
      </p:sp>
      <p:sp>
        <p:nvSpPr>
          <p:cNvPr id="7" name="TextBox 6"/>
          <p:cNvSpPr txBox="1"/>
          <p:nvPr/>
        </p:nvSpPr>
        <p:spPr>
          <a:xfrm>
            <a:off x="731520" y="4892040"/>
            <a:ext cx="4572000" cy="457200"/>
          </a:xfrm>
          <a:prstGeom prst="rect">
            <a:avLst/>
          </a:prstGeom>
          <a:noFill/>
        </p:spPr>
        <p:txBody>
          <a:bodyPr wrap="square" lIns="0" tIns="0" rIns="0" bIns="0" anchor="t">
            <a:spAutoFit/>
          </a:bodyPr>
          <a:lstStyle/>
          <a:p>
            <a:pPr algn="l">
              <a:lnSpc>
                <a:spcPct val="100000"/>
              </a:lnSpc>
              <a:spcAft>
                <a:spcPts val="0"/>
              </a:spcAft>
            </a:pPr>
            <a:r>
              <a:rPr sz="1700" b="1" i="0">
                <a:solidFill>
                  <a:srgbClr val="FFFFFF"/>
                </a:solidFill>
                <a:latin typeface="Segoe UI"/>
              </a:rPr>
              <a:t>Denilson Leeke Mamani Flores</a:t>
            </a:r>
          </a:p>
        </p:txBody>
      </p:sp>
      <p:sp>
        <p:nvSpPr>
          <p:cNvPr id="8" name="TextBox 7"/>
          <p:cNvSpPr txBox="1"/>
          <p:nvPr/>
        </p:nvSpPr>
        <p:spPr>
          <a:xfrm>
            <a:off x="5669280" y="4617720"/>
            <a:ext cx="2743200" cy="32004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TIEMPO ASIGNADO</a:t>
            </a:r>
          </a:p>
        </p:txBody>
      </p:sp>
      <p:sp>
        <p:nvSpPr>
          <p:cNvPr id="9" name="TextBox 8"/>
          <p:cNvSpPr txBox="1"/>
          <p:nvPr/>
        </p:nvSpPr>
        <p:spPr>
          <a:xfrm>
            <a:off x="5669280" y="4892040"/>
            <a:ext cx="2743200" cy="457200"/>
          </a:xfrm>
          <a:prstGeom prst="rect">
            <a:avLst/>
          </a:prstGeom>
          <a:noFill/>
        </p:spPr>
        <p:txBody>
          <a:bodyPr wrap="square" lIns="0" tIns="0" rIns="0" bIns="0" anchor="t">
            <a:spAutoFit/>
          </a:bodyPr>
          <a:lstStyle/>
          <a:p>
            <a:pPr algn="l">
              <a:lnSpc>
                <a:spcPct val="100000"/>
              </a:lnSpc>
              <a:spcAft>
                <a:spcPts val="0"/>
              </a:spcAft>
            </a:pPr>
            <a:r>
              <a:rPr sz="1700" b="1" i="0">
                <a:solidFill>
                  <a:srgbClr val="FFFFFF"/>
                </a:solidFill>
                <a:latin typeface="Segoe UI"/>
              </a:rPr>
              <a:t>3:00</a:t>
            </a:r>
          </a:p>
        </p:txBody>
      </p:sp>
      <p:sp>
        <p:nvSpPr>
          <p:cNvPr id="10" name="TextBox 9"/>
          <p:cNvSpPr txBox="1"/>
          <p:nvPr/>
        </p:nvSpPr>
        <p:spPr>
          <a:xfrm>
            <a:off x="9326880" y="1463040"/>
            <a:ext cx="2377440" cy="2743200"/>
          </a:xfrm>
          <a:prstGeom prst="rect">
            <a:avLst/>
          </a:prstGeom>
          <a:noFill/>
        </p:spPr>
        <p:txBody>
          <a:bodyPr wrap="square" lIns="0" tIns="0" rIns="0" bIns="0" anchor="t">
            <a:spAutoFit/>
          </a:bodyPr>
          <a:lstStyle/>
          <a:p>
            <a:pPr algn="r">
              <a:lnSpc>
                <a:spcPct val="100000"/>
              </a:lnSpc>
              <a:spcAft>
                <a:spcPts val="0"/>
              </a:spcAft>
            </a:pPr>
            <a:r>
              <a:rPr sz="14000" b="0" i="0">
                <a:solidFill>
                  <a:srgbClr val="2C3576"/>
                </a:solidFill>
                <a:latin typeface="Georgia"/>
              </a:rPr>
              <a:t>02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E2 · 2.1 OBJETIVOS Y BENEFICIOS</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Tres objetivos medibles, los tres ya cumplidos</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Denilson Leeke Mamani Flores   ·   ⏱ 40s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9 / 22</a:t>
            </a:r>
          </a:p>
        </p:txBody>
      </p:sp>
      <p:sp>
        <p:nvSpPr>
          <p:cNvPr id="7" name="Rounded Rectangle 6"/>
          <p:cNvSpPr/>
          <p:nvPr/>
        </p:nvSpPr>
        <p:spPr>
          <a:xfrm>
            <a:off x="731520" y="1920240"/>
            <a:ext cx="2606040" cy="29260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20240"/>
            <a:ext cx="54864" cy="29260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029968"/>
            <a:ext cx="22768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OBJETIVO 1</a:t>
            </a:r>
          </a:p>
        </p:txBody>
      </p:sp>
      <p:sp>
        <p:nvSpPr>
          <p:cNvPr id="10" name="TextBox 9"/>
          <p:cNvSpPr txBox="1"/>
          <p:nvPr/>
        </p:nvSpPr>
        <p:spPr>
          <a:xfrm>
            <a:off x="896112" y="2304288"/>
            <a:ext cx="2276856" cy="242316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Centralizar matrícula, pagos y asistencia — 21 colecciones de datos operativas documentadas.</a:t>
            </a:r>
          </a:p>
        </p:txBody>
      </p:sp>
      <p:sp>
        <p:nvSpPr>
          <p:cNvPr id="11" name="Rounded Rectangle 10"/>
          <p:cNvSpPr/>
          <p:nvPr/>
        </p:nvSpPr>
        <p:spPr>
          <a:xfrm>
            <a:off x="3502152" y="1920240"/>
            <a:ext cx="2606040" cy="29260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502152" y="1920240"/>
            <a:ext cx="54864" cy="29260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66744" y="2029968"/>
            <a:ext cx="22768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OBJETIVO 2</a:t>
            </a:r>
          </a:p>
        </p:txBody>
      </p:sp>
      <p:sp>
        <p:nvSpPr>
          <p:cNvPr id="14" name="TextBox 13"/>
          <p:cNvSpPr txBox="1"/>
          <p:nvPr/>
        </p:nvSpPr>
        <p:spPr>
          <a:xfrm>
            <a:off x="3666744" y="2304288"/>
            <a:ext cx="2276856" cy="242316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4 portales por rol + consulta pública para padres — rutas protegidas verificables en el código.</a:t>
            </a:r>
          </a:p>
        </p:txBody>
      </p:sp>
      <p:sp>
        <p:nvSpPr>
          <p:cNvPr id="15" name="Rounded Rectangle 14"/>
          <p:cNvSpPr/>
          <p:nvPr/>
        </p:nvSpPr>
        <p:spPr>
          <a:xfrm>
            <a:off x="6272784" y="1920240"/>
            <a:ext cx="2606040" cy="29260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72784" y="1920240"/>
            <a:ext cx="54864" cy="29260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37376" y="2029968"/>
            <a:ext cx="22768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OBJETIVO 3</a:t>
            </a:r>
          </a:p>
        </p:txBody>
      </p:sp>
      <p:sp>
        <p:nvSpPr>
          <p:cNvPr id="18" name="TextBox 17"/>
          <p:cNvSpPr txBox="1"/>
          <p:nvPr/>
        </p:nvSpPr>
        <p:spPr>
          <a:xfrm>
            <a:off x="6437376" y="2304288"/>
            <a:ext cx="2276856" cy="242316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Asistencia por código QR — tokens y registros con trazabilidad real.</a:t>
            </a:r>
          </a:p>
        </p:txBody>
      </p:sp>
      <p:sp>
        <p:nvSpPr>
          <p:cNvPr id="19" name="Rounded Rectangle 18"/>
          <p:cNvSpPr/>
          <p:nvPr/>
        </p:nvSpPr>
        <p:spPr>
          <a:xfrm>
            <a:off x="9043416" y="1920240"/>
            <a:ext cx="2606040" cy="29260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08008" y="2029968"/>
            <a:ext cx="22768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BENEFICIO ESPERADO</a:t>
            </a:r>
          </a:p>
        </p:txBody>
      </p:sp>
      <p:sp>
        <p:nvSpPr>
          <p:cNvPr id="21" name="TextBox 20"/>
          <p:cNvSpPr txBox="1"/>
          <p:nvPr/>
        </p:nvSpPr>
        <p:spPr>
          <a:xfrm>
            <a:off x="9208008" y="2304288"/>
            <a:ext cx="2276856" cy="242316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Menos horas administrativas perdidas, menor riesgo de error en cobros, más confianza de los padres.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E2 · 2.2 ANÁLISIS DE ALTERNATIVAS</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Por qué no un Excel, por qué no un SaaS genérico</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Denilson Leeke Mamani Flores   ·   ⏱ 50s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10 / 22</a:t>
            </a:r>
          </a:p>
        </p:txBody>
      </p:sp>
      <p:graphicFrame>
        <p:nvGraphicFramePr>
          <p:cNvPr id="7" name="Table 6"/>
          <p:cNvGraphicFramePr>
            <a:graphicFrameLocks noGrp="1"/>
          </p:cNvGraphicFramePr>
          <p:nvPr/>
        </p:nvGraphicFramePr>
        <p:xfrm>
          <a:off x="731520" y="1965960"/>
          <a:ext cx="10698480" cy="2834640"/>
        </p:xfrm>
        <a:graphic>
          <a:graphicData uri="http://schemas.openxmlformats.org/drawingml/2006/table">
            <a:tbl>
              <a:tblPr firstRow="1" bandRow="1">
                <a:tableStyleId>{5C22544A-7EE6-4342-B048-85BDC9FD1C3A}</a:tableStyleId>
              </a:tblPr>
              <a:tblGrid>
                <a:gridCol w="5212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72440">
                <a:tc>
                  <a:txBody>
                    <a:bodyPr/>
                    <a:lstStyle/>
                    <a:p>
                      <a:pPr>
                        <a:defRPr sz="1100" b="1">
                          <a:solidFill>
                            <a:srgbClr val="FFFFFF"/>
                          </a:solidFill>
                          <a:latin typeface="Segoe UI"/>
                        </a:defRPr>
                      </a:pPr>
                      <a:r>
                        <a:t>Criterio (escala 1–5)</a:t>
                      </a:r>
                    </a:p>
                  </a:txBody>
                  <a:tcPr marL="76200" marR="76200" marT="50800" marB="50800" anchor="ctr">
                    <a:solidFill>
                      <a:srgbClr val="1B2559"/>
                    </a:solidFill>
                  </a:tcPr>
                </a:tc>
                <a:tc>
                  <a:txBody>
                    <a:bodyPr/>
                    <a:lstStyle/>
                    <a:p>
                      <a:pPr>
                        <a:defRPr sz="1100" b="1">
                          <a:solidFill>
                            <a:srgbClr val="FFFFFF"/>
                          </a:solidFill>
                          <a:latin typeface="Segoe UI"/>
                        </a:defRPr>
                      </a:pPr>
                      <a:r>
                        <a:t>A. Manual</a:t>
                      </a:r>
                    </a:p>
                  </a:txBody>
                  <a:tcPr marL="76200" marR="76200" marT="50800" marB="50800" anchor="ctr">
                    <a:solidFill>
                      <a:srgbClr val="1B2559"/>
                    </a:solidFill>
                  </a:tcPr>
                </a:tc>
                <a:tc>
                  <a:txBody>
                    <a:bodyPr/>
                    <a:lstStyle/>
                    <a:p>
                      <a:pPr>
                        <a:defRPr sz="1100" b="1">
                          <a:solidFill>
                            <a:srgbClr val="FFFFFF"/>
                          </a:solidFill>
                          <a:latin typeface="Segoe UI"/>
                        </a:defRPr>
                      </a:pPr>
                      <a:r>
                        <a:t>B. SaaS de terceros</a:t>
                      </a:r>
                    </a:p>
                  </a:txBody>
                  <a:tcPr marL="76200" marR="76200" marT="50800" marB="50800" anchor="ctr">
                    <a:solidFill>
                      <a:srgbClr val="1B2559"/>
                    </a:solidFill>
                  </a:tcPr>
                </a:tc>
                <a:tc>
                  <a:txBody>
                    <a:bodyPr/>
                    <a:lstStyle/>
                    <a:p>
                      <a:pPr>
                        <a:defRPr sz="1100" b="1">
                          <a:solidFill>
                            <a:srgbClr val="1B2559"/>
                          </a:solidFill>
                          <a:latin typeface="Segoe UI"/>
                        </a:defRPr>
                      </a:pPr>
                      <a:r>
                        <a:t>C. Plataforma propia</a:t>
                      </a:r>
                    </a:p>
                  </a:txBody>
                  <a:tcPr marL="76200" marR="76200" marT="50800" marB="50800" anchor="ctr">
                    <a:solidFill>
                      <a:srgbClr val="DDE3FB"/>
                    </a:solidFill>
                  </a:tcPr>
                </a:tc>
                <a:extLst>
                  <a:ext uri="{0D108BD9-81ED-4DB2-BD59-A6C34878D82A}">
                    <a16:rowId xmlns:a16="http://schemas.microsoft.com/office/drawing/2014/main" val="10000"/>
                  </a:ext>
                </a:extLst>
              </a:tr>
              <a:tr h="472440">
                <a:tc>
                  <a:txBody>
                    <a:bodyPr/>
                    <a:lstStyle/>
                    <a:p>
                      <a:pPr>
                        <a:defRPr sz="1150" b="0">
                          <a:solidFill>
                            <a:srgbClr val="1B2559"/>
                          </a:solidFill>
                          <a:latin typeface="Segoe UI"/>
                        </a:defRPr>
                      </a:pPr>
                      <a:r>
                        <a:t>Costo total a 3 años</a:t>
                      </a:r>
                    </a:p>
                  </a:txBody>
                  <a:tcPr marL="76200" marR="76200" marT="50800" marB="50800" anchor="ctr">
                    <a:solidFill>
                      <a:srgbClr val="FFFFFF"/>
                    </a:solidFill>
                  </a:tcPr>
                </a:tc>
                <a:tc>
                  <a:txBody>
                    <a:bodyPr/>
                    <a:lstStyle/>
                    <a:p>
                      <a:pPr>
                        <a:defRPr sz="1150" b="0">
                          <a:solidFill>
                            <a:srgbClr val="1B2559"/>
                          </a:solidFill>
                          <a:latin typeface="Segoe UI"/>
                        </a:defRPr>
                      </a:pPr>
                      <a:r>
                        <a:t>2</a:t>
                      </a:r>
                    </a:p>
                  </a:txBody>
                  <a:tcPr marL="76200" marR="76200" marT="50800" marB="50800" anchor="ctr">
                    <a:solidFill>
                      <a:srgbClr val="FFFFFF"/>
                    </a:solidFill>
                  </a:tcPr>
                </a:tc>
                <a:tc>
                  <a:txBody>
                    <a:bodyPr/>
                    <a:lstStyle/>
                    <a:p>
                      <a:pPr>
                        <a:defRPr sz="1150" b="0">
                          <a:solidFill>
                            <a:srgbClr val="1B2559"/>
                          </a:solidFill>
                          <a:latin typeface="Segoe UI"/>
                        </a:defRPr>
                      </a:pPr>
                      <a:r>
                        <a:t>2</a:t>
                      </a:r>
                    </a:p>
                  </a:txBody>
                  <a:tcPr marL="76200" marR="76200" marT="50800" marB="50800" anchor="ctr">
                    <a:solidFill>
                      <a:srgbClr val="FFFFFF"/>
                    </a:solidFill>
                  </a:tcPr>
                </a:tc>
                <a:tc>
                  <a:txBody>
                    <a:bodyPr/>
                    <a:lstStyle/>
                    <a:p>
                      <a:pPr>
                        <a:defRPr sz="1150" b="0">
                          <a:solidFill>
                            <a:srgbClr val="1B2559"/>
                          </a:solidFill>
                          <a:latin typeface="Segoe UI"/>
                        </a:defRPr>
                      </a:pPr>
                      <a:r>
                        <a:t>4</a:t>
                      </a:r>
                    </a:p>
                  </a:txBody>
                  <a:tcPr marL="76200" marR="76200" marT="50800" marB="50800" anchor="ctr">
                    <a:solidFill>
                      <a:srgbClr val="DDE3FB"/>
                    </a:solidFill>
                  </a:tcPr>
                </a:tc>
                <a:extLst>
                  <a:ext uri="{0D108BD9-81ED-4DB2-BD59-A6C34878D82A}">
                    <a16:rowId xmlns:a16="http://schemas.microsoft.com/office/drawing/2014/main" val="10001"/>
                  </a:ext>
                </a:extLst>
              </a:tr>
              <a:tr h="472440">
                <a:tc>
                  <a:txBody>
                    <a:bodyPr/>
                    <a:lstStyle/>
                    <a:p>
                      <a:pPr>
                        <a:defRPr sz="1150" b="0">
                          <a:solidFill>
                            <a:srgbClr val="1B2559"/>
                          </a:solidFill>
                          <a:latin typeface="Segoe UI"/>
                        </a:defRPr>
                      </a:pPr>
                      <a:r>
                        <a:t>Ajuste al flujo real de CERMAT</a:t>
                      </a:r>
                    </a:p>
                  </a:txBody>
                  <a:tcPr marL="76200" marR="76200" marT="50800" marB="50800" anchor="ctr">
                    <a:solidFill>
                      <a:srgbClr val="FFFFFF"/>
                    </a:solidFill>
                  </a:tcPr>
                </a:tc>
                <a:tc>
                  <a:txBody>
                    <a:bodyPr/>
                    <a:lstStyle/>
                    <a:p>
                      <a:pPr>
                        <a:defRPr sz="1150" b="0">
                          <a:solidFill>
                            <a:srgbClr val="1B2559"/>
                          </a:solidFill>
                          <a:latin typeface="Segoe UI"/>
                        </a:defRPr>
                      </a:pPr>
                      <a:r>
                        <a:t>1</a:t>
                      </a:r>
                    </a:p>
                  </a:txBody>
                  <a:tcPr marL="76200" marR="76200" marT="50800" marB="50800" anchor="ctr">
                    <a:solidFill>
                      <a:srgbClr val="FFFFFF"/>
                    </a:solidFill>
                  </a:tcPr>
                </a:tc>
                <a:tc>
                  <a:txBody>
                    <a:bodyPr/>
                    <a:lstStyle/>
                    <a:p>
                      <a:pPr>
                        <a:defRPr sz="1150" b="0">
                          <a:solidFill>
                            <a:srgbClr val="1B2559"/>
                          </a:solidFill>
                          <a:latin typeface="Segoe UI"/>
                        </a:defRPr>
                      </a:pPr>
                      <a:r>
                        <a:t>2</a:t>
                      </a:r>
                    </a:p>
                  </a:txBody>
                  <a:tcPr marL="76200" marR="76200" marT="50800" marB="50800" anchor="ctr">
                    <a:solidFill>
                      <a:srgbClr val="FFFFFF"/>
                    </a:solidFill>
                  </a:tcPr>
                </a:tc>
                <a:tc>
                  <a:txBody>
                    <a:bodyPr/>
                    <a:lstStyle/>
                    <a:p>
                      <a:pPr>
                        <a:defRPr sz="1150" b="0">
                          <a:solidFill>
                            <a:srgbClr val="1B2559"/>
                          </a:solidFill>
                          <a:latin typeface="Segoe UI"/>
                        </a:defRPr>
                      </a:pPr>
                      <a:r>
                        <a:t>5</a:t>
                      </a:r>
                    </a:p>
                  </a:txBody>
                  <a:tcPr marL="76200" marR="76200" marT="50800" marB="50800" anchor="ctr">
                    <a:solidFill>
                      <a:srgbClr val="DDE3FB"/>
                    </a:solidFill>
                  </a:tcPr>
                </a:tc>
                <a:extLst>
                  <a:ext uri="{0D108BD9-81ED-4DB2-BD59-A6C34878D82A}">
                    <a16:rowId xmlns:a16="http://schemas.microsoft.com/office/drawing/2014/main" val="10002"/>
                  </a:ext>
                </a:extLst>
              </a:tr>
              <a:tr h="472440">
                <a:tc>
                  <a:txBody>
                    <a:bodyPr/>
                    <a:lstStyle/>
                    <a:p>
                      <a:pPr>
                        <a:defRPr sz="1150" b="0">
                          <a:solidFill>
                            <a:srgbClr val="1B2559"/>
                          </a:solidFill>
                          <a:latin typeface="Segoe UI"/>
                        </a:defRPr>
                      </a:pPr>
                      <a:r>
                        <a:t>Control y propiedad de los datos</a:t>
                      </a:r>
                    </a:p>
                  </a:txBody>
                  <a:tcPr marL="76200" marR="76200" marT="50800" marB="50800" anchor="ctr">
                    <a:solidFill>
                      <a:srgbClr val="FFFFFF"/>
                    </a:solidFill>
                  </a:tcPr>
                </a:tc>
                <a:tc>
                  <a:txBody>
                    <a:bodyPr/>
                    <a:lstStyle/>
                    <a:p>
                      <a:pPr>
                        <a:defRPr sz="1150" b="0">
                          <a:solidFill>
                            <a:srgbClr val="1B2559"/>
                          </a:solidFill>
                          <a:latin typeface="Segoe UI"/>
                        </a:defRPr>
                      </a:pPr>
                      <a:r>
                        <a:t>3</a:t>
                      </a:r>
                    </a:p>
                  </a:txBody>
                  <a:tcPr marL="76200" marR="76200" marT="50800" marB="50800" anchor="ctr">
                    <a:solidFill>
                      <a:srgbClr val="FFFFFF"/>
                    </a:solidFill>
                  </a:tcPr>
                </a:tc>
                <a:tc>
                  <a:txBody>
                    <a:bodyPr/>
                    <a:lstStyle/>
                    <a:p>
                      <a:pPr>
                        <a:defRPr sz="1150" b="0">
                          <a:solidFill>
                            <a:srgbClr val="1B2559"/>
                          </a:solidFill>
                          <a:latin typeface="Segoe UI"/>
                        </a:defRPr>
                      </a:pPr>
                      <a:r>
                        <a:t>2</a:t>
                      </a:r>
                    </a:p>
                  </a:txBody>
                  <a:tcPr marL="76200" marR="76200" marT="50800" marB="50800" anchor="ctr">
                    <a:solidFill>
                      <a:srgbClr val="FFFFFF"/>
                    </a:solidFill>
                  </a:tcPr>
                </a:tc>
                <a:tc>
                  <a:txBody>
                    <a:bodyPr/>
                    <a:lstStyle/>
                    <a:p>
                      <a:pPr>
                        <a:defRPr sz="1150" b="0">
                          <a:solidFill>
                            <a:srgbClr val="1B2559"/>
                          </a:solidFill>
                          <a:latin typeface="Segoe UI"/>
                        </a:defRPr>
                      </a:pPr>
                      <a:r>
                        <a:t>5</a:t>
                      </a:r>
                    </a:p>
                  </a:txBody>
                  <a:tcPr marL="76200" marR="76200" marT="50800" marB="50800" anchor="ctr">
                    <a:solidFill>
                      <a:srgbClr val="DDE3FB"/>
                    </a:solidFill>
                  </a:tcPr>
                </a:tc>
                <a:extLst>
                  <a:ext uri="{0D108BD9-81ED-4DB2-BD59-A6C34878D82A}">
                    <a16:rowId xmlns:a16="http://schemas.microsoft.com/office/drawing/2014/main" val="10003"/>
                  </a:ext>
                </a:extLst>
              </a:tr>
              <a:tr h="472440">
                <a:tc>
                  <a:txBody>
                    <a:bodyPr/>
                    <a:lstStyle/>
                    <a:p>
                      <a:pPr>
                        <a:defRPr sz="1150" b="0">
                          <a:solidFill>
                            <a:srgbClr val="1B2559"/>
                          </a:solidFill>
                          <a:latin typeface="Segoe UI"/>
                        </a:defRPr>
                      </a:pPr>
                      <a:r>
                        <a:t>Velocidad de evolución futura</a:t>
                      </a:r>
                    </a:p>
                  </a:txBody>
                  <a:tcPr marL="76200" marR="76200" marT="50800" marB="50800" anchor="ctr">
                    <a:solidFill>
                      <a:srgbClr val="FFFFFF"/>
                    </a:solidFill>
                  </a:tcPr>
                </a:tc>
                <a:tc>
                  <a:txBody>
                    <a:bodyPr/>
                    <a:lstStyle/>
                    <a:p>
                      <a:pPr>
                        <a:defRPr sz="1150" b="0">
                          <a:solidFill>
                            <a:srgbClr val="1B2559"/>
                          </a:solidFill>
                          <a:latin typeface="Segoe UI"/>
                        </a:defRPr>
                      </a:pPr>
                      <a:r>
                        <a:t>1</a:t>
                      </a:r>
                    </a:p>
                  </a:txBody>
                  <a:tcPr marL="76200" marR="76200" marT="50800" marB="50800" anchor="ctr">
                    <a:solidFill>
                      <a:srgbClr val="FFFFFF"/>
                    </a:solidFill>
                  </a:tcPr>
                </a:tc>
                <a:tc>
                  <a:txBody>
                    <a:bodyPr/>
                    <a:lstStyle/>
                    <a:p>
                      <a:pPr>
                        <a:defRPr sz="1150" b="0">
                          <a:solidFill>
                            <a:srgbClr val="1B2559"/>
                          </a:solidFill>
                          <a:latin typeface="Segoe UI"/>
                        </a:defRPr>
                      </a:pPr>
                      <a:r>
                        <a:t>2</a:t>
                      </a:r>
                    </a:p>
                  </a:txBody>
                  <a:tcPr marL="76200" marR="76200" marT="50800" marB="50800" anchor="ctr">
                    <a:solidFill>
                      <a:srgbClr val="FFFFFF"/>
                    </a:solidFill>
                  </a:tcPr>
                </a:tc>
                <a:tc>
                  <a:txBody>
                    <a:bodyPr/>
                    <a:lstStyle/>
                    <a:p>
                      <a:pPr>
                        <a:defRPr sz="1150" b="0">
                          <a:solidFill>
                            <a:srgbClr val="1B2559"/>
                          </a:solidFill>
                          <a:latin typeface="Segoe UI"/>
                        </a:defRPr>
                      </a:pPr>
                      <a:r>
                        <a:t>4</a:t>
                      </a:r>
                    </a:p>
                  </a:txBody>
                  <a:tcPr marL="76200" marR="76200" marT="50800" marB="50800" anchor="ctr">
                    <a:solidFill>
                      <a:srgbClr val="DDE3FB"/>
                    </a:solidFill>
                  </a:tcPr>
                </a:tc>
                <a:extLst>
                  <a:ext uri="{0D108BD9-81ED-4DB2-BD59-A6C34878D82A}">
                    <a16:rowId xmlns:a16="http://schemas.microsoft.com/office/drawing/2014/main" val="10004"/>
                  </a:ext>
                </a:extLst>
              </a:tr>
              <a:tr h="472440">
                <a:tc>
                  <a:txBody>
                    <a:bodyPr/>
                    <a:lstStyle/>
                    <a:p>
                      <a:pPr>
                        <a:defRPr sz="1150" b="1">
                          <a:solidFill>
                            <a:srgbClr val="1B2559"/>
                          </a:solidFill>
                          <a:latin typeface="Segoe UI"/>
                        </a:defRPr>
                      </a:pPr>
                      <a:r>
                        <a:t>Total</a:t>
                      </a:r>
                    </a:p>
                  </a:txBody>
                  <a:tcPr marL="76200" marR="76200" marT="50800" marB="50800" anchor="ctr">
                    <a:solidFill>
                      <a:srgbClr val="FFFFFF"/>
                    </a:solidFill>
                  </a:tcPr>
                </a:tc>
                <a:tc>
                  <a:txBody>
                    <a:bodyPr/>
                    <a:lstStyle/>
                    <a:p>
                      <a:pPr>
                        <a:defRPr sz="1150" b="1">
                          <a:solidFill>
                            <a:srgbClr val="1B2559"/>
                          </a:solidFill>
                          <a:latin typeface="Segoe UI"/>
                        </a:defRPr>
                      </a:pPr>
                      <a:r>
                        <a:t>7</a:t>
                      </a:r>
                    </a:p>
                  </a:txBody>
                  <a:tcPr marL="76200" marR="76200" marT="50800" marB="50800" anchor="ctr">
                    <a:solidFill>
                      <a:srgbClr val="FFFFFF"/>
                    </a:solidFill>
                  </a:tcPr>
                </a:tc>
                <a:tc>
                  <a:txBody>
                    <a:bodyPr/>
                    <a:lstStyle/>
                    <a:p>
                      <a:pPr>
                        <a:defRPr sz="1150" b="1">
                          <a:solidFill>
                            <a:srgbClr val="1B2559"/>
                          </a:solidFill>
                          <a:latin typeface="Segoe UI"/>
                        </a:defRPr>
                      </a:pPr>
                      <a:r>
                        <a:t>8</a:t>
                      </a:r>
                    </a:p>
                  </a:txBody>
                  <a:tcPr marL="76200" marR="76200" marT="50800" marB="50800" anchor="ctr">
                    <a:solidFill>
                      <a:srgbClr val="FFFFFF"/>
                    </a:solidFill>
                  </a:tcPr>
                </a:tc>
                <a:tc>
                  <a:txBody>
                    <a:bodyPr/>
                    <a:lstStyle/>
                    <a:p>
                      <a:pPr>
                        <a:defRPr sz="1150" b="1">
                          <a:solidFill>
                            <a:srgbClr val="1B2559"/>
                          </a:solidFill>
                          <a:latin typeface="Segoe UI"/>
                        </a:defRPr>
                      </a:pPr>
                      <a:r>
                        <a:t>18</a:t>
                      </a:r>
                    </a:p>
                  </a:txBody>
                  <a:tcPr marL="76200" marR="76200" marT="50800" marB="50800" anchor="ctr">
                    <a:solidFill>
                      <a:srgbClr val="DDE3FB"/>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E2 · 2.4 ESTIMACIÓN DE COSTOS</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Sin licencias recurrentes, con costo operativo variable</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Denilson Leeke Mamani Flores   ·   ⏱ 40s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11 / 22</a:t>
            </a:r>
          </a:p>
        </p:txBody>
      </p:sp>
      <p:sp>
        <p:nvSpPr>
          <p:cNvPr id="7" name="Rounded Rectangle 6"/>
          <p:cNvSpPr/>
          <p:nvPr/>
        </p:nvSpPr>
        <p:spPr>
          <a:xfrm>
            <a:off x="731520" y="1920240"/>
            <a:ext cx="5120640" cy="141732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029968"/>
            <a:ext cx="47914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INVERSIÓN INICIAL</a:t>
            </a:r>
          </a:p>
        </p:txBody>
      </p:sp>
      <p:sp>
        <p:nvSpPr>
          <p:cNvPr id="9" name="TextBox 8"/>
          <p:cNvSpPr txBox="1"/>
          <p:nvPr/>
        </p:nvSpPr>
        <p:spPr>
          <a:xfrm>
            <a:off x="896112" y="2304288"/>
            <a:ext cx="4791456" cy="91440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Horas de desarrollo del equipo propio, stack de código abierto (React, Node.js, MySQL, Python) — sin licencias.</a:t>
            </a:r>
          </a:p>
        </p:txBody>
      </p:sp>
      <p:sp>
        <p:nvSpPr>
          <p:cNvPr id="10" name="Rounded Rectangle 9"/>
          <p:cNvSpPr/>
          <p:nvPr/>
        </p:nvSpPr>
        <p:spPr>
          <a:xfrm>
            <a:off x="6035040" y="1920240"/>
            <a:ext cx="5394960" cy="141732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99632" y="2029968"/>
            <a:ext cx="506577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COSTOS RECURRENTES</a:t>
            </a:r>
          </a:p>
        </p:txBody>
      </p:sp>
      <p:sp>
        <p:nvSpPr>
          <p:cNvPr id="12" name="TextBox 11"/>
          <p:cNvSpPr txBox="1"/>
          <p:nvPr/>
        </p:nvSpPr>
        <p:spPr>
          <a:xfrm>
            <a:off x="6199632" y="2304288"/>
            <a:ext cx="5065776" cy="91440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Plan de Firebase según uso (Firestore/Storage/Auth), dominio y hosting de la SPA.</a:t>
            </a:r>
          </a:p>
        </p:txBody>
      </p:sp>
      <p:sp>
        <p:nvSpPr>
          <p:cNvPr id="13" name="Rounded Rectangle 12"/>
          <p:cNvSpPr/>
          <p:nvPr/>
        </p:nvSpPr>
        <p:spPr>
          <a:xfrm>
            <a:off x="731520" y="3520440"/>
            <a:ext cx="5120640" cy="141732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6112" y="3630168"/>
            <a:ext cx="47914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MANTENIMIENTO</a:t>
            </a:r>
          </a:p>
        </p:txBody>
      </p:sp>
      <p:sp>
        <p:nvSpPr>
          <p:cNvPr id="15" name="TextBox 14"/>
          <p:cNvSpPr txBox="1"/>
          <p:nvPr/>
        </p:nvSpPr>
        <p:spPr>
          <a:xfrm>
            <a:off x="896112" y="3904488"/>
            <a:ext cx="4791456" cy="91440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Horas de soporte y evolución — más de 90 documentos de fase y auditoría respaldan ese trabajo continuo.</a:t>
            </a:r>
          </a:p>
        </p:txBody>
      </p:sp>
      <p:sp>
        <p:nvSpPr>
          <p:cNvPr id="16" name="Rounded Rectangle 15"/>
          <p:cNvSpPr/>
          <p:nvPr/>
        </p:nvSpPr>
        <p:spPr>
          <a:xfrm>
            <a:off x="6035040" y="3520440"/>
            <a:ext cx="5394960" cy="141732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99632" y="3630168"/>
            <a:ext cx="506577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CAPA LOCAL</a:t>
            </a:r>
          </a:p>
        </p:txBody>
      </p:sp>
      <p:sp>
        <p:nvSpPr>
          <p:cNvPr id="18" name="TextBox 17"/>
          <p:cNvSpPr txBox="1"/>
          <p:nvPr/>
        </p:nvSpPr>
        <p:spPr>
          <a:xfrm>
            <a:off x="6199632" y="3904488"/>
            <a:ext cx="5065776" cy="91440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Servidor local, UPS y conectividad de respaldo, dimensionados en la línea de Infraestructura.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E2 · 2.5 RIESGOS INICIALES</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Riesgos identificados desde el negocio, no solo desde la técnica</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Denilson Leeke Mamani Flores   ·   ⏱ 35s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12 / 22</a:t>
            </a:r>
          </a:p>
        </p:txBody>
      </p:sp>
      <p:graphicFrame>
        <p:nvGraphicFramePr>
          <p:cNvPr id="7" name="Table 6"/>
          <p:cNvGraphicFramePr>
            <a:graphicFrameLocks noGrp="1"/>
          </p:cNvGraphicFramePr>
          <p:nvPr/>
        </p:nvGraphicFramePr>
        <p:xfrm>
          <a:off x="731520" y="1965960"/>
          <a:ext cx="10698480" cy="31089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777240">
                <a:tc>
                  <a:txBody>
                    <a:bodyPr/>
                    <a:lstStyle/>
                    <a:p>
                      <a:pPr>
                        <a:defRPr sz="1200" b="1">
                          <a:solidFill>
                            <a:srgbClr val="FFFFFF"/>
                          </a:solidFill>
                          <a:latin typeface="Segoe UI"/>
                        </a:defRPr>
                      </a:pPr>
                      <a:r>
                        <a:t>Riesgo</a:t>
                      </a:r>
                    </a:p>
                  </a:txBody>
                  <a:tcPr marL="76200" marR="76200" marT="50800" marB="50800" anchor="ctr">
                    <a:solidFill>
                      <a:srgbClr val="1B2559"/>
                    </a:solidFill>
                  </a:tcPr>
                </a:tc>
                <a:tc>
                  <a:txBody>
                    <a:bodyPr/>
                    <a:lstStyle/>
                    <a:p>
                      <a:pPr>
                        <a:defRPr sz="1200" b="1">
                          <a:solidFill>
                            <a:srgbClr val="FFFFFF"/>
                          </a:solidFill>
                          <a:latin typeface="Segoe UI"/>
                        </a:defRPr>
                      </a:pPr>
                      <a:r>
                        <a:t>Impacto preliminar</a:t>
                      </a:r>
                    </a:p>
                  </a:txBody>
                  <a:tcPr marL="76200" marR="76200" marT="50800" marB="50800" anchor="ctr">
                    <a:solidFill>
                      <a:srgbClr val="1B2559"/>
                    </a:solidFill>
                  </a:tcPr>
                </a:tc>
                <a:extLst>
                  <a:ext uri="{0D108BD9-81ED-4DB2-BD59-A6C34878D82A}">
                    <a16:rowId xmlns:a16="http://schemas.microsoft.com/office/drawing/2014/main" val="10000"/>
                  </a:ext>
                </a:extLst>
              </a:tr>
              <a:tr h="777240">
                <a:tc>
                  <a:txBody>
                    <a:bodyPr/>
                    <a:lstStyle/>
                    <a:p>
                      <a:pPr>
                        <a:defRPr sz="1250" b="0">
                          <a:solidFill>
                            <a:srgbClr val="1B2559"/>
                          </a:solidFill>
                          <a:latin typeface="Segoe UI"/>
                        </a:defRPr>
                      </a:pPr>
                      <a:r>
                        <a:t>Dependencia de un equipo técnico reducido</a:t>
                      </a:r>
                    </a:p>
                  </a:txBody>
                  <a:tcPr marL="76200" marR="76200" marT="50800" marB="50800" anchor="ctr">
                    <a:solidFill>
                      <a:srgbClr val="FFFFFF"/>
                    </a:solidFill>
                  </a:tcPr>
                </a:tc>
                <a:tc>
                  <a:txBody>
                    <a:bodyPr/>
                    <a:lstStyle/>
                    <a:p>
                      <a:pPr>
                        <a:defRPr sz="1250" b="0">
                          <a:solidFill>
                            <a:srgbClr val="1B2559"/>
                          </a:solidFill>
                          <a:latin typeface="Segoe UI"/>
                        </a:defRPr>
                      </a:pPr>
                      <a:r>
                        <a:t>Medio-alto — mitigado documentando el sistema exhaustivamente (este perfil de egreso).</a:t>
                      </a:r>
                    </a:p>
                  </a:txBody>
                  <a:tcPr marL="76200" marR="76200" marT="50800" marB="50800" anchor="ctr">
                    <a:solidFill>
                      <a:srgbClr val="FFFFFF"/>
                    </a:solidFill>
                  </a:tcPr>
                </a:tc>
                <a:extLst>
                  <a:ext uri="{0D108BD9-81ED-4DB2-BD59-A6C34878D82A}">
                    <a16:rowId xmlns:a16="http://schemas.microsoft.com/office/drawing/2014/main" val="10001"/>
                  </a:ext>
                </a:extLst>
              </a:tr>
              <a:tr h="777240">
                <a:tc>
                  <a:txBody>
                    <a:bodyPr/>
                    <a:lstStyle/>
                    <a:p>
                      <a:pPr>
                        <a:defRPr sz="1250" b="0">
                          <a:solidFill>
                            <a:srgbClr val="1B2559"/>
                          </a:solidFill>
                          <a:latin typeface="Segoe UI"/>
                        </a:defRPr>
                      </a:pPr>
                      <a:r>
                        <a:t>Cambios regulatorios de protección de datos de menores</a:t>
                      </a:r>
                    </a:p>
                  </a:txBody>
                  <a:tcPr marL="76200" marR="76200" marT="50800" marB="50800" anchor="ctr">
                    <a:solidFill>
                      <a:srgbClr val="FFFFFF"/>
                    </a:solidFill>
                  </a:tcPr>
                </a:tc>
                <a:tc>
                  <a:txBody>
                    <a:bodyPr/>
                    <a:lstStyle/>
                    <a:p>
                      <a:pPr>
                        <a:defRPr sz="1250" b="0">
                          <a:solidFill>
                            <a:srgbClr val="1B2559"/>
                          </a:solidFill>
                          <a:latin typeface="Segoe UI"/>
                        </a:defRPr>
                      </a:pPr>
                      <a:r>
                        <a:t>Medio — mitigado con las políticas de la línea de Infraestructura (CE0321).</a:t>
                      </a:r>
                    </a:p>
                  </a:txBody>
                  <a:tcPr marL="76200" marR="76200" marT="50800" marB="50800" anchor="ctr">
                    <a:solidFill>
                      <a:srgbClr val="FFFFFF"/>
                    </a:solidFill>
                  </a:tcPr>
                </a:tc>
                <a:extLst>
                  <a:ext uri="{0D108BD9-81ED-4DB2-BD59-A6C34878D82A}">
                    <a16:rowId xmlns:a16="http://schemas.microsoft.com/office/drawing/2014/main" val="10002"/>
                  </a:ext>
                </a:extLst>
              </a:tr>
              <a:tr h="777240">
                <a:tc>
                  <a:txBody>
                    <a:bodyPr/>
                    <a:lstStyle/>
                    <a:p>
                      <a:pPr>
                        <a:defRPr sz="1250" b="0">
                          <a:solidFill>
                            <a:srgbClr val="1B2559"/>
                          </a:solidFill>
                          <a:latin typeface="Segoe UI"/>
                        </a:defRPr>
                      </a:pPr>
                      <a:r>
                        <a:t>Resistencia al cambio del personal</a:t>
                      </a:r>
                    </a:p>
                  </a:txBody>
                  <a:tcPr marL="76200" marR="76200" marT="50800" marB="50800" anchor="ctr">
                    <a:solidFill>
                      <a:srgbClr val="FFFFFF"/>
                    </a:solidFill>
                  </a:tcPr>
                </a:tc>
                <a:tc>
                  <a:txBody>
                    <a:bodyPr/>
                    <a:lstStyle/>
                    <a:p>
                      <a:pPr>
                        <a:defRPr sz="1250" b="0">
                          <a:solidFill>
                            <a:srgbClr val="1B2559"/>
                          </a:solidFill>
                          <a:latin typeface="Segoe UI"/>
                        </a:defRPr>
                      </a:pPr>
                      <a:r>
                        <a:t>Bajo-medio — mitigado por la simplicidad de los portales por rol.</a:t>
                      </a:r>
                    </a:p>
                  </a:txBody>
                  <a:tcPr marL="76200" marR="76200" marT="50800" marB="50800"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2559"/>
        </a:solidFill>
        <a:effectLst/>
      </p:bgPr>
    </p:bg>
    <p:spTree>
      <p:nvGrpSpPr>
        <p:cNvPr id="1" name=""/>
        <p:cNvGrpSpPr/>
        <p:nvPr/>
      </p:nvGrpSpPr>
      <p:grpSpPr>
        <a:xfrm>
          <a:off x="0" y="0"/>
          <a:ext cx="0" cy="0"/>
          <a:chOff x="0" y="0"/>
          <a:chExt cx="0" cy="0"/>
        </a:xfrm>
      </p:grpSpPr>
      <p:sp>
        <p:nvSpPr>
          <p:cNvPr id="2" name="TextBox 1"/>
          <p:cNvSpPr txBox="1"/>
          <p:nvPr/>
        </p:nvSpPr>
        <p:spPr>
          <a:xfrm>
            <a:off x="731520" y="1828800"/>
            <a:ext cx="82296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AAB6FF"/>
                </a:solidFill>
                <a:latin typeface="Segoe UI"/>
              </a:rPr>
              <a:t>ENTREGABLE 03</a:t>
            </a:r>
          </a:p>
        </p:txBody>
      </p:sp>
      <p:sp>
        <p:nvSpPr>
          <p:cNvPr id="3" name="TextBox 2"/>
          <p:cNvSpPr txBox="1"/>
          <p:nvPr/>
        </p:nvSpPr>
        <p:spPr>
          <a:xfrm>
            <a:off x="731520" y="2331720"/>
            <a:ext cx="7863840" cy="1463040"/>
          </a:xfrm>
          <a:prstGeom prst="rect">
            <a:avLst/>
          </a:prstGeom>
          <a:noFill/>
        </p:spPr>
        <p:txBody>
          <a:bodyPr wrap="square" lIns="0" tIns="0" rIns="0" bIns="0" anchor="t">
            <a:spAutoFit/>
          </a:bodyPr>
          <a:lstStyle/>
          <a:p>
            <a:pPr algn="l">
              <a:lnSpc>
                <a:spcPct val="105000"/>
              </a:lnSpc>
              <a:spcAft>
                <a:spcPts val="0"/>
              </a:spcAft>
            </a:pPr>
            <a:r>
              <a:rPr sz="3200" b="0" i="0">
                <a:solidFill>
                  <a:srgbClr val="FFFFFF"/>
                </a:solidFill>
                <a:latin typeface="Segoe UI"/>
              </a:rPr>
              <a:t>Plan de Gestión del Proyecto</a:t>
            </a:r>
          </a:p>
        </p:txBody>
      </p:sp>
      <p:sp>
        <p:nvSpPr>
          <p:cNvPr id="4" name="TextBox 3"/>
          <p:cNvSpPr txBox="1"/>
          <p:nvPr/>
        </p:nvSpPr>
        <p:spPr>
          <a:xfrm>
            <a:off x="731520" y="3794760"/>
            <a:ext cx="7863840" cy="731520"/>
          </a:xfrm>
          <a:prstGeom prst="rect">
            <a:avLst/>
          </a:prstGeom>
          <a:noFill/>
        </p:spPr>
        <p:txBody>
          <a:bodyPr wrap="square" lIns="0" tIns="0" rIns="0" bIns="0" anchor="t">
            <a:spAutoFit/>
          </a:bodyPr>
          <a:lstStyle/>
          <a:p>
            <a:pPr algn="l">
              <a:lnSpc>
                <a:spcPct val="100000"/>
              </a:lnSpc>
              <a:spcAft>
                <a:spcPts val="0"/>
              </a:spcAft>
            </a:pPr>
            <a:r>
              <a:rPr sz="1300" b="0" i="0">
                <a:solidFill>
                  <a:srgbClr val="9AA4DE"/>
                </a:solidFill>
                <a:latin typeface="Segoe UI"/>
              </a:rPr>
              <a:t>Acta de constitución · alcance (EDT) · cronograma · costos · riesgos · enfoque ágil</a:t>
            </a:r>
          </a:p>
        </p:txBody>
      </p:sp>
      <p:sp>
        <p:nvSpPr>
          <p:cNvPr id="5" name="Rectangle 4"/>
          <p:cNvSpPr/>
          <p:nvPr/>
        </p:nvSpPr>
        <p:spPr>
          <a:xfrm>
            <a:off x="731520" y="4434840"/>
            <a:ext cx="2926080" cy="12700"/>
          </a:xfrm>
          <a:prstGeom prst="rect">
            <a:avLst/>
          </a:prstGeom>
          <a:solidFill>
            <a:srgbClr val="333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617720"/>
            <a:ext cx="3657600" cy="32004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EXPONE</a:t>
            </a:r>
          </a:p>
        </p:txBody>
      </p:sp>
      <p:sp>
        <p:nvSpPr>
          <p:cNvPr id="7" name="TextBox 6"/>
          <p:cNvSpPr txBox="1"/>
          <p:nvPr/>
        </p:nvSpPr>
        <p:spPr>
          <a:xfrm>
            <a:off x="731520" y="4892040"/>
            <a:ext cx="4572000" cy="457200"/>
          </a:xfrm>
          <a:prstGeom prst="rect">
            <a:avLst/>
          </a:prstGeom>
          <a:noFill/>
        </p:spPr>
        <p:txBody>
          <a:bodyPr wrap="square" lIns="0" tIns="0" rIns="0" bIns="0" anchor="t">
            <a:spAutoFit/>
          </a:bodyPr>
          <a:lstStyle/>
          <a:p>
            <a:pPr algn="l">
              <a:lnSpc>
                <a:spcPct val="100000"/>
              </a:lnSpc>
              <a:spcAft>
                <a:spcPts val="0"/>
              </a:spcAft>
            </a:pPr>
            <a:r>
              <a:rPr sz="1700" b="1" i="0">
                <a:solidFill>
                  <a:srgbClr val="FFFFFF"/>
                </a:solidFill>
                <a:latin typeface="Segoe UI"/>
              </a:rPr>
              <a:t>Cárdenas Vilca Rennzo</a:t>
            </a:r>
          </a:p>
        </p:txBody>
      </p:sp>
      <p:sp>
        <p:nvSpPr>
          <p:cNvPr id="8" name="TextBox 7"/>
          <p:cNvSpPr txBox="1"/>
          <p:nvPr/>
        </p:nvSpPr>
        <p:spPr>
          <a:xfrm>
            <a:off x="5669280" y="4617720"/>
            <a:ext cx="2743200" cy="32004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TIEMPO ASIGNADO</a:t>
            </a:r>
          </a:p>
        </p:txBody>
      </p:sp>
      <p:sp>
        <p:nvSpPr>
          <p:cNvPr id="9" name="TextBox 8"/>
          <p:cNvSpPr txBox="1"/>
          <p:nvPr/>
        </p:nvSpPr>
        <p:spPr>
          <a:xfrm>
            <a:off x="5669280" y="4892040"/>
            <a:ext cx="2743200" cy="457200"/>
          </a:xfrm>
          <a:prstGeom prst="rect">
            <a:avLst/>
          </a:prstGeom>
          <a:noFill/>
        </p:spPr>
        <p:txBody>
          <a:bodyPr wrap="square" lIns="0" tIns="0" rIns="0" bIns="0" anchor="t">
            <a:spAutoFit/>
          </a:bodyPr>
          <a:lstStyle/>
          <a:p>
            <a:pPr algn="l">
              <a:lnSpc>
                <a:spcPct val="100000"/>
              </a:lnSpc>
              <a:spcAft>
                <a:spcPts val="0"/>
              </a:spcAft>
            </a:pPr>
            <a:r>
              <a:rPr sz="1700" b="1" i="0">
                <a:solidFill>
                  <a:srgbClr val="FFFFFF"/>
                </a:solidFill>
                <a:latin typeface="Segoe UI"/>
              </a:rPr>
              <a:t>3:15</a:t>
            </a:r>
          </a:p>
        </p:txBody>
      </p:sp>
      <p:sp>
        <p:nvSpPr>
          <p:cNvPr id="10" name="TextBox 9"/>
          <p:cNvSpPr txBox="1"/>
          <p:nvPr/>
        </p:nvSpPr>
        <p:spPr>
          <a:xfrm>
            <a:off x="9326880" y="1463040"/>
            <a:ext cx="2377440" cy="2743200"/>
          </a:xfrm>
          <a:prstGeom prst="rect">
            <a:avLst/>
          </a:prstGeom>
          <a:noFill/>
        </p:spPr>
        <p:txBody>
          <a:bodyPr wrap="square" lIns="0" tIns="0" rIns="0" bIns="0" anchor="t">
            <a:spAutoFit/>
          </a:bodyPr>
          <a:lstStyle/>
          <a:p>
            <a:pPr algn="r">
              <a:lnSpc>
                <a:spcPct val="100000"/>
              </a:lnSpc>
              <a:spcAft>
                <a:spcPts val="0"/>
              </a:spcAft>
            </a:pPr>
            <a:r>
              <a:rPr sz="14000" b="0" i="0">
                <a:solidFill>
                  <a:srgbClr val="2C3576"/>
                </a:solidFill>
                <a:latin typeface="Georgia"/>
              </a:rPr>
              <a:t>03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E3 · 3.1 ACTA DE CONSTITUCIÓN</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Quién lo pidió, qué se prometió, qué quedó fuera</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Cárdenas Vilca Rennzo   ·   ⏱ 40s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14 / 22</a:t>
            </a:r>
          </a:p>
        </p:txBody>
      </p:sp>
      <p:sp>
        <p:nvSpPr>
          <p:cNvPr id="7" name="Rounded Rectangle 6"/>
          <p:cNvSpPr/>
          <p:nvPr/>
        </p:nvSpPr>
        <p:spPr>
          <a:xfrm>
            <a:off x="731520" y="1920240"/>
            <a:ext cx="5120640" cy="141732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029968"/>
            <a:ext cx="47914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SPONSOR</a:t>
            </a:r>
          </a:p>
        </p:txBody>
      </p:sp>
      <p:sp>
        <p:nvSpPr>
          <p:cNvPr id="9" name="TextBox 8"/>
          <p:cNvSpPr txBox="1"/>
          <p:nvPr/>
        </p:nvSpPr>
        <p:spPr>
          <a:xfrm>
            <a:off x="896112" y="2304288"/>
            <a:ext cx="4791456" cy="91440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Dirección de Academia La Prepa Cermat.</a:t>
            </a:r>
          </a:p>
        </p:txBody>
      </p:sp>
      <p:sp>
        <p:nvSpPr>
          <p:cNvPr id="10" name="Rounded Rectangle 9"/>
          <p:cNvSpPr/>
          <p:nvPr/>
        </p:nvSpPr>
        <p:spPr>
          <a:xfrm>
            <a:off x="6035040" y="1920240"/>
            <a:ext cx="5394960" cy="141732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99632" y="2029968"/>
            <a:ext cx="506577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ALCANCE PRELIMINAR</a:t>
            </a:r>
          </a:p>
        </p:txBody>
      </p:sp>
      <p:sp>
        <p:nvSpPr>
          <p:cNvPr id="12" name="TextBox 11"/>
          <p:cNvSpPr txBox="1"/>
          <p:nvPr/>
        </p:nvSpPr>
        <p:spPr>
          <a:xfrm>
            <a:off x="6199632" y="2304288"/>
            <a:ext cx="5065776" cy="91440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Sitio público, matrícula, ciclos/grupos/sedes, pagos, asistencia QR, portales por rol, recursos/blog/talleres.</a:t>
            </a:r>
          </a:p>
        </p:txBody>
      </p:sp>
      <p:sp>
        <p:nvSpPr>
          <p:cNvPr id="13" name="Rounded Rectangle 12"/>
          <p:cNvSpPr/>
          <p:nvPr/>
        </p:nvSpPr>
        <p:spPr>
          <a:xfrm>
            <a:off x="731520" y="3520440"/>
            <a:ext cx="5120640" cy="141732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3520440"/>
            <a:ext cx="54864" cy="141732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3630168"/>
            <a:ext cx="47914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RESTRICCIONES</a:t>
            </a:r>
          </a:p>
        </p:txBody>
      </p:sp>
      <p:sp>
        <p:nvSpPr>
          <p:cNvPr id="16" name="TextBox 15"/>
          <p:cNvSpPr txBox="1"/>
          <p:nvPr/>
        </p:nvSpPr>
        <p:spPr>
          <a:xfrm>
            <a:off x="896112" y="3904488"/>
            <a:ext cx="4791456" cy="914400"/>
          </a:xfrm>
          <a:prstGeom prst="rect">
            <a:avLst/>
          </a:prstGeom>
          <a:noFill/>
        </p:spPr>
        <p:txBody>
          <a:bodyPr wrap="square" lIns="0" tIns="0" rIns="0" bIns="0" anchor="t">
            <a:spAutoFit/>
          </a:bodyPr>
          <a:lstStyle/>
          <a:p>
            <a:pPr algn="l">
              <a:lnSpc>
                <a:spcPct val="112000"/>
              </a:lnSpc>
              <a:spcAft>
                <a:spcPts val="0"/>
              </a:spcAft>
            </a:pPr>
            <a:r>
              <a:rPr sz="1200" b="0" i="0">
                <a:solidFill>
                  <a:srgbClr val="1B2559"/>
                </a:solidFill>
                <a:latin typeface="Segoe UI"/>
              </a:rPr>
              <a:t>Equipo de desarrollo reducido; sin pasarela de pagos automática ni app móvil nativa en esta fase.</a:t>
            </a:r>
          </a:p>
        </p:txBody>
      </p:sp>
      <p:sp>
        <p:nvSpPr>
          <p:cNvPr id="17" name="Rounded Rectangle 16"/>
          <p:cNvSpPr/>
          <p:nvPr/>
        </p:nvSpPr>
        <p:spPr>
          <a:xfrm>
            <a:off x="6035040" y="3520440"/>
            <a:ext cx="5394960" cy="141732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99632" y="3630168"/>
            <a:ext cx="506577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SUPUESTOS</a:t>
            </a:r>
          </a:p>
        </p:txBody>
      </p:sp>
      <p:sp>
        <p:nvSpPr>
          <p:cNvPr id="19" name="TextBox 18"/>
          <p:cNvSpPr txBox="1"/>
          <p:nvPr/>
        </p:nvSpPr>
        <p:spPr>
          <a:xfrm>
            <a:off x="6199632" y="3904488"/>
            <a:ext cx="5065776" cy="91440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Los administradores validan las reglas de negocio; Firestore es la fuente principal de datos operativos.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E3 · 3.2 GESTIÓN DEL ALCANCE (EDT / WBS)</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Siete ramas de trabajo, cada una trazable a código real</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Cárdenas Vilca Rennzo   ·   ⏱ 45s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15 / 22</a:t>
            </a:r>
          </a:p>
        </p:txBody>
      </p:sp>
      <p:sp>
        <p:nvSpPr>
          <p:cNvPr id="7" name="Rounded Rectangle 6"/>
          <p:cNvSpPr/>
          <p:nvPr/>
        </p:nvSpPr>
        <p:spPr>
          <a:xfrm>
            <a:off x="731520" y="1965960"/>
            <a:ext cx="2606040" cy="146304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2075688"/>
            <a:ext cx="2276856" cy="274320"/>
          </a:xfrm>
          <a:prstGeom prst="rect">
            <a:avLst/>
          </a:prstGeom>
          <a:noFill/>
        </p:spPr>
        <p:txBody>
          <a:bodyPr wrap="square" lIns="0" tIns="0" rIns="0" bIns="0" anchor="t">
            <a:spAutoFit/>
          </a:bodyPr>
          <a:lstStyle/>
          <a:p>
            <a:pPr algn="l">
              <a:lnSpc>
                <a:spcPct val="100000"/>
              </a:lnSpc>
              <a:spcAft>
                <a:spcPts val="0"/>
              </a:spcAft>
            </a:pPr>
            <a:endParaRPr/>
          </a:p>
        </p:txBody>
      </p:sp>
      <p:sp>
        <p:nvSpPr>
          <p:cNvPr id="9" name="TextBox 8"/>
          <p:cNvSpPr txBox="1"/>
          <p:nvPr/>
        </p:nvSpPr>
        <p:spPr>
          <a:xfrm>
            <a:off x="896112" y="2350008"/>
            <a:ext cx="2276856" cy="960120"/>
          </a:xfrm>
          <a:prstGeom prst="rect">
            <a:avLst/>
          </a:prstGeom>
          <a:noFill/>
        </p:spPr>
        <p:txBody>
          <a:bodyPr wrap="square" lIns="0" tIns="0" rIns="0" bIns="0" anchor="t">
            <a:spAutoFit/>
          </a:bodyPr>
          <a:lstStyle/>
          <a:p>
            <a:pPr algn="l">
              <a:lnSpc>
                <a:spcPct val="112000"/>
              </a:lnSpc>
              <a:spcAft>
                <a:spcPts val="0"/>
              </a:spcAft>
            </a:pPr>
            <a:r>
              <a:rPr sz="1150" b="0" i="0">
                <a:solidFill>
                  <a:srgbClr val="1B2559"/>
                </a:solidFill>
                <a:latin typeface="Segoe UI"/>
              </a:rPr>
              <a:t>Sitio público</a:t>
            </a:r>
          </a:p>
          <a:p>
            <a:pPr algn="l">
              <a:lnSpc>
                <a:spcPct val="112000"/>
              </a:lnSpc>
              <a:spcAft>
                <a:spcPts val="0"/>
              </a:spcAft>
            </a:pPr>
            <a:r>
              <a:rPr sz="1150" b="0" i="0">
                <a:solidFill>
                  <a:srgbClr val="1B2559"/>
                </a:solidFill>
                <a:latin typeface="Segoe UI"/>
              </a:rPr>
              <a:t>Inicio, ciclos, sedes, blog, contacto</a:t>
            </a:r>
          </a:p>
        </p:txBody>
      </p:sp>
      <p:sp>
        <p:nvSpPr>
          <p:cNvPr id="10" name="Rounded Rectangle 9"/>
          <p:cNvSpPr/>
          <p:nvPr/>
        </p:nvSpPr>
        <p:spPr>
          <a:xfrm>
            <a:off x="3502152" y="1965960"/>
            <a:ext cx="2606040" cy="146304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66744" y="2075688"/>
            <a:ext cx="2276856" cy="274320"/>
          </a:xfrm>
          <a:prstGeom prst="rect">
            <a:avLst/>
          </a:prstGeom>
          <a:noFill/>
        </p:spPr>
        <p:txBody>
          <a:bodyPr wrap="square" lIns="0" tIns="0" rIns="0" bIns="0" anchor="t">
            <a:spAutoFit/>
          </a:bodyPr>
          <a:lstStyle/>
          <a:p>
            <a:pPr algn="l">
              <a:lnSpc>
                <a:spcPct val="100000"/>
              </a:lnSpc>
              <a:spcAft>
                <a:spcPts val="0"/>
              </a:spcAft>
            </a:pPr>
            <a:endParaRPr/>
          </a:p>
        </p:txBody>
      </p:sp>
      <p:sp>
        <p:nvSpPr>
          <p:cNvPr id="12" name="TextBox 11"/>
          <p:cNvSpPr txBox="1"/>
          <p:nvPr/>
        </p:nvSpPr>
        <p:spPr>
          <a:xfrm>
            <a:off x="3666744" y="2350008"/>
            <a:ext cx="2276856" cy="960120"/>
          </a:xfrm>
          <a:prstGeom prst="rect">
            <a:avLst/>
          </a:prstGeom>
          <a:noFill/>
        </p:spPr>
        <p:txBody>
          <a:bodyPr wrap="square" lIns="0" tIns="0" rIns="0" bIns="0" anchor="t">
            <a:spAutoFit/>
          </a:bodyPr>
          <a:lstStyle/>
          <a:p>
            <a:pPr algn="l">
              <a:lnSpc>
                <a:spcPct val="112000"/>
              </a:lnSpc>
              <a:spcAft>
                <a:spcPts val="0"/>
              </a:spcAft>
            </a:pPr>
            <a:r>
              <a:rPr sz="1150" b="0" i="0">
                <a:solidFill>
                  <a:srgbClr val="1B2559"/>
                </a:solidFill>
                <a:latin typeface="Segoe UI"/>
              </a:rPr>
              <a:t>Gestión académica</a:t>
            </a:r>
          </a:p>
          <a:p>
            <a:pPr algn="l">
              <a:lnSpc>
                <a:spcPct val="112000"/>
              </a:lnSpc>
              <a:spcAft>
                <a:spcPts val="0"/>
              </a:spcAft>
            </a:pPr>
            <a:r>
              <a:rPr sz="1150" b="0" i="0">
                <a:solidFill>
                  <a:srgbClr val="1B2559"/>
                </a:solidFill>
                <a:latin typeface="Segoe UI"/>
              </a:rPr>
              <a:t>Ciclos, categorías, grupos, cupos, turno</a:t>
            </a:r>
          </a:p>
        </p:txBody>
      </p:sp>
      <p:sp>
        <p:nvSpPr>
          <p:cNvPr id="13" name="Rounded Rectangle 12"/>
          <p:cNvSpPr/>
          <p:nvPr/>
        </p:nvSpPr>
        <p:spPr>
          <a:xfrm>
            <a:off x="6272784" y="1965960"/>
            <a:ext cx="2606040" cy="146304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37376" y="2075688"/>
            <a:ext cx="2276856" cy="274320"/>
          </a:xfrm>
          <a:prstGeom prst="rect">
            <a:avLst/>
          </a:prstGeom>
          <a:noFill/>
        </p:spPr>
        <p:txBody>
          <a:bodyPr wrap="square" lIns="0" tIns="0" rIns="0" bIns="0" anchor="t">
            <a:spAutoFit/>
          </a:bodyPr>
          <a:lstStyle/>
          <a:p>
            <a:pPr algn="l">
              <a:lnSpc>
                <a:spcPct val="100000"/>
              </a:lnSpc>
              <a:spcAft>
                <a:spcPts val="0"/>
              </a:spcAft>
            </a:pPr>
            <a:endParaRPr/>
          </a:p>
        </p:txBody>
      </p:sp>
      <p:sp>
        <p:nvSpPr>
          <p:cNvPr id="15" name="TextBox 14"/>
          <p:cNvSpPr txBox="1"/>
          <p:nvPr/>
        </p:nvSpPr>
        <p:spPr>
          <a:xfrm>
            <a:off x="6437376" y="2350008"/>
            <a:ext cx="2276856" cy="960120"/>
          </a:xfrm>
          <a:prstGeom prst="rect">
            <a:avLst/>
          </a:prstGeom>
          <a:noFill/>
        </p:spPr>
        <p:txBody>
          <a:bodyPr wrap="square" lIns="0" tIns="0" rIns="0" bIns="0" anchor="t">
            <a:spAutoFit/>
          </a:bodyPr>
          <a:lstStyle/>
          <a:p>
            <a:pPr algn="l">
              <a:lnSpc>
                <a:spcPct val="112000"/>
              </a:lnSpc>
              <a:spcAft>
                <a:spcPts val="0"/>
              </a:spcAft>
            </a:pPr>
            <a:r>
              <a:rPr sz="1150" b="0" i="0">
                <a:solidFill>
                  <a:srgbClr val="1B2559"/>
                </a:solidFill>
                <a:latin typeface="Segoe UI"/>
              </a:rPr>
              <a:t>Matrícula y pagos</a:t>
            </a:r>
          </a:p>
          <a:p>
            <a:pPr algn="l">
              <a:lnSpc>
                <a:spcPct val="112000"/>
              </a:lnSpc>
              <a:spcAft>
                <a:spcPts val="0"/>
              </a:spcAft>
            </a:pPr>
            <a:r>
              <a:rPr sz="1150" b="0" i="0">
                <a:solidFill>
                  <a:srgbClr val="1B2559"/>
                </a:solidFill>
                <a:latin typeface="Segoe UI"/>
              </a:rPr>
              <a:t>Matrícula pública, estados, cuotas</a:t>
            </a:r>
          </a:p>
        </p:txBody>
      </p:sp>
      <p:sp>
        <p:nvSpPr>
          <p:cNvPr id="16" name="Rounded Rectangle 15"/>
          <p:cNvSpPr/>
          <p:nvPr/>
        </p:nvSpPr>
        <p:spPr>
          <a:xfrm>
            <a:off x="9043416" y="1965960"/>
            <a:ext cx="2606040" cy="146304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08008" y="2075688"/>
            <a:ext cx="2276856" cy="274320"/>
          </a:xfrm>
          <a:prstGeom prst="rect">
            <a:avLst/>
          </a:prstGeom>
          <a:noFill/>
        </p:spPr>
        <p:txBody>
          <a:bodyPr wrap="square" lIns="0" tIns="0" rIns="0" bIns="0" anchor="t">
            <a:spAutoFit/>
          </a:bodyPr>
          <a:lstStyle/>
          <a:p>
            <a:pPr algn="l">
              <a:lnSpc>
                <a:spcPct val="100000"/>
              </a:lnSpc>
              <a:spcAft>
                <a:spcPts val="0"/>
              </a:spcAft>
            </a:pPr>
            <a:endParaRPr/>
          </a:p>
        </p:txBody>
      </p:sp>
      <p:sp>
        <p:nvSpPr>
          <p:cNvPr id="18" name="TextBox 17"/>
          <p:cNvSpPr txBox="1"/>
          <p:nvPr/>
        </p:nvSpPr>
        <p:spPr>
          <a:xfrm>
            <a:off x="9208008" y="2350008"/>
            <a:ext cx="2276856" cy="960120"/>
          </a:xfrm>
          <a:prstGeom prst="rect">
            <a:avLst/>
          </a:prstGeom>
          <a:noFill/>
        </p:spPr>
        <p:txBody>
          <a:bodyPr wrap="square" lIns="0" tIns="0" rIns="0" bIns="0" anchor="t">
            <a:spAutoFit/>
          </a:bodyPr>
          <a:lstStyle/>
          <a:p>
            <a:pPr algn="l">
              <a:lnSpc>
                <a:spcPct val="112000"/>
              </a:lnSpc>
              <a:spcAft>
                <a:spcPts val="0"/>
              </a:spcAft>
            </a:pPr>
            <a:r>
              <a:rPr sz="1150" b="0" i="0">
                <a:solidFill>
                  <a:srgbClr val="1B2559"/>
                </a:solidFill>
                <a:latin typeface="Segoe UI"/>
              </a:rPr>
              <a:t>Usuarios y roles</a:t>
            </a:r>
          </a:p>
          <a:p>
            <a:pPr algn="l">
              <a:lnSpc>
                <a:spcPct val="112000"/>
              </a:lnSpc>
              <a:spcAft>
                <a:spcPts val="0"/>
              </a:spcAft>
            </a:pPr>
            <a:r>
              <a:rPr sz="1150" b="0" i="0">
                <a:solidFill>
                  <a:srgbClr val="1B2559"/>
                </a:solidFill>
                <a:latin typeface="Segoe UI"/>
              </a:rPr>
              <a:t>Admin, docente, estudiante, auxiliar</a:t>
            </a:r>
          </a:p>
        </p:txBody>
      </p:sp>
      <p:sp>
        <p:nvSpPr>
          <p:cNvPr id="19" name="Rounded Rectangle 18"/>
          <p:cNvSpPr/>
          <p:nvPr/>
        </p:nvSpPr>
        <p:spPr>
          <a:xfrm>
            <a:off x="731520" y="3611880"/>
            <a:ext cx="3502152" cy="137160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3721608"/>
            <a:ext cx="3172968" cy="274320"/>
          </a:xfrm>
          <a:prstGeom prst="rect">
            <a:avLst/>
          </a:prstGeom>
          <a:noFill/>
        </p:spPr>
        <p:txBody>
          <a:bodyPr wrap="square" lIns="0" tIns="0" rIns="0" bIns="0" anchor="t">
            <a:spAutoFit/>
          </a:bodyPr>
          <a:lstStyle/>
          <a:p>
            <a:pPr algn="l">
              <a:lnSpc>
                <a:spcPct val="100000"/>
              </a:lnSpc>
              <a:spcAft>
                <a:spcPts val="0"/>
              </a:spcAft>
            </a:pPr>
            <a:endParaRPr/>
          </a:p>
        </p:txBody>
      </p:sp>
      <p:sp>
        <p:nvSpPr>
          <p:cNvPr id="21" name="TextBox 20"/>
          <p:cNvSpPr txBox="1"/>
          <p:nvPr/>
        </p:nvSpPr>
        <p:spPr>
          <a:xfrm>
            <a:off x="896112" y="3995928"/>
            <a:ext cx="3172968" cy="868680"/>
          </a:xfrm>
          <a:prstGeom prst="rect">
            <a:avLst/>
          </a:prstGeom>
          <a:noFill/>
        </p:spPr>
        <p:txBody>
          <a:bodyPr wrap="square" lIns="0" tIns="0" rIns="0" bIns="0" anchor="t">
            <a:spAutoFit/>
          </a:bodyPr>
          <a:lstStyle/>
          <a:p>
            <a:pPr algn="l">
              <a:lnSpc>
                <a:spcPct val="112000"/>
              </a:lnSpc>
              <a:spcAft>
                <a:spcPts val="0"/>
              </a:spcAft>
            </a:pPr>
            <a:r>
              <a:rPr sz="1150" b="0" i="0">
                <a:solidFill>
                  <a:srgbClr val="1B2559"/>
                </a:solidFill>
                <a:latin typeface="Segoe UI"/>
              </a:rPr>
              <a:t>Asistencia QR</a:t>
            </a:r>
          </a:p>
          <a:p>
            <a:pPr algn="l">
              <a:lnSpc>
                <a:spcPct val="112000"/>
              </a:lnSpc>
              <a:spcAft>
                <a:spcPts val="0"/>
              </a:spcAft>
            </a:pPr>
            <a:r>
              <a:rPr sz="1150" b="0" i="0">
                <a:solidFill>
                  <a:srgbClr val="1B2559"/>
                </a:solidFill>
                <a:latin typeface="Segoe UI"/>
              </a:rPr>
              <a:t>Tokens, registros, consulta para padres</a:t>
            </a:r>
          </a:p>
        </p:txBody>
      </p:sp>
      <p:sp>
        <p:nvSpPr>
          <p:cNvPr id="22" name="Rounded Rectangle 21"/>
          <p:cNvSpPr/>
          <p:nvPr/>
        </p:nvSpPr>
        <p:spPr>
          <a:xfrm>
            <a:off x="4398264" y="3611880"/>
            <a:ext cx="3502152" cy="137160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62856" y="3721608"/>
            <a:ext cx="3172968" cy="274320"/>
          </a:xfrm>
          <a:prstGeom prst="rect">
            <a:avLst/>
          </a:prstGeom>
          <a:noFill/>
        </p:spPr>
        <p:txBody>
          <a:bodyPr wrap="square" lIns="0" tIns="0" rIns="0" bIns="0" anchor="t">
            <a:spAutoFit/>
          </a:bodyPr>
          <a:lstStyle/>
          <a:p>
            <a:pPr algn="l">
              <a:lnSpc>
                <a:spcPct val="100000"/>
              </a:lnSpc>
              <a:spcAft>
                <a:spcPts val="0"/>
              </a:spcAft>
            </a:pPr>
            <a:endParaRPr/>
          </a:p>
        </p:txBody>
      </p:sp>
      <p:sp>
        <p:nvSpPr>
          <p:cNvPr id="24" name="TextBox 23"/>
          <p:cNvSpPr txBox="1"/>
          <p:nvPr/>
        </p:nvSpPr>
        <p:spPr>
          <a:xfrm>
            <a:off x="4562856" y="3995928"/>
            <a:ext cx="3172968" cy="868680"/>
          </a:xfrm>
          <a:prstGeom prst="rect">
            <a:avLst/>
          </a:prstGeom>
          <a:noFill/>
        </p:spPr>
        <p:txBody>
          <a:bodyPr wrap="square" lIns="0" tIns="0" rIns="0" bIns="0" anchor="t">
            <a:spAutoFit/>
          </a:bodyPr>
          <a:lstStyle/>
          <a:p>
            <a:pPr algn="l">
              <a:lnSpc>
                <a:spcPct val="112000"/>
              </a:lnSpc>
              <a:spcAft>
                <a:spcPts val="0"/>
              </a:spcAft>
            </a:pPr>
            <a:r>
              <a:rPr sz="1150" b="0" i="0">
                <a:solidFill>
                  <a:srgbClr val="1B2559"/>
                </a:solidFill>
                <a:latin typeface="Segoe UI"/>
              </a:rPr>
              <a:t>Contenidos</a:t>
            </a:r>
          </a:p>
          <a:p>
            <a:pPr algn="l">
              <a:lnSpc>
                <a:spcPct val="112000"/>
              </a:lnSpc>
              <a:spcAft>
                <a:spcPts val="0"/>
              </a:spcAft>
            </a:pPr>
            <a:r>
              <a:rPr sz="1150" b="0" i="0">
                <a:solidFill>
                  <a:srgbClr val="1B2559"/>
                </a:solidFill>
                <a:latin typeface="Segoe UI"/>
              </a:rPr>
              <a:t>Recursos, blog, talleres</a:t>
            </a:r>
          </a:p>
        </p:txBody>
      </p:sp>
      <p:sp>
        <p:nvSpPr>
          <p:cNvPr id="25" name="Rounded Rectangle 24"/>
          <p:cNvSpPr/>
          <p:nvPr/>
        </p:nvSpPr>
        <p:spPr>
          <a:xfrm>
            <a:off x="8065008" y="3611880"/>
            <a:ext cx="3502152" cy="137160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0" y="3721608"/>
            <a:ext cx="3172968" cy="274320"/>
          </a:xfrm>
          <a:prstGeom prst="rect">
            <a:avLst/>
          </a:prstGeom>
          <a:noFill/>
        </p:spPr>
        <p:txBody>
          <a:bodyPr wrap="square" lIns="0" tIns="0" rIns="0" bIns="0" anchor="t">
            <a:spAutoFit/>
          </a:bodyPr>
          <a:lstStyle/>
          <a:p>
            <a:pPr algn="l">
              <a:lnSpc>
                <a:spcPct val="100000"/>
              </a:lnSpc>
              <a:spcAft>
                <a:spcPts val="0"/>
              </a:spcAft>
            </a:pPr>
            <a:endParaRPr/>
          </a:p>
        </p:txBody>
      </p:sp>
      <p:sp>
        <p:nvSpPr>
          <p:cNvPr id="27" name="TextBox 26"/>
          <p:cNvSpPr txBox="1"/>
          <p:nvPr/>
        </p:nvSpPr>
        <p:spPr>
          <a:xfrm>
            <a:off x="8229600" y="3995928"/>
            <a:ext cx="3172968" cy="868680"/>
          </a:xfrm>
          <a:prstGeom prst="rect">
            <a:avLst/>
          </a:prstGeom>
          <a:noFill/>
        </p:spPr>
        <p:txBody>
          <a:bodyPr wrap="square" lIns="0" tIns="0" rIns="0" bIns="0" anchor="t">
            <a:spAutoFit/>
          </a:bodyPr>
          <a:lstStyle/>
          <a:p>
            <a:pPr algn="l">
              <a:lnSpc>
                <a:spcPct val="112000"/>
              </a:lnSpc>
              <a:spcAft>
                <a:spcPts val="0"/>
              </a:spcAft>
            </a:pPr>
            <a:r>
              <a:rPr sz="1150" b="0" i="0">
                <a:solidFill>
                  <a:srgbClr val="1B2559"/>
                </a:solidFill>
                <a:latin typeface="Segoe UI"/>
              </a:rPr>
              <a:t>Infraestructura</a:t>
            </a:r>
          </a:p>
          <a:p>
            <a:pPr algn="l">
              <a:lnSpc>
                <a:spcPct val="112000"/>
              </a:lnSpc>
              <a:spcAft>
                <a:spcPts val="0"/>
              </a:spcAft>
            </a:pPr>
            <a:r>
              <a:rPr sz="1150" b="0" i="0">
                <a:solidFill>
                  <a:srgbClr val="1B2559"/>
                </a:solidFill>
                <a:latin typeface="Segoe UI"/>
              </a:rPr>
              <a:t>Reglas Firestore, API REST, MySQL, PM2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E3 · 3.3 GESTIÓN DEL CRONOGRAMA</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Ejecución iterativa por fases, documentada en el repositorio</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Cárdenas Vilca Rennzo   ·   ⏱ 50s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16 / 22</a:t>
            </a:r>
          </a:p>
        </p:txBody>
      </p:sp>
      <p:graphicFrame>
        <p:nvGraphicFramePr>
          <p:cNvPr id="7" name="Table 6"/>
          <p:cNvGraphicFramePr>
            <a:graphicFrameLocks noGrp="1"/>
          </p:cNvGraphicFramePr>
          <p:nvPr/>
        </p:nvGraphicFramePr>
        <p:xfrm>
          <a:off x="731520" y="1920240"/>
          <a:ext cx="10698480" cy="3749039"/>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468629">
                <a:tc>
                  <a:txBody>
                    <a:bodyPr/>
                    <a:lstStyle/>
                    <a:p>
                      <a:pPr>
                        <a:defRPr sz="1100" b="1">
                          <a:solidFill>
                            <a:srgbClr val="FFFFFF"/>
                          </a:solidFill>
                          <a:latin typeface="Segoe UI"/>
                        </a:defRPr>
                      </a:pPr>
                      <a:r>
                        <a:t>Hito</a:t>
                      </a:r>
                    </a:p>
                  </a:txBody>
                  <a:tcPr marL="76200" marR="76200" marT="50800" marB="50800" anchor="ctr">
                    <a:solidFill>
                      <a:srgbClr val="1B2559"/>
                    </a:solidFill>
                  </a:tcPr>
                </a:tc>
                <a:tc>
                  <a:txBody>
                    <a:bodyPr/>
                    <a:lstStyle/>
                    <a:p>
                      <a:pPr>
                        <a:defRPr sz="1100" b="1">
                          <a:solidFill>
                            <a:srgbClr val="FFFFFF"/>
                          </a:solidFill>
                          <a:latin typeface="Segoe UI"/>
                        </a:defRPr>
                      </a:pPr>
                      <a:r>
                        <a:t>Contenido representativo</a:t>
                      </a:r>
                    </a:p>
                  </a:txBody>
                  <a:tcPr marL="76200" marR="76200" marT="50800" marB="50800" anchor="ctr">
                    <a:solidFill>
                      <a:srgbClr val="1B2559"/>
                    </a:solidFill>
                  </a:tcPr>
                </a:tc>
                <a:extLst>
                  <a:ext uri="{0D108BD9-81ED-4DB2-BD59-A6C34878D82A}">
                    <a16:rowId xmlns:a16="http://schemas.microsoft.com/office/drawing/2014/main" val="10000"/>
                  </a:ext>
                </a:extLst>
              </a:tr>
              <a:tr h="468629">
                <a:tc>
                  <a:txBody>
                    <a:bodyPr/>
                    <a:lstStyle/>
                    <a:p>
                      <a:pPr>
                        <a:defRPr sz="1150" b="0">
                          <a:solidFill>
                            <a:srgbClr val="1B2559"/>
                          </a:solidFill>
                          <a:latin typeface="Segoe UI"/>
                        </a:defRPr>
                      </a:pPr>
                      <a:r>
                        <a:t>Fundacional</a:t>
                      </a:r>
                    </a:p>
                  </a:txBody>
                  <a:tcPr marL="76200" marR="76200" marT="50800" marB="50800" anchor="ctr">
                    <a:solidFill>
                      <a:srgbClr val="FFFFFF"/>
                    </a:solidFill>
                  </a:tcPr>
                </a:tc>
                <a:tc>
                  <a:txBody>
                    <a:bodyPr/>
                    <a:lstStyle/>
                    <a:p>
                      <a:pPr>
                        <a:defRPr sz="1150" b="0">
                          <a:solidFill>
                            <a:srgbClr val="1B2559"/>
                          </a:solidFill>
                          <a:latin typeface="Segoe UI"/>
                        </a:defRPr>
                      </a:pPr>
                      <a:r>
                        <a:t>Home público, header/navegación, hero, footer.</a:t>
                      </a:r>
                    </a:p>
                  </a:txBody>
                  <a:tcPr marL="76200" marR="76200" marT="50800" marB="50800" anchor="ctr">
                    <a:solidFill>
                      <a:srgbClr val="FFFFFF"/>
                    </a:solidFill>
                  </a:tcPr>
                </a:tc>
                <a:extLst>
                  <a:ext uri="{0D108BD9-81ED-4DB2-BD59-A6C34878D82A}">
                    <a16:rowId xmlns:a16="http://schemas.microsoft.com/office/drawing/2014/main" val="10001"/>
                  </a:ext>
                </a:extLst>
              </a:tr>
              <a:tr h="468629">
                <a:tc>
                  <a:txBody>
                    <a:bodyPr/>
                    <a:lstStyle/>
                    <a:p>
                      <a:pPr>
                        <a:defRPr sz="1150" b="0">
                          <a:solidFill>
                            <a:srgbClr val="1B2559"/>
                          </a:solidFill>
                          <a:latin typeface="Segoe UI"/>
                        </a:defRPr>
                      </a:pPr>
                      <a:r>
                        <a:t>Académico</a:t>
                      </a:r>
                    </a:p>
                  </a:txBody>
                  <a:tcPr marL="76200" marR="76200" marT="50800" marB="50800" anchor="ctr">
                    <a:solidFill>
                      <a:srgbClr val="FFFFFF"/>
                    </a:solidFill>
                  </a:tcPr>
                </a:tc>
                <a:tc>
                  <a:txBody>
                    <a:bodyPr/>
                    <a:lstStyle/>
                    <a:p>
                      <a:pPr>
                        <a:defRPr sz="1150" b="0">
                          <a:solidFill>
                            <a:srgbClr val="1B2559"/>
                          </a:solidFill>
                          <a:latin typeface="Segoe UI"/>
                        </a:defRPr>
                      </a:pPr>
                      <a:r>
                        <a:t>Ciclos, grupos, sedes, categorías, modalidad/turno.</a:t>
                      </a:r>
                    </a:p>
                  </a:txBody>
                  <a:tcPr marL="76200" marR="76200" marT="50800" marB="50800" anchor="ctr">
                    <a:solidFill>
                      <a:srgbClr val="FFFFFF"/>
                    </a:solidFill>
                  </a:tcPr>
                </a:tc>
                <a:extLst>
                  <a:ext uri="{0D108BD9-81ED-4DB2-BD59-A6C34878D82A}">
                    <a16:rowId xmlns:a16="http://schemas.microsoft.com/office/drawing/2014/main" val="10002"/>
                  </a:ext>
                </a:extLst>
              </a:tr>
              <a:tr h="468629">
                <a:tc>
                  <a:txBody>
                    <a:bodyPr/>
                    <a:lstStyle/>
                    <a:p>
                      <a:pPr>
                        <a:defRPr sz="1150" b="0">
                          <a:solidFill>
                            <a:srgbClr val="1B2559"/>
                          </a:solidFill>
                          <a:latin typeface="Segoe UI"/>
                        </a:defRPr>
                      </a:pPr>
                      <a:r>
                        <a:t>Matrícula y estados</a:t>
                      </a:r>
                    </a:p>
                  </a:txBody>
                  <a:tcPr marL="76200" marR="76200" marT="50800" marB="50800" anchor="ctr">
                    <a:solidFill>
                      <a:srgbClr val="FFFFFF"/>
                    </a:solidFill>
                  </a:tcPr>
                </a:tc>
                <a:tc>
                  <a:txBody>
                    <a:bodyPr/>
                    <a:lstStyle/>
                    <a:p>
                      <a:pPr>
                        <a:defRPr sz="1150" b="0">
                          <a:solidFill>
                            <a:srgbClr val="1B2559"/>
                          </a:solidFill>
                          <a:latin typeface="Segoe UI"/>
                        </a:defRPr>
                      </a:pPr>
                      <a:r>
                        <a:t>Máquina de estados de matrícula, cupos, activación.</a:t>
                      </a:r>
                    </a:p>
                  </a:txBody>
                  <a:tcPr marL="76200" marR="76200" marT="50800" marB="50800" anchor="ctr">
                    <a:solidFill>
                      <a:srgbClr val="FFFFFF"/>
                    </a:solidFill>
                  </a:tcPr>
                </a:tc>
                <a:extLst>
                  <a:ext uri="{0D108BD9-81ED-4DB2-BD59-A6C34878D82A}">
                    <a16:rowId xmlns:a16="http://schemas.microsoft.com/office/drawing/2014/main" val="10003"/>
                  </a:ext>
                </a:extLst>
              </a:tr>
              <a:tr h="468629">
                <a:tc>
                  <a:txBody>
                    <a:bodyPr/>
                    <a:lstStyle/>
                    <a:p>
                      <a:pPr>
                        <a:defRPr sz="1150" b="0">
                          <a:solidFill>
                            <a:srgbClr val="1B2559"/>
                          </a:solidFill>
                          <a:latin typeface="Segoe UI"/>
                        </a:defRPr>
                      </a:pPr>
                      <a:r>
                        <a:t>Crítico / seguridad</a:t>
                      </a:r>
                    </a:p>
                  </a:txBody>
                  <a:tcPr marL="76200" marR="76200" marT="50800" marB="50800" anchor="ctr">
                    <a:solidFill>
                      <a:srgbClr val="FFFFFF"/>
                    </a:solidFill>
                  </a:tcPr>
                </a:tc>
                <a:tc>
                  <a:txBody>
                    <a:bodyPr/>
                    <a:lstStyle/>
                    <a:p>
                      <a:pPr>
                        <a:defRPr sz="1150" b="0">
                          <a:solidFill>
                            <a:srgbClr val="1B2559"/>
                          </a:solidFill>
                          <a:latin typeface="Segoe UI"/>
                        </a:defRPr>
                      </a:pPr>
                      <a:r>
                        <a:t>Reglas de Firestore, deduplicación, payload de matrícula.</a:t>
                      </a:r>
                    </a:p>
                  </a:txBody>
                  <a:tcPr marL="76200" marR="76200" marT="50800" marB="50800" anchor="ctr">
                    <a:solidFill>
                      <a:srgbClr val="FFFFFF"/>
                    </a:solidFill>
                  </a:tcPr>
                </a:tc>
                <a:extLst>
                  <a:ext uri="{0D108BD9-81ED-4DB2-BD59-A6C34878D82A}">
                    <a16:rowId xmlns:a16="http://schemas.microsoft.com/office/drawing/2014/main" val="10004"/>
                  </a:ext>
                </a:extLst>
              </a:tr>
              <a:tr h="468629">
                <a:tc>
                  <a:txBody>
                    <a:bodyPr/>
                    <a:lstStyle/>
                    <a:p>
                      <a:pPr>
                        <a:defRPr sz="1150" b="0">
                          <a:solidFill>
                            <a:srgbClr val="1B2559"/>
                          </a:solidFill>
                          <a:latin typeface="Segoe UI"/>
                        </a:defRPr>
                      </a:pPr>
                      <a:r>
                        <a:t>UX administrativa</a:t>
                      </a:r>
                    </a:p>
                  </a:txBody>
                  <a:tcPr marL="76200" marR="76200" marT="50800" marB="50800" anchor="ctr">
                    <a:solidFill>
                      <a:srgbClr val="FFFFFF"/>
                    </a:solidFill>
                  </a:tcPr>
                </a:tc>
                <a:tc>
                  <a:txBody>
                    <a:bodyPr/>
                    <a:lstStyle/>
                    <a:p>
                      <a:pPr>
                        <a:defRPr sz="1150" b="0">
                          <a:solidFill>
                            <a:srgbClr val="1B2559"/>
                          </a:solidFill>
                          <a:latin typeface="Segoe UI"/>
                        </a:defRPr>
                      </a:pPr>
                      <a:r>
                        <a:t>Sidebar responsivo, formularios, KPIs de matrícula/pagos.</a:t>
                      </a:r>
                    </a:p>
                  </a:txBody>
                  <a:tcPr marL="76200" marR="76200" marT="50800" marB="50800" anchor="ctr">
                    <a:solidFill>
                      <a:srgbClr val="FFFFFF"/>
                    </a:solidFill>
                  </a:tcPr>
                </a:tc>
                <a:extLst>
                  <a:ext uri="{0D108BD9-81ED-4DB2-BD59-A6C34878D82A}">
                    <a16:rowId xmlns:a16="http://schemas.microsoft.com/office/drawing/2014/main" val="10005"/>
                  </a:ext>
                </a:extLst>
              </a:tr>
              <a:tr h="468629">
                <a:tc>
                  <a:txBody>
                    <a:bodyPr/>
                    <a:lstStyle/>
                    <a:p>
                      <a:pPr>
                        <a:defRPr sz="1150" b="0">
                          <a:solidFill>
                            <a:srgbClr val="1B2559"/>
                          </a:solidFill>
                          <a:latin typeface="Segoe UI"/>
                        </a:defRPr>
                      </a:pPr>
                      <a:r>
                        <a:t>Calidad</a:t>
                      </a:r>
                    </a:p>
                  </a:txBody>
                  <a:tcPr marL="76200" marR="76200" marT="50800" marB="50800" anchor="ctr">
                    <a:solidFill>
                      <a:srgbClr val="FFFFFF"/>
                    </a:solidFill>
                  </a:tcPr>
                </a:tc>
                <a:tc>
                  <a:txBody>
                    <a:bodyPr/>
                    <a:lstStyle/>
                    <a:p>
                      <a:pPr>
                        <a:defRPr sz="1150" b="0">
                          <a:solidFill>
                            <a:srgbClr val="1B2559"/>
                          </a:solidFill>
                          <a:latin typeface="Segoe UI"/>
                        </a:defRPr>
                      </a:pPr>
                      <a:r>
                        <a:t>Higiene de lint, tipado seguro, auditoría global.</a:t>
                      </a:r>
                    </a:p>
                  </a:txBody>
                  <a:tcPr marL="76200" marR="76200" marT="50800" marB="50800" anchor="ctr">
                    <a:solidFill>
                      <a:srgbClr val="FFFFFF"/>
                    </a:solidFill>
                  </a:tcPr>
                </a:tc>
                <a:extLst>
                  <a:ext uri="{0D108BD9-81ED-4DB2-BD59-A6C34878D82A}">
                    <a16:rowId xmlns:a16="http://schemas.microsoft.com/office/drawing/2014/main" val="10006"/>
                  </a:ext>
                </a:extLst>
              </a:tr>
              <a:tr h="468636">
                <a:tc>
                  <a:txBody>
                    <a:bodyPr/>
                    <a:lstStyle/>
                    <a:p>
                      <a:pPr>
                        <a:defRPr sz="1150" b="0">
                          <a:solidFill>
                            <a:srgbClr val="1B2559"/>
                          </a:solidFill>
                          <a:latin typeface="Segoe UI"/>
                        </a:defRPr>
                      </a:pPr>
                      <a:r>
                        <a:t>Cierre EPE</a:t>
                      </a:r>
                    </a:p>
                  </a:txBody>
                  <a:tcPr marL="76200" marR="76200" marT="50800" marB="50800" anchor="ctr">
                    <a:solidFill>
                      <a:srgbClr val="FFFFFF"/>
                    </a:solidFill>
                  </a:tcPr>
                </a:tc>
                <a:tc>
                  <a:txBody>
                    <a:bodyPr/>
                    <a:lstStyle/>
                    <a:p>
                      <a:pPr>
                        <a:defRPr sz="1150" b="0">
                          <a:solidFill>
                            <a:srgbClr val="1B2559"/>
                          </a:solidFill>
                          <a:latin typeface="Segoe UI"/>
                        </a:defRPr>
                      </a:pPr>
                      <a:r>
                        <a:t>Este perfil de egreso completo.</a:t>
                      </a:r>
                    </a:p>
                  </a:txBody>
                  <a:tcPr marL="76200" marR="76200" marT="50800" marB="50800"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E3 · 3.5–3.6 RIESGOS Y ENFOQUE ÁGIL</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Ágil iterativo por fases, no Scrum forzado</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Cárdenas Vilca Rennzo   ·   ⏱ 45s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17 / 22</a:t>
            </a:r>
          </a:p>
        </p:txBody>
      </p:sp>
      <p:sp>
        <p:nvSpPr>
          <p:cNvPr id="7" name="Rounded Rectangle 6"/>
          <p:cNvSpPr/>
          <p:nvPr/>
        </p:nvSpPr>
        <p:spPr>
          <a:xfrm>
            <a:off x="731520" y="1965960"/>
            <a:ext cx="5120640" cy="2011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965960"/>
            <a:ext cx="54864" cy="201168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2075688"/>
            <a:ext cx="47914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RIESGO PRINCIPAL</a:t>
            </a:r>
          </a:p>
        </p:txBody>
      </p:sp>
      <p:sp>
        <p:nvSpPr>
          <p:cNvPr id="10" name="TextBox 9"/>
          <p:cNvSpPr txBox="1"/>
          <p:nvPr/>
        </p:nvSpPr>
        <p:spPr>
          <a:xfrm>
            <a:off x="896112" y="2350008"/>
            <a:ext cx="4791456" cy="150876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Regresiones al modificar reglas de seguridad de Firestore — probabilidad media, impacto alto. Se mitiga con verificación manual documentada antes de publicar.</a:t>
            </a:r>
          </a:p>
        </p:txBody>
      </p:sp>
      <p:sp>
        <p:nvSpPr>
          <p:cNvPr id="11" name="Rounded Rectangle 10"/>
          <p:cNvSpPr/>
          <p:nvPr/>
        </p:nvSpPr>
        <p:spPr>
          <a:xfrm>
            <a:off x="6035040" y="1965960"/>
            <a:ext cx="5394960" cy="2011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2" y="2075688"/>
            <a:ext cx="506577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ENFOQUE DE TRABAJO</a:t>
            </a:r>
          </a:p>
        </p:txBody>
      </p:sp>
      <p:sp>
        <p:nvSpPr>
          <p:cNvPr id="13" name="TextBox 12"/>
          <p:cNvSpPr txBox="1"/>
          <p:nvPr/>
        </p:nvSpPr>
        <p:spPr>
          <a:xfrm>
            <a:off x="6199632" y="2350008"/>
            <a:ext cx="5065776" cy="1508760"/>
          </a:xfrm>
          <a:prstGeom prst="rect">
            <a:avLst/>
          </a:prstGeom>
          <a:noFill/>
        </p:spPr>
        <p:txBody>
          <a:bodyPr wrap="square" lIns="0" tIns="0" rIns="0" bIns="0" anchor="t">
            <a:spAutoFit/>
          </a:bodyPr>
          <a:lstStyle/>
          <a:p>
            <a:pPr algn="l">
              <a:lnSpc>
                <a:spcPct val="112000"/>
              </a:lnSpc>
              <a:spcAft>
                <a:spcPts val="0"/>
              </a:spcAft>
            </a:pPr>
            <a:r>
              <a:rPr sz="1250" b="0" i="0">
                <a:solidFill>
                  <a:srgbClr val="1B2559"/>
                </a:solidFill>
                <a:latin typeface="Segoe UI"/>
              </a:rPr>
              <a:t>Sin sprints de calendario fijo: fases temáticas cerradas, cada una un incremento entregado y documentado antes de iniciar la siguiente.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2559"/>
        </a:solidFill>
        <a:effectLst/>
      </p:bgPr>
    </p:bg>
    <p:spTree>
      <p:nvGrpSpPr>
        <p:cNvPr id="1" name=""/>
        <p:cNvGrpSpPr/>
        <p:nvPr/>
      </p:nvGrpSpPr>
      <p:grpSpPr>
        <a:xfrm>
          <a:off x="0" y="0"/>
          <a:ext cx="0" cy="0"/>
          <a:chOff x="0" y="0"/>
          <a:chExt cx="0" cy="0"/>
        </a:xfrm>
      </p:grpSpPr>
      <p:sp>
        <p:nvSpPr>
          <p:cNvPr id="2" name="TextBox 1"/>
          <p:cNvSpPr txBox="1"/>
          <p:nvPr/>
        </p:nvSpPr>
        <p:spPr>
          <a:xfrm>
            <a:off x="731520" y="1828800"/>
            <a:ext cx="82296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AAB6FF"/>
                </a:solidFill>
                <a:latin typeface="Segoe UI"/>
              </a:rPr>
              <a:t>ENTREGABLE 04</a:t>
            </a:r>
          </a:p>
        </p:txBody>
      </p:sp>
      <p:sp>
        <p:nvSpPr>
          <p:cNvPr id="3" name="TextBox 2"/>
          <p:cNvSpPr txBox="1"/>
          <p:nvPr/>
        </p:nvSpPr>
        <p:spPr>
          <a:xfrm>
            <a:off x="731520" y="2331720"/>
            <a:ext cx="7863840" cy="1463040"/>
          </a:xfrm>
          <a:prstGeom prst="rect">
            <a:avLst/>
          </a:prstGeom>
          <a:noFill/>
        </p:spPr>
        <p:txBody>
          <a:bodyPr wrap="square" lIns="0" tIns="0" rIns="0" bIns="0" anchor="t">
            <a:spAutoFit/>
          </a:bodyPr>
          <a:lstStyle/>
          <a:p>
            <a:pPr algn="l">
              <a:lnSpc>
                <a:spcPct val="105000"/>
              </a:lnSpc>
              <a:spcAft>
                <a:spcPts val="0"/>
              </a:spcAft>
            </a:pPr>
            <a:r>
              <a:rPr sz="3200" b="0" i="0">
                <a:solidFill>
                  <a:srgbClr val="FFFFFF"/>
                </a:solidFill>
                <a:latin typeface="Segoe UI"/>
              </a:rPr>
              <a:t>Modelado de Procesos AS-IS / TO-BE</a:t>
            </a:r>
          </a:p>
        </p:txBody>
      </p:sp>
      <p:sp>
        <p:nvSpPr>
          <p:cNvPr id="4" name="TextBox 3"/>
          <p:cNvSpPr txBox="1"/>
          <p:nvPr/>
        </p:nvSpPr>
        <p:spPr>
          <a:xfrm>
            <a:off x="731520" y="3794760"/>
            <a:ext cx="7863840" cy="731520"/>
          </a:xfrm>
          <a:prstGeom prst="rect">
            <a:avLst/>
          </a:prstGeom>
          <a:noFill/>
        </p:spPr>
        <p:txBody>
          <a:bodyPr wrap="square" lIns="0" tIns="0" rIns="0" bIns="0" anchor="t">
            <a:spAutoFit/>
          </a:bodyPr>
          <a:lstStyle/>
          <a:p>
            <a:pPr algn="l">
              <a:lnSpc>
                <a:spcPct val="100000"/>
              </a:lnSpc>
              <a:spcAft>
                <a:spcPts val="0"/>
              </a:spcAft>
            </a:pPr>
            <a:r>
              <a:rPr sz="1300" b="0" i="0">
                <a:solidFill>
                  <a:srgbClr val="9AA4DE"/>
                </a:solidFill>
                <a:latin typeface="Segoe UI"/>
              </a:rPr>
              <a:t>Proceso analizado: matrícula de un alumno a un ciclo/grupo</a:t>
            </a:r>
          </a:p>
        </p:txBody>
      </p:sp>
      <p:sp>
        <p:nvSpPr>
          <p:cNvPr id="5" name="Rectangle 4"/>
          <p:cNvSpPr/>
          <p:nvPr/>
        </p:nvSpPr>
        <p:spPr>
          <a:xfrm>
            <a:off x="731520" y="4434840"/>
            <a:ext cx="2926080" cy="12700"/>
          </a:xfrm>
          <a:prstGeom prst="rect">
            <a:avLst/>
          </a:prstGeom>
          <a:solidFill>
            <a:srgbClr val="333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617720"/>
            <a:ext cx="3657600" cy="32004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EXPONE</a:t>
            </a:r>
          </a:p>
        </p:txBody>
      </p:sp>
      <p:sp>
        <p:nvSpPr>
          <p:cNvPr id="7" name="TextBox 6"/>
          <p:cNvSpPr txBox="1"/>
          <p:nvPr/>
        </p:nvSpPr>
        <p:spPr>
          <a:xfrm>
            <a:off x="731520" y="4892040"/>
            <a:ext cx="4572000" cy="457200"/>
          </a:xfrm>
          <a:prstGeom prst="rect">
            <a:avLst/>
          </a:prstGeom>
          <a:noFill/>
        </p:spPr>
        <p:txBody>
          <a:bodyPr wrap="square" lIns="0" tIns="0" rIns="0" bIns="0" anchor="t">
            <a:spAutoFit/>
          </a:bodyPr>
          <a:lstStyle/>
          <a:p>
            <a:pPr algn="l">
              <a:lnSpc>
                <a:spcPct val="100000"/>
              </a:lnSpc>
              <a:spcAft>
                <a:spcPts val="0"/>
              </a:spcAft>
            </a:pPr>
            <a:r>
              <a:rPr sz="1700" b="1" i="0">
                <a:solidFill>
                  <a:srgbClr val="FFFFFF"/>
                </a:solidFill>
                <a:latin typeface="Segoe UI"/>
              </a:rPr>
              <a:t>Gladys Rosaura Yana Pari</a:t>
            </a:r>
          </a:p>
        </p:txBody>
      </p:sp>
      <p:sp>
        <p:nvSpPr>
          <p:cNvPr id="8" name="TextBox 7"/>
          <p:cNvSpPr txBox="1"/>
          <p:nvPr/>
        </p:nvSpPr>
        <p:spPr>
          <a:xfrm>
            <a:off x="5669280" y="4617720"/>
            <a:ext cx="2743200" cy="320040"/>
          </a:xfrm>
          <a:prstGeom prst="rect">
            <a:avLst/>
          </a:prstGeom>
          <a:noFill/>
        </p:spPr>
        <p:txBody>
          <a:bodyPr wrap="square" lIns="0" tIns="0" rIns="0" bIns="0" anchor="t">
            <a:spAutoFit/>
          </a:bodyPr>
          <a:lstStyle/>
          <a:p>
            <a:pPr algn="l">
              <a:lnSpc>
                <a:spcPct val="100000"/>
              </a:lnSpc>
              <a:spcAft>
                <a:spcPts val="0"/>
              </a:spcAft>
            </a:pPr>
            <a:r>
              <a:rPr sz="1050" b="1" i="0">
                <a:solidFill>
                  <a:srgbClr val="8B96E0"/>
                </a:solidFill>
                <a:latin typeface="Segoe UI"/>
              </a:rPr>
              <a:t>TIEMPO ASIGNADO</a:t>
            </a:r>
          </a:p>
        </p:txBody>
      </p:sp>
      <p:sp>
        <p:nvSpPr>
          <p:cNvPr id="9" name="TextBox 8"/>
          <p:cNvSpPr txBox="1"/>
          <p:nvPr/>
        </p:nvSpPr>
        <p:spPr>
          <a:xfrm>
            <a:off x="5669280" y="4892040"/>
            <a:ext cx="2743200" cy="457200"/>
          </a:xfrm>
          <a:prstGeom prst="rect">
            <a:avLst/>
          </a:prstGeom>
          <a:noFill/>
        </p:spPr>
        <p:txBody>
          <a:bodyPr wrap="square" lIns="0" tIns="0" rIns="0" bIns="0" anchor="t">
            <a:spAutoFit/>
          </a:bodyPr>
          <a:lstStyle/>
          <a:p>
            <a:pPr algn="l">
              <a:lnSpc>
                <a:spcPct val="100000"/>
              </a:lnSpc>
              <a:spcAft>
                <a:spcPts val="0"/>
              </a:spcAft>
            </a:pPr>
            <a:r>
              <a:rPr sz="1700" b="1" i="0">
                <a:solidFill>
                  <a:srgbClr val="FFFFFF"/>
                </a:solidFill>
                <a:latin typeface="Segoe UI"/>
              </a:rPr>
              <a:t>2:35</a:t>
            </a:r>
          </a:p>
        </p:txBody>
      </p:sp>
      <p:sp>
        <p:nvSpPr>
          <p:cNvPr id="10" name="TextBox 9"/>
          <p:cNvSpPr txBox="1"/>
          <p:nvPr/>
        </p:nvSpPr>
        <p:spPr>
          <a:xfrm>
            <a:off x="9326880" y="1463040"/>
            <a:ext cx="2377440" cy="2743200"/>
          </a:xfrm>
          <a:prstGeom prst="rect">
            <a:avLst/>
          </a:prstGeom>
          <a:noFill/>
        </p:spPr>
        <p:txBody>
          <a:bodyPr wrap="square" lIns="0" tIns="0" rIns="0" bIns="0" anchor="t">
            <a:spAutoFit/>
          </a:bodyPr>
          <a:lstStyle/>
          <a:p>
            <a:pPr algn="r">
              <a:lnSpc>
                <a:spcPct val="100000"/>
              </a:lnSpc>
              <a:spcAft>
                <a:spcPts val="0"/>
              </a:spcAft>
            </a:pPr>
            <a:r>
              <a:rPr sz="14000" b="0" i="0">
                <a:solidFill>
                  <a:srgbClr val="2C3576"/>
                </a:solidFill>
                <a:latin typeface="Georgia"/>
              </a:rPr>
              <a:t>04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E4 · 4.1 PROCESO ACTUAL (AS-IS)</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Antes: todo manual, nada conectado</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Gladys Rosaura Yana Pari   ·   ⏱ 45s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19 / 22</a:t>
            </a:r>
          </a:p>
        </p:txBody>
      </p:sp>
      <p:sp>
        <p:nvSpPr>
          <p:cNvPr id="7" name="Rounded Rectangle 6"/>
          <p:cNvSpPr/>
          <p:nvPr/>
        </p:nvSpPr>
        <p:spPr>
          <a:xfrm>
            <a:off x="73152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011680"/>
            <a:ext cx="45720" cy="86868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Padre/postulante</a:t>
            </a:r>
          </a:p>
          <a:p>
            <a:pPr algn="l">
              <a:lnSpc>
                <a:spcPct val="105000"/>
              </a:lnSpc>
              <a:spcAft>
                <a:spcPts val="0"/>
              </a:spcAft>
            </a:pPr>
            <a:r>
              <a:rPr sz="1019" b="0" i="0">
                <a:solidFill>
                  <a:srgbClr val="1B2559"/>
                </a:solidFill>
                <a:latin typeface="Segoe UI"/>
              </a:rPr>
              <a:t>consulta</a:t>
            </a:r>
          </a:p>
        </p:txBody>
      </p:sp>
      <p:sp>
        <p:nvSpPr>
          <p:cNvPr id="10" name="TextBox 9"/>
          <p:cNvSpPr txBox="1"/>
          <p:nvPr/>
        </p:nvSpPr>
        <p:spPr>
          <a:xfrm>
            <a:off x="224790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11" name="Rounded Rectangle 10"/>
          <p:cNvSpPr/>
          <p:nvPr/>
        </p:nvSpPr>
        <p:spPr>
          <a:xfrm>
            <a:off x="256794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67940" y="2011680"/>
            <a:ext cx="45720" cy="86868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7766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Secretaría anota en</a:t>
            </a:r>
          </a:p>
          <a:p>
            <a:pPr algn="l">
              <a:lnSpc>
                <a:spcPct val="105000"/>
              </a:lnSpc>
              <a:spcAft>
                <a:spcPts val="0"/>
              </a:spcAft>
            </a:pPr>
            <a:r>
              <a:rPr sz="1019" b="0" i="0">
                <a:solidFill>
                  <a:srgbClr val="1B2559"/>
                </a:solidFill>
                <a:latin typeface="Segoe UI"/>
              </a:rPr>
              <a:t>cuaderno/Excel</a:t>
            </a:r>
          </a:p>
        </p:txBody>
      </p:sp>
      <p:sp>
        <p:nvSpPr>
          <p:cNvPr id="14" name="TextBox 13"/>
          <p:cNvSpPr txBox="1"/>
          <p:nvPr/>
        </p:nvSpPr>
        <p:spPr>
          <a:xfrm>
            <a:off x="408432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15" name="Rounded Rectangle 14"/>
          <p:cNvSpPr/>
          <p:nvPr/>
        </p:nvSpPr>
        <p:spPr>
          <a:xfrm>
            <a:off x="440436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404360" y="2011680"/>
            <a:ext cx="45720" cy="86868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1408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Verificación manual</a:t>
            </a:r>
          </a:p>
          <a:p>
            <a:pPr algn="l">
              <a:lnSpc>
                <a:spcPct val="105000"/>
              </a:lnSpc>
              <a:spcAft>
                <a:spcPts val="0"/>
              </a:spcAft>
            </a:pPr>
            <a:r>
              <a:rPr sz="1019" b="0" i="0">
                <a:solidFill>
                  <a:srgbClr val="1B2559"/>
                </a:solidFill>
                <a:latin typeface="Segoe UI"/>
              </a:rPr>
              <a:t>de cupo</a:t>
            </a:r>
          </a:p>
        </p:txBody>
      </p:sp>
      <p:sp>
        <p:nvSpPr>
          <p:cNvPr id="18" name="TextBox 17"/>
          <p:cNvSpPr txBox="1"/>
          <p:nvPr/>
        </p:nvSpPr>
        <p:spPr>
          <a:xfrm>
            <a:off x="592074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19" name="Rounded Rectangle 18"/>
          <p:cNvSpPr/>
          <p:nvPr/>
        </p:nvSpPr>
        <p:spPr>
          <a:xfrm>
            <a:off x="624078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40780" y="2011680"/>
            <a:ext cx="45720" cy="86868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050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Pago en efectivo +</a:t>
            </a:r>
          </a:p>
          <a:p>
            <a:pPr algn="l">
              <a:lnSpc>
                <a:spcPct val="105000"/>
              </a:lnSpc>
              <a:spcAft>
                <a:spcPts val="0"/>
              </a:spcAft>
            </a:pPr>
            <a:r>
              <a:rPr sz="1019" b="0" i="0">
                <a:solidFill>
                  <a:srgbClr val="1B2559"/>
                </a:solidFill>
                <a:latin typeface="Segoe UI"/>
              </a:rPr>
              <a:t>recibo físico</a:t>
            </a:r>
          </a:p>
        </p:txBody>
      </p:sp>
      <p:sp>
        <p:nvSpPr>
          <p:cNvPr id="22" name="TextBox 21"/>
          <p:cNvSpPr txBox="1"/>
          <p:nvPr/>
        </p:nvSpPr>
        <p:spPr>
          <a:xfrm>
            <a:off x="775716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23" name="Rounded Rectangle 22"/>
          <p:cNvSpPr/>
          <p:nvPr/>
        </p:nvSpPr>
        <p:spPr>
          <a:xfrm>
            <a:off x="807720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77200" y="2011680"/>
            <a:ext cx="45720" cy="86868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8692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Dirección aprueba</a:t>
            </a:r>
          </a:p>
          <a:p>
            <a:pPr algn="l">
              <a:lnSpc>
                <a:spcPct val="105000"/>
              </a:lnSpc>
              <a:spcAft>
                <a:spcPts val="0"/>
              </a:spcAft>
            </a:pPr>
            <a:r>
              <a:rPr sz="1019" b="0" i="0">
                <a:solidFill>
                  <a:srgbClr val="1B2559"/>
                </a:solidFill>
                <a:latin typeface="Segoe UI"/>
              </a:rPr>
              <a:t>presencialmente</a:t>
            </a:r>
          </a:p>
        </p:txBody>
      </p:sp>
      <p:sp>
        <p:nvSpPr>
          <p:cNvPr id="26" name="TextBox 25"/>
          <p:cNvSpPr txBox="1"/>
          <p:nvPr/>
        </p:nvSpPr>
        <p:spPr>
          <a:xfrm>
            <a:off x="959358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27" name="Rounded Rectangle 26"/>
          <p:cNvSpPr/>
          <p:nvPr/>
        </p:nvSpPr>
        <p:spPr>
          <a:xfrm>
            <a:off x="991362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913620" y="2011680"/>
            <a:ext cx="45720" cy="86868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2334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Matriculado sin</a:t>
            </a:r>
          </a:p>
          <a:p>
            <a:pPr algn="l">
              <a:lnSpc>
                <a:spcPct val="105000"/>
              </a:lnSpc>
              <a:spcAft>
                <a:spcPts val="0"/>
              </a:spcAft>
            </a:pPr>
            <a:r>
              <a:rPr sz="1019" b="0" i="0">
                <a:solidFill>
                  <a:srgbClr val="1B2559"/>
                </a:solidFill>
                <a:latin typeface="Segoe UI"/>
              </a:rPr>
              <a:t>confirmación digital</a:t>
            </a:r>
          </a:p>
        </p:txBody>
      </p:sp>
      <p:sp>
        <p:nvSpPr>
          <p:cNvPr id="30" name="Rounded Rectangle 29"/>
          <p:cNvSpPr/>
          <p:nvPr/>
        </p:nvSpPr>
        <p:spPr>
          <a:xfrm>
            <a:off x="731520" y="3383280"/>
            <a:ext cx="10698480" cy="173736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31520" y="3383280"/>
            <a:ext cx="54864" cy="173736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96112" y="3493008"/>
            <a:ext cx="1036929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PROBLEMAS DETECTADOS</a:t>
            </a:r>
          </a:p>
        </p:txBody>
      </p:sp>
      <p:sp>
        <p:nvSpPr>
          <p:cNvPr id="33" name="TextBox 32"/>
          <p:cNvSpPr txBox="1"/>
          <p:nvPr/>
        </p:nvSpPr>
        <p:spPr>
          <a:xfrm>
            <a:off x="896112" y="3767328"/>
            <a:ext cx="10369296" cy="1234440"/>
          </a:xfrm>
          <a:prstGeom prst="rect">
            <a:avLst/>
          </a:prstGeom>
          <a:noFill/>
        </p:spPr>
        <p:txBody>
          <a:bodyPr wrap="square" lIns="0" tIns="0" rIns="0" bIns="0" anchor="t">
            <a:spAutoFit/>
          </a:bodyPr>
          <a:lstStyle/>
          <a:p>
            <a:pPr algn="l">
              <a:lnSpc>
                <a:spcPct val="112000"/>
              </a:lnSpc>
              <a:spcAft>
                <a:spcPts val="0"/>
              </a:spcAft>
            </a:pPr>
            <a:r>
              <a:rPr sz="1350" b="0" i="0">
                <a:solidFill>
                  <a:srgbClr val="1B2559"/>
                </a:solidFill>
                <a:latin typeface="Segoe UI"/>
              </a:rPr>
              <a:t>Duplicidad de registros, riesgo real de sobre-cupo (dos registros manuales pueden desincronizarse), pago desconectado del estado de matrícula, nula trazabilidad para auditoría.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E4 · 4.2 PROCESO PROPUESTO (TO-BE)</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Ahora: validación automática de principio a fin</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Gladys Rosaura Yana Pari   ·   ⏱ 50s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20 / 22</a:t>
            </a:r>
          </a:p>
        </p:txBody>
      </p:sp>
      <p:sp>
        <p:nvSpPr>
          <p:cNvPr id="7" name="Rounded Rectangle 6"/>
          <p:cNvSpPr/>
          <p:nvPr/>
        </p:nvSpPr>
        <p:spPr>
          <a:xfrm>
            <a:off x="73152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011680"/>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Pre-matrícula</a:t>
            </a:r>
          </a:p>
          <a:p>
            <a:pPr algn="l">
              <a:lnSpc>
                <a:spcPct val="105000"/>
              </a:lnSpc>
              <a:spcAft>
                <a:spcPts val="0"/>
              </a:spcAft>
            </a:pPr>
            <a:r>
              <a:rPr sz="1019" b="0" i="0">
                <a:solidFill>
                  <a:srgbClr val="1B2559"/>
                </a:solidFill>
                <a:latin typeface="Segoe UI"/>
              </a:rPr>
              <a:t>pública en línea</a:t>
            </a:r>
          </a:p>
        </p:txBody>
      </p:sp>
      <p:sp>
        <p:nvSpPr>
          <p:cNvPr id="10" name="TextBox 9"/>
          <p:cNvSpPr txBox="1"/>
          <p:nvPr/>
        </p:nvSpPr>
        <p:spPr>
          <a:xfrm>
            <a:off x="224790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11" name="Rounded Rectangle 10"/>
          <p:cNvSpPr/>
          <p:nvPr/>
        </p:nvSpPr>
        <p:spPr>
          <a:xfrm>
            <a:off x="256794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67940" y="2011680"/>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7766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Validación automática:</a:t>
            </a:r>
          </a:p>
          <a:p>
            <a:pPr algn="l">
              <a:lnSpc>
                <a:spcPct val="105000"/>
              </a:lnSpc>
              <a:spcAft>
                <a:spcPts val="0"/>
              </a:spcAft>
            </a:pPr>
            <a:r>
              <a:rPr sz="1019" b="0" i="0">
                <a:solidFill>
                  <a:srgbClr val="1B2559"/>
                </a:solidFill>
                <a:latin typeface="Segoe UI"/>
              </a:rPr>
              <a:t>ciclo abierto + cupo</a:t>
            </a:r>
          </a:p>
        </p:txBody>
      </p:sp>
      <p:sp>
        <p:nvSpPr>
          <p:cNvPr id="14" name="TextBox 13"/>
          <p:cNvSpPr txBox="1"/>
          <p:nvPr/>
        </p:nvSpPr>
        <p:spPr>
          <a:xfrm>
            <a:off x="408432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15" name="Rounded Rectangle 14"/>
          <p:cNvSpPr/>
          <p:nvPr/>
        </p:nvSpPr>
        <p:spPr>
          <a:xfrm>
            <a:off x="440436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404360" y="2011680"/>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1408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Registro</a:t>
            </a:r>
          </a:p>
          <a:p>
            <a:pPr algn="l">
              <a:lnSpc>
                <a:spcPct val="105000"/>
              </a:lnSpc>
              <a:spcAft>
                <a:spcPts val="0"/>
              </a:spcAft>
            </a:pPr>
            <a:r>
              <a:rPr sz="1019" b="0" i="0">
                <a:solidFill>
                  <a:srgbClr val="1B2559"/>
                </a:solidFill>
                <a:latin typeface="Segoe UI"/>
              </a:rPr>
              <a:t>'pendiente'</a:t>
            </a:r>
          </a:p>
        </p:txBody>
      </p:sp>
      <p:sp>
        <p:nvSpPr>
          <p:cNvPr id="18" name="TextBox 17"/>
          <p:cNvSpPr txBox="1"/>
          <p:nvPr/>
        </p:nvSpPr>
        <p:spPr>
          <a:xfrm>
            <a:off x="592074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19" name="Rounded Rectangle 18"/>
          <p:cNvSpPr/>
          <p:nvPr/>
        </p:nvSpPr>
        <p:spPr>
          <a:xfrm>
            <a:off x="624078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40780" y="2011680"/>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050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Admin revisa y</a:t>
            </a:r>
          </a:p>
          <a:p>
            <a:pPr algn="l">
              <a:lnSpc>
                <a:spcPct val="105000"/>
              </a:lnSpc>
              <a:spcAft>
                <a:spcPts val="0"/>
              </a:spcAft>
            </a:pPr>
            <a:r>
              <a:rPr sz="1019" b="0" i="0">
                <a:solidFill>
                  <a:srgbClr val="1B2559"/>
                </a:solidFill>
                <a:latin typeface="Segoe UI"/>
              </a:rPr>
              <a:t>aprueba en el panel</a:t>
            </a:r>
          </a:p>
        </p:txBody>
      </p:sp>
      <p:sp>
        <p:nvSpPr>
          <p:cNvPr id="22" name="TextBox 21"/>
          <p:cNvSpPr txBox="1"/>
          <p:nvPr/>
        </p:nvSpPr>
        <p:spPr>
          <a:xfrm>
            <a:off x="775716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23" name="Rounded Rectangle 22"/>
          <p:cNvSpPr/>
          <p:nvPr/>
        </p:nvSpPr>
        <p:spPr>
          <a:xfrm>
            <a:off x="807720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77200" y="2011680"/>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8692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Pago con</a:t>
            </a:r>
          </a:p>
          <a:p>
            <a:pPr algn="l">
              <a:lnSpc>
                <a:spcPct val="105000"/>
              </a:lnSpc>
              <a:spcAft>
                <a:spcPts val="0"/>
              </a:spcAft>
            </a:pPr>
            <a:r>
              <a:rPr sz="1019" b="0" i="0">
                <a:solidFill>
                  <a:srgbClr val="1B2559"/>
                </a:solidFill>
                <a:latin typeface="Segoe UI"/>
              </a:rPr>
              <a:t>trazabilidad de cuotas</a:t>
            </a:r>
          </a:p>
        </p:txBody>
      </p:sp>
      <p:sp>
        <p:nvSpPr>
          <p:cNvPr id="26" name="TextBox 25"/>
          <p:cNvSpPr txBox="1"/>
          <p:nvPr/>
        </p:nvSpPr>
        <p:spPr>
          <a:xfrm>
            <a:off x="9593580" y="2011680"/>
            <a:ext cx="320040" cy="868680"/>
          </a:xfrm>
          <a:prstGeom prst="rect">
            <a:avLst/>
          </a:prstGeom>
          <a:noFill/>
        </p:spPr>
        <p:txBody>
          <a:bodyPr wrap="square" lIns="0" tIns="0" rIns="0" bIns="0" anchor="ctr">
            <a:spAutoFit/>
          </a:bodyPr>
          <a:lstStyle/>
          <a:p>
            <a:pPr algn="ctr">
              <a:lnSpc>
                <a:spcPct val="100000"/>
              </a:lnSpc>
              <a:spcAft>
                <a:spcPts val="0"/>
              </a:spcAft>
            </a:pPr>
            <a:r>
              <a:rPr sz="1400" b="0" i="0">
                <a:solidFill>
                  <a:srgbClr val="454F78"/>
                </a:solidFill>
                <a:latin typeface="Segoe UI"/>
              </a:rPr>
              <a:t>→</a:t>
            </a:r>
          </a:p>
        </p:txBody>
      </p:sp>
      <p:sp>
        <p:nvSpPr>
          <p:cNvPr id="27" name="Rounded Rectangle 26"/>
          <p:cNvSpPr/>
          <p:nvPr/>
        </p:nvSpPr>
        <p:spPr>
          <a:xfrm>
            <a:off x="9913620" y="2011680"/>
            <a:ext cx="1516380" cy="86868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913620" y="2011680"/>
            <a:ext cx="45720" cy="86868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23348" y="2084832"/>
            <a:ext cx="1296924" cy="722376"/>
          </a:xfrm>
          <a:prstGeom prst="rect">
            <a:avLst/>
          </a:prstGeom>
          <a:noFill/>
        </p:spPr>
        <p:txBody>
          <a:bodyPr wrap="square" lIns="0" tIns="0" rIns="0" bIns="0" anchor="ctr">
            <a:spAutoFit/>
          </a:bodyPr>
          <a:lstStyle/>
          <a:p>
            <a:pPr algn="l">
              <a:lnSpc>
                <a:spcPct val="105000"/>
              </a:lnSpc>
              <a:spcAft>
                <a:spcPts val="0"/>
              </a:spcAft>
            </a:pPr>
            <a:r>
              <a:rPr sz="1019" b="0" i="0">
                <a:solidFill>
                  <a:srgbClr val="1B2559"/>
                </a:solidFill>
                <a:latin typeface="Segoe UI"/>
              </a:rPr>
              <a:t>Activación automática</a:t>
            </a:r>
          </a:p>
          <a:p>
            <a:pPr algn="l">
              <a:lnSpc>
                <a:spcPct val="105000"/>
              </a:lnSpc>
              <a:spcAft>
                <a:spcPts val="0"/>
              </a:spcAft>
            </a:pPr>
            <a:r>
              <a:rPr sz="1019" b="0" i="0">
                <a:solidFill>
                  <a:srgbClr val="1B2559"/>
                </a:solidFill>
                <a:latin typeface="Segoe UI"/>
              </a:rPr>
              <a:t>+ código al padre</a:t>
            </a:r>
          </a:p>
        </p:txBody>
      </p:sp>
      <p:sp>
        <p:nvSpPr>
          <p:cNvPr id="30" name="Rounded Rectangle 29"/>
          <p:cNvSpPr/>
          <p:nvPr/>
        </p:nvSpPr>
        <p:spPr>
          <a:xfrm>
            <a:off x="731520" y="3383280"/>
            <a:ext cx="10698480" cy="173736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31520" y="3383280"/>
            <a:ext cx="54864" cy="173736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96112" y="3493008"/>
            <a:ext cx="1036929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AUTOMATIZACIONES INCORPORADAS</a:t>
            </a:r>
          </a:p>
        </p:txBody>
      </p:sp>
      <p:sp>
        <p:nvSpPr>
          <p:cNvPr id="33" name="TextBox 32"/>
          <p:cNvSpPr txBox="1"/>
          <p:nvPr/>
        </p:nvSpPr>
        <p:spPr>
          <a:xfrm>
            <a:off x="896112" y="3767328"/>
            <a:ext cx="10369296" cy="1234440"/>
          </a:xfrm>
          <a:prstGeom prst="rect">
            <a:avLst/>
          </a:prstGeom>
          <a:noFill/>
        </p:spPr>
        <p:txBody>
          <a:bodyPr wrap="square" lIns="0" tIns="0" rIns="0" bIns="0" anchor="t">
            <a:spAutoFit/>
          </a:bodyPr>
          <a:lstStyle/>
          <a:p>
            <a:pPr algn="l">
              <a:lnSpc>
                <a:spcPct val="112000"/>
              </a:lnSpc>
              <a:spcAft>
                <a:spcPts val="0"/>
              </a:spcAft>
            </a:pPr>
            <a:r>
              <a:rPr sz="1350" b="0" i="0">
                <a:solidFill>
                  <a:srgbClr val="1B2559"/>
                </a:solidFill>
                <a:latin typeface="Segoe UI"/>
              </a:rPr>
              <a:t>Validación transaccional de cupo (evita sobre-matrícula), deduplicación por alumno/ciclo, generación automática del acceso y del código de consulta de asistencia.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7FB"/>
        </a:solidFill>
        <a:effectLst/>
      </p:bgPr>
    </p:bg>
    <p:spTree>
      <p:nvGrpSpPr>
        <p:cNvPr id="1" name=""/>
        <p:cNvGrpSpPr/>
        <p:nvPr/>
      </p:nvGrpSpPr>
      <p:grpSpPr>
        <a:xfrm>
          <a:off x="0" y="0"/>
          <a:ext cx="0" cy="0"/>
          <a:chOff x="0" y="0"/>
          <a:chExt cx="0" cy="0"/>
        </a:xfrm>
      </p:grpSpPr>
      <p:sp>
        <p:nvSpPr>
          <p:cNvPr id="2" name="TextBox 1"/>
          <p:cNvSpPr txBox="1"/>
          <p:nvPr/>
        </p:nvSpPr>
        <p:spPr>
          <a:xfrm>
            <a:off x="731520" y="502920"/>
            <a:ext cx="96012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3B5BDB"/>
                </a:solidFill>
                <a:latin typeface="Segoe UI"/>
              </a:rPr>
              <a:t>E4 · 4.3 ANÁLISIS COMPARATIVO</a:t>
            </a:r>
          </a:p>
        </p:txBody>
      </p:sp>
      <p:sp>
        <p:nvSpPr>
          <p:cNvPr id="3" name="TextBox 2"/>
          <p:cNvSpPr txBox="1"/>
          <p:nvPr/>
        </p:nvSpPr>
        <p:spPr>
          <a:xfrm>
            <a:off x="731520" y="841248"/>
            <a:ext cx="10607040" cy="914400"/>
          </a:xfrm>
          <a:prstGeom prst="rect">
            <a:avLst/>
          </a:prstGeom>
          <a:noFill/>
        </p:spPr>
        <p:txBody>
          <a:bodyPr wrap="square" lIns="0" tIns="0" rIns="0" bIns="0" anchor="t">
            <a:spAutoFit/>
          </a:bodyPr>
          <a:lstStyle/>
          <a:p>
            <a:pPr algn="l">
              <a:lnSpc>
                <a:spcPct val="102000"/>
              </a:lnSpc>
              <a:spcAft>
                <a:spcPts val="0"/>
              </a:spcAft>
            </a:pPr>
            <a:r>
              <a:rPr sz="2300" b="0" i="0">
                <a:solidFill>
                  <a:srgbClr val="1B2559"/>
                </a:solidFill>
                <a:latin typeface="Segoe UI"/>
              </a:rPr>
              <a:t>La mejora, en cuatro dimensiones</a:t>
            </a:r>
          </a:p>
        </p:txBody>
      </p:sp>
      <p:sp>
        <p:nvSpPr>
          <p:cNvPr id="4" name="Rectangle 3"/>
          <p:cNvSpPr/>
          <p:nvPr/>
        </p:nvSpPr>
        <p:spPr>
          <a:xfrm>
            <a:off x="731520" y="1627632"/>
            <a:ext cx="10698480" cy="15240"/>
          </a:xfrm>
          <a:prstGeom prst="rect">
            <a:avLst/>
          </a:prstGeom>
          <a:solidFill>
            <a:srgbClr val="3B5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73952"/>
            <a:ext cx="7772400" cy="292608"/>
          </a:xfrm>
          <a:prstGeom prst="rect">
            <a:avLst/>
          </a:prstGeom>
          <a:noFill/>
        </p:spPr>
        <p:txBody>
          <a:bodyPr wrap="square" lIns="0" tIns="0" rIns="0" bIns="0" anchor="t">
            <a:spAutoFit/>
          </a:bodyPr>
          <a:lstStyle/>
          <a:p>
            <a:pPr algn="l">
              <a:lnSpc>
                <a:spcPct val="100000"/>
              </a:lnSpc>
              <a:spcAft>
                <a:spcPts val="0"/>
              </a:spcAft>
            </a:pPr>
            <a:r>
              <a:rPr sz="1050" b="0" i="0">
                <a:solidFill>
                  <a:srgbClr val="454F78"/>
                </a:solidFill>
                <a:latin typeface="Segoe UI"/>
              </a:rPr>
              <a:t>Expone: Gladys Rosaura Yana Pari   ·   ⏱ 45s</a:t>
            </a:r>
          </a:p>
        </p:txBody>
      </p:sp>
      <p:sp>
        <p:nvSpPr>
          <p:cNvPr id="6" name="TextBox 5"/>
          <p:cNvSpPr txBox="1"/>
          <p:nvPr/>
        </p:nvSpPr>
        <p:spPr>
          <a:xfrm>
            <a:off x="10881360" y="6473952"/>
            <a:ext cx="822960" cy="292608"/>
          </a:xfrm>
          <a:prstGeom prst="rect">
            <a:avLst/>
          </a:prstGeom>
          <a:noFill/>
        </p:spPr>
        <p:txBody>
          <a:bodyPr wrap="square" lIns="0" tIns="0" rIns="0" bIns="0" anchor="t">
            <a:spAutoFit/>
          </a:bodyPr>
          <a:lstStyle/>
          <a:p>
            <a:pPr algn="r">
              <a:lnSpc>
                <a:spcPct val="100000"/>
              </a:lnSpc>
              <a:spcAft>
                <a:spcPts val="0"/>
              </a:spcAft>
            </a:pPr>
            <a:r>
              <a:rPr sz="1050" b="0" i="0">
                <a:solidFill>
                  <a:srgbClr val="454F78"/>
                </a:solidFill>
                <a:latin typeface="Segoe UI"/>
              </a:rPr>
              <a:t>21 / 22</a:t>
            </a:r>
          </a:p>
        </p:txBody>
      </p:sp>
      <p:graphicFrame>
        <p:nvGraphicFramePr>
          <p:cNvPr id="7" name="Table 6"/>
          <p:cNvGraphicFramePr>
            <a:graphicFrameLocks noGrp="1"/>
          </p:cNvGraphicFramePr>
          <p:nvPr/>
        </p:nvGraphicFramePr>
        <p:xfrm>
          <a:off x="731520" y="1920240"/>
          <a:ext cx="10698480" cy="274320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548640">
                <a:tc>
                  <a:txBody>
                    <a:bodyPr/>
                    <a:lstStyle/>
                    <a:p>
                      <a:pPr>
                        <a:defRPr sz="1150" b="1">
                          <a:solidFill>
                            <a:srgbClr val="FFFFFF"/>
                          </a:solidFill>
                          <a:latin typeface="Segoe UI"/>
                        </a:defRPr>
                      </a:pPr>
                      <a:r>
                        <a:t>Dimensión</a:t>
                      </a:r>
                    </a:p>
                  </a:txBody>
                  <a:tcPr marL="76200" marR="76200" marT="50800" marB="50800" anchor="ctr">
                    <a:solidFill>
                      <a:srgbClr val="1B2559"/>
                    </a:solidFill>
                  </a:tcPr>
                </a:tc>
                <a:tc>
                  <a:txBody>
                    <a:bodyPr/>
                    <a:lstStyle/>
                    <a:p>
                      <a:pPr>
                        <a:defRPr sz="1150" b="1">
                          <a:solidFill>
                            <a:srgbClr val="FFFFFF"/>
                          </a:solidFill>
                          <a:latin typeface="Segoe UI"/>
                        </a:defRPr>
                      </a:pPr>
                      <a:r>
                        <a:t>AS-IS</a:t>
                      </a:r>
                    </a:p>
                  </a:txBody>
                  <a:tcPr marL="76200" marR="76200" marT="50800" marB="50800" anchor="ctr">
                    <a:solidFill>
                      <a:srgbClr val="1B2559"/>
                    </a:solidFill>
                  </a:tcPr>
                </a:tc>
                <a:tc>
                  <a:txBody>
                    <a:bodyPr/>
                    <a:lstStyle/>
                    <a:p>
                      <a:pPr>
                        <a:defRPr sz="1150" b="1">
                          <a:solidFill>
                            <a:srgbClr val="FFFFFF"/>
                          </a:solidFill>
                          <a:latin typeface="Segoe UI"/>
                        </a:defRPr>
                      </a:pPr>
                      <a:r>
                        <a:t>TO-BE</a:t>
                      </a:r>
                    </a:p>
                  </a:txBody>
                  <a:tcPr marL="76200" marR="76200" marT="50800" marB="50800" anchor="ctr">
                    <a:solidFill>
                      <a:srgbClr val="1B2559"/>
                    </a:solidFill>
                  </a:tcPr>
                </a:tc>
                <a:tc>
                  <a:txBody>
                    <a:bodyPr/>
                    <a:lstStyle/>
                    <a:p>
                      <a:pPr>
                        <a:defRPr sz="1150" b="1">
                          <a:solidFill>
                            <a:srgbClr val="FFFFFF"/>
                          </a:solidFill>
                          <a:latin typeface="Segoe UI"/>
                        </a:defRPr>
                      </a:pPr>
                      <a:r>
                        <a:t>Mejora</a:t>
                      </a:r>
                    </a:p>
                  </a:txBody>
                  <a:tcPr marL="76200" marR="76200" marT="50800" marB="50800" anchor="ctr">
                    <a:solidFill>
                      <a:srgbClr val="1B2559"/>
                    </a:solidFill>
                  </a:tcPr>
                </a:tc>
                <a:extLst>
                  <a:ext uri="{0D108BD9-81ED-4DB2-BD59-A6C34878D82A}">
                    <a16:rowId xmlns:a16="http://schemas.microsoft.com/office/drawing/2014/main" val="10000"/>
                  </a:ext>
                </a:extLst>
              </a:tr>
              <a:tr h="548640">
                <a:tc>
                  <a:txBody>
                    <a:bodyPr/>
                    <a:lstStyle/>
                    <a:p>
                      <a:pPr>
                        <a:defRPr sz="1200" b="0">
                          <a:solidFill>
                            <a:srgbClr val="1B2559"/>
                          </a:solidFill>
                          <a:latin typeface="Segoe UI"/>
                        </a:defRPr>
                      </a:pPr>
                      <a:r>
                        <a:t>Tiempo de confirmación</a:t>
                      </a:r>
                    </a:p>
                  </a:txBody>
                  <a:tcPr marL="76200" marR="76200" marT="50800" marB="50800" anchor="ctr">
                    <a:solidFill>
                      <a:srgbClr val="FFFFFF"/>
                    </a:solidFill>
                  </a:tcPr>
                </a:tc>
                <a:tc>
                  <a:txBody>
                    <a:bodyPr/>
                    <a:lstStyle/>
                    <a:p>
                      <a:pPr>
                        <a:defRPr sz="1200" b="0">
                          <a:solidFill>
                            <a:srgbClr val="1B2559"/>
                          </a:solidFill>
                          <a:latin typeface="Segoe UI"/>
                        </a:defRPr>
                      </a:pPr>
                      <a:r>
                        <a:t>Horas a días</a:t>
                      </a:r>
                    </a:p>
                  </a:txBody>
                  <a:tcPr marL="76200" marR="76200" marT="50800" marB="50800" anchor="ctr">
                    <a:solidFill>
                      <a:srgbClr val="FFFFFF"/>
                    </a:solidFill>
                  </a:tcPr>
                </a:tc>
                <a:tc>
                  <a:txBody>
                    <a:bodyPr/>
                    <a:lstStyle/>
                    <a:p>
                      <a:pPr>
                        <a:defRPr sz="1200" b="0">
                          <a:solidFill>
                            <a:srgbClr val="1B2559"/>
                          </a:solidFill>
                          <a:latin typeface="Segoe UI"/>
                        </a:defRPr>
                      </a:pPr>
                      <a:r>
                        <a:t>Minutos</a:t>
                      </a:r>
                    </a:p>
                  </a:txBody>
                  <a:tcPr marL="76200" marR="76200" marT="50800" marB="50800" anchor="ctr">
                    <a:solidFill>
                      <a:srgbClr val="FFFFFF"/>
                    </a:solidFill>
                  </a:tcPr>
                </a:tc>
                <a:tc>
                  <a:txBody>
                    <a:bodyPr/>
                    <a:lstStyle/>
                    <a:p>
                      <a:pPr>
                        <a:defRPr sz="1200" b="0">
                          <a:solidFill>
                            <a:srgbClr val="1B2559"/>
                          </a:solidFill>
                          <a:latin typeface="Segoe UI"/>
                        </a:defRPr>
                      </a:pPr>
                      <a:r>
                        <a:t>Reducción drástica de espera</a:t>
                      </a:r>
                    </a:p>
                  </a:txBody>
                  <a:tcPr marL="76200" marR="76200" marT="50800" marB="50800" anchor="ctr">
                    <a:solidFill>
                      <a:srgbClr val="FFFFFF"/>
                    </a:solidFill>
                  </a:tcPr>
                </a:tc>
                <a:extLst>
                  <a:ext uri="{0D108BD9-81ED-4DB2-BD59-A6C34878D82A}">
                    <a16:rowId xmlns:a16="http://schemas.microsoft.com/office/drawing/2014/main" val="10001"/>
                  </a:ext>
                </a:extLst>
              </a:tr>
              <a:tr h="548640">
                <a:tc>
                  <a:txBody>
                    <a:bodyPr/>
                    <a:lstStyle/>
                    <a:p>
                      <a:pPr>
                        <a:defRPr sz="1200" b="0">
                          <a:solidFill>
                            <a:srgbClr val="1B2559"/>
                          </a:solidFill>
                          <a:latin typeface="Segoe UI"/>
                        </a:defRPr>
                      </a:pPr>
                      <a:r>
                        <a:t>Riesgo de sobre-cupo</a:t>
                      </a:r>
                    </a:p>
                  </a:txBody>
                  <a:tcPr marL="76200" marR="76200" marT="50800" marB="50800" anchor="ctr">
                    <a:solidFill>
                      <a:srgbClr val="FFFFFF"/>
                    </a:solidFill>
                  </a:tcPr>
                </a:tc>
                <a:tc>
                  <a:txBody>
                    <a:bodyPr/>
                    <a:lstStyle/>
                    <a:p>
                      <a:pPr>
                        <a:defRPr sz="1200" b="0">
                          <a:solidFill>
                            <a:srgbClr val="1B2559"/>
                          </a:solidFill>
                          <a:latin typeface="Segoe UI"/>
                        </a:defRPr>
                      </a:pPr>
                      <a:r>
                        <a:t>Real</a:t>
                      </a:r>
                    </a:p>
                  </a:txBody>
                  <a:tcPr marL="76200" marR="76200" marT="50800" marB="50800" anchor="ctr">
                    <a:solidFill>
                      <a:srgbClr val="FFFFFF"/>
                    </a:solidFill>
                  </a:tcPr>
                </a:tc>
                <a:tc>
                  <a:txBody>
                    <a:bodyPr/>
                    <a:lstStyle/>
                    <a:p>
                      <a:pPr>
                        <a:defRPr sz="1200" b="0">
                          <a:solidFill>
                            <a:srgbClr val="1B2559"/>
                          </a:solidFill>
                          <a:latin typeface="Segoe UI"/>
                        </a:defRPr>
                      </a:pPr>
                      <a:r>
                        <a:t>Eliminado</a:t>
                      </a:r>
                    </a:p>
                  </a:txBody>
                  <a:tcPr marL="76200" marR="76200" marT="50800" marB="50800" anchor="ctr">
                    <a:solidFill>
                      <a:srgbClr val="FFFFFF"/>
                    </a:solidFill>
                  </a:tcPr>
                </a:tc>
                <a:tc>
                  <a:txBody>
                    <a:bodyPr/>
                    <a:lstStyle/>
                    <a:p>
                      <a:pPr>
                        <a:defRPr sz="1200" b="0">
                          <a:solidFill>
                            <a:srgbClr val="1B2559"/>
                          </a:solidFill>
                          <a:latin typeface="Segoe UI"/>
                        </a:defRPr>
                      </a:pPr>
                      <a:r>
                        <a:t>Mejora de confiabilidad</a:t>
                      </a:r>
                    </a:p>
                  </a:txBody>
                  <a:tcPr marL="76200" marR="76200" marT="50800" marB="50800" anchor="ctr">
                    <a:solidFill>
                      <a:srgbClr val="FFFFFF"/>
                    </a:solidFill>
                  </a:tcPr>
                </a:tc>
                <a:extLst>
                  <a:ext uri="{0D108BD9-81ED-4DB2-BD59-A6C34878D82A}">
                    <a16:rowId xmlns:a16="http://schemas.microsoft.com/office/drawing/2014/main" val="10002"/>
                  </a:ext>
                </a:extLst>
              </a:tr>
              <a:tr h="548640">
                <a:tc>
                  <a:txBody>
                    <a:bodyPr/>
                    <a:lstStyle/>
                    <a:p>
                      <a:pPr>
                        <a:defRPr sz="1200" b="0">
                          <a:solidFill>
                            <a:srgbClr val="1B2559"/>
                          </a:solidFill>
                          <a:latin typeface="Segoe UI"/>
                        </a:defRPr>
                      </a:pPr>
                      <a:r>
                        <a:t>Trazabilidad de pagos</a:t>
                      </a:r>
                    </a:p>
                  </a:txBody>
                  <a:tcPr marL="76200" marR="76200" marT="50800" marB="50800" anchor="ctr">
                    <a:solidFill>
                      <a:srgbClr val="FFFFFF"/>
                    </a:solidFill>
                  </a:tcPr>
                </a:tc>
                <a:tc>
                  <a:txBody>
                    <a:bodyPr/>
                    <a:lstStyle/>
                    <a:p>
                      <a:pPr>
                        <a:defRPr sz="1200" b="0">
                          <a:solidFill>
                            <a:srgbClr val="1B2559"/>
                          </a:solidFill>
                          <a:latin typeface="Segoe UI"/>
                        </a:defRPr>
                      </a:pPr>
                      <a:r>
                        <a:t>Desconectada</a:t>
                      </a:r>
                    </a:p>
                  </a:txBody>
                  <a:tcPr marL="76200" marR="76200" marT="50800" marB="50800" anchor="ctr">
                    <a:solidFill>
                      <a:srgbClr val="FFFFFF"/>
                    </a:solidFill>
                  </a:tcPr>
                </a:tc>
                <a:tc>
                  <a:txBody>
                    <a:bodyPr/>
                    <a:lstStyle/>
                    <a:p>
                      <a:pPr>
                        <a:defRPr sz="1200" b="0">
                          <a:solidFill>
                            <a:srgbClr val="1B2559"/>
                          </a:solidFill>
                          <a:latin typeface="Segoe UI"/>
                        </a:defRPr>
                      </a:pPr>
                      <a:r>
                        <a:t>Vinculada 1:1</a:t>
                      </a:r>
                    </a:p>
                  </a:txBody>
                  <a:tcPr marL="76200" marR="76200" marT="50800" marB="50800" anchor="ctr">
                    <a:solidFill>
                      <a:srgbClr val="FFFFFF"/>
                    </a:solidFill>
                  </a:tcPr>
                </a:tc>
                <a:tc>
                  <a:txBody>
                    <a:bodyPr/>
                    <a:lstStyle/>
                    <a:p>
                      <a:pPr>
                        <a:defRPr sz="1200" b="0">
                          <a:solidFill>
                            <a:srgbClr val="1B2559"/>
                          </a:solidFill>
                          <a:latin typeface="Segoe UI"/>
                        </a:defRPr>
                      </a:pPr>
                      <a:r>
                        <a:t>Mejora de auditoría</a:t>
                      </a:r>
                    </a:p>
                  </a:txBody>
                  <a:tcPr marL="76200" marR="76200" marT="50800" marB="50800" anchor="ctr">
                    <a:solidFill>
                      <a:srgbClr val="FFFFFF"/>
                    </a:solidFill>
                  </a:tcPr>
                </a:tc>
                <a:extLst>
                  <a:ext uri="{0D108BD9-81ED-4DB2-BD59-A6C34878D82A}">
                    <a16:rowId xmlns:a16="http://schemas.microsoft.com/office/drawing/2014/main" val="10003"/>
                  </a:ext>
                </a:extLst>
              </a:tr>
              <a:tr h="548640">
                <a:tc>
                  <a:txBody>
                    <a:bodyPr/>
                    <a:lstStyle/>
                    <a:p>
                      <a:pPr>
                        <a:defRPr sz="1200" b="0">
                          <a:solidFill>
                            <a:srgbClr val="1B2559"/>
                          </a:solidFill>
                          <a:latin typeface="Segoe UI"/>
                        </a:defRPr>
                      </a:pPr>
                      <a:r>
                        <a:t>Confirmación al padre</a:t>
                      </a:r>
                    </a:p>
                  </a:txBody>
                  <a:tcPr marL="76200" marR="76200" marT="50800" marB="50800" anchor="ctr">
                    <a:solidFill>
                      <a:srgbClr val="FFFFFF"/>
                    </a:solidFill>
                  </a:tcPr>
                </a:tc>
                <a:tc>
                  <a:txBody>
                    <a:bodyPr/>
                    <a:lstStyle/>
                    <a:p>
                      <a:pPr>
                        <a:defRPr sz="1200" b="0">
                          <a:solidFill>
                            <a:srgbClr val="1B2559"/>
                          </a:solidFill>
                          <a:latin typeface="Segoe UI"/>
                        </a:defRPr>
                      </a:pPr>
                      <a:r>
                        <a:t>Ninguna formal</a:t>
                      </a:r>
                    </a:p>
                  </a:txBody>
                  <a:tcPr marL="76200" marR="76200" marT="50800" marB="50800" anchor="ctr">
                    <a:solidFill>
                      <a:srgbClr val="FFFFFF"/>
                    </a:solidFill>
                  </a:tcPr>
                </a:tc>
                <a:tc>
                  <a:txBody>
                    <a:bodyPr/>
                    <a:lstStyle/>
                    <a:p>
                      <a:pPr>
                        <a:defRPr sz="1200" b="0">
                          <a:solidFill>
                            <a:srgbClr val="1B2559"/>
                          </a:solidFill>
                          <a:latin typeface="Segoe UI"/>
                        </a:defRPr>
                      </a:pPr>
                      <a:r>
                        <a:t>Automática</a:t>
                      </a:r>
                    </a:p>
                  </a:txBody>
                  <a:tcPr marL="76200" marR="76200" marT="50800" marB="50800" anchor="ctr">
                    <a:solidFill>
                      <a:srgbClr val="FFFFFF"/>
                    </a:solidFill>
                  </a:tcPr>
                </a:tc>
                <a:tc>
                  <a:txBody>
                    <a:bodyPr/>
                    <a:lstStyle/>
                    <a:p>
                      <a:pPr>
                        <a:defRPr sz="1200" b="0">
                          <a:solidFill>
                            <a:srgbClr val="1B2559"/>
                          </a:solidFill>
                          <a:latin typeface="Segoe UI"/>
                        </a:defRPr>
                      </a:pPr>
                      <a:r>
                        <a:t>Menos llamadas a secretaría</a:t>
                      </a:r>
                    </a:p>
                  </a:txBody>
                  <a:tcPr marL="76200" marR="76200" marT="50800" marB="50800" anchor="ctr">
                    <a:solidFill>
                      <a:srgbClr val="FFFFFF"/>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4846320"/>
            <a:ext cx="3291840" cy="105156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4846320"/>
            <a:ext cx="54864" cy="105156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4956048"/>
            <a:ext cx="29626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META</a:t>
            </a:r>
          </a:p>
        </p:txBody>
      </p:sp>
      <p:sp>
        <p:nvSpPr>
          <p:cNvPr id="11" name="TextBox 10"/>
          <p:cNvSpPr txBox="1"/>
          <p:nvPr/>
        </p:nvSpPr>
        <p:spPr>
          <a:xfrm>
            <a:off x="896112" y="5230368"/>
            <a:ext cx="2962656" cy="548640"/>
          </a:xfrm>
          <a:prstGeom prst="rect">
            <a:avLst/>
          </a:prstGeom>
          <a:noFill/>
        </p:spPr>
        <p:txBody>
          <a:bodyPr wrap="square" lIns="0" tIns="0" rIns="0" bIns="0" anchor="t">
            <a:spAutoFit/>
          </a:bodyPr>
          <a:lstStyle/>
          <a:p>
            <a:pPr algn="l">
              <a:lnSpc>
                <a:spcPct val="112000"/>
              </a:lnSpc>
              <a:spcAft>
                <a:spcPts val="0"/>
              </a:spcAft>
            </a:pPr>
            <a:r>
              <a:rPr sz="1400" b="0" i="0">
                <a:solidFill>
                  <a:srgbClr val="1B2559"/>
                </a:solidFill>
                <a:latin typeface="Segoe UI"/>
              </a:rPr>
              <a:t>0 incidentes de sobre-cupo</a:t>
            </a:r>
          </a:p>
        </p:txBody>
      </p:sp>
      <p:sp>
        <p:nvSpPr>
          <p:cNvPr id="12" name="Rounded Rectangle 11"/>
          <p:cNvSpPr/>
          <p:nvPr/>
        </p:nvSpPr>
        <p:spPr>
          <a:xfrm>
            <a:off x="4206240" y="4846320"/>
            <a:ext cx="3291840" cy="1051560"/>
          </a:xfrm>
          <a:prstGeom prst="roundRect">
            <a:avLst>
              <a:gd name="adj" fmla="val 4500"/>
            </a:avLst>
          </a:prstGeom>
          <a:solidFill>
            <a:srgbClr val="FFFFFF"/>
          </a:solidFill>
          <a:ln w="9525">
            <a:solidFill>
              <a:srgbClr val="D8D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06240" y="4846320"/>
            <a:ext cx="54864" cy="1051560"/>
          </a:xfrm>
          <a:prstGeom prst="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70832" y="4956048"/>
            <a:ext cx="2962656" cy="274320"/>
          </a:xfrm>
          <a:prstGeom prst="rect">
            <a:avLst/>
          </a:prstGeom>
          <a:noFill/>
        </p:spPr>
        <p:txBody>
          <a:bodyPr wrap="square" lIns="0" tIns="0" rIns="0" bIns="0" anchor="t">
            <a:spAutoFit/>
          </a:bodyPr>
          <a:lstStyle/>
          <a:p>
            <a:pPr algn="l">
              <a:lnSpc>
                <a:spcPct val="100000"/>
              </a:lnSpc>
              <a:spcAft>
                <a:spcPts val="0"/>
              </a:spcAft>
            </a:pPr>
            <a:r>
              <a:rPr sz="1000" b="1" i="0">
                <a:solidFill>
                  <a:srgbClr val="454F78"/>
                </a:solidFill>
                <a:latin typeface="Segoe UI"/>
              </a:rPr>
              <a:t>ANTES VS. AHORA</a:t>
            </a:r>
          </a:p>
        </p:txBody>
      </p:sp>
      <p:sp>
        <p:nvSpPr>
          <p:cNvPr id="15" name="TextBox 14"/>
          <p:cNvSpPr txBox="1"/>
          <p:nvPr/>
        </p:nvSpPr>
        <p:spPr>
          <a:xfrm>
            <a:off x="4370832" y="5230368"/>
            <a:ext cx="2962656" cy="548640"/>
          </a:xfrm>
          <a:prstGeom prst="rect">
            <a:avLst/>
          </a:prstGeom>
          <a:noFill/>
        </p:spPr>
        <p:txBody>
          <a:bodyPr wrap="square" lIns="0" tIns="0" rIns="0" bIns="0" anchor="t">
            <a:spAutoFit/>
          </a:bodyPr>
          <a:lstStyle/>
          <a:p>
            <a:pPr algn="l">
              <a:lnSpc>
                <a:spcPct val="112000"/>
              </a:lnSpc>
              <a:spcAft>
                <a:spcPts val="0"/>
              </a:spcAft>
            </a:pPr>
            <a:r>
              <a:rPr sz="1400" b="0" i="0">
                <a:solidFill>
                  <a:srgbClr val="1B2559"/>
                </a:solidFill>
                <a:latin typeface="Segoe UI"/>
              </a:rPr>
              <a:t>Días → minutos, tiempo de aprobación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B2559"/>
        </a:solidFill>
        <a:effectLst/>
      </p:bgPr>
    </p:bg>
    <p:spTree>
      <p:nvGrpSpPr>
        <p:cNvPr id="1" name=""/>
        <p:cNvGrpSpPr/>
        <p:nvPr/>
      </p:nvGrpSpPr>
      <p:grpSpPr>
        <a:xfrm>
          <a:off x="0" y="0"/>
          <a:ext cx="0" cy="0"/>
          <a:chOff x="0" y="0"/>
          <a:chExt cx="0" cy="0"/>
        </a:xfrm>
      </p:grpSpPr>
      <p:sp>
        <p:nvSpPr>
          <p:cNvPr id="2" name="TextBox 1"/>
          <p:cNvSpPr txBox="1"/>
          <p:nvPr/>
        </p:nvSpPr>
        <p:spPr>
          <a:xfrm>
            <a:off x="731520" y="2103120"/>
            <a:ext cx="8229600" cy="320040"/>
          </a:xfrm>
          <a:prstGeom prst="rect">
            <a:avLst/>
          </a:prstGeom>
          <a:noFill/>
        </p:spPr>
        <p:txBody>
          <a:bodyPr wrap="square" lIns="0" tIns="0" rIns="0" bIns="0" anchor="t">
            <a:spAutoFit/>
          </a:bodyPr>
          <a:lstStyle/>
          <a:p>
            <a:pPr algn="l">
              <a:lnSpc>
                <a:spcPct val="100000"/>
              </a:lnSpc>
              <a:spcAft>
                <a:spcPts val="0"/>
              </a:spcAft>
            </a:pPr>
            <a:r>
              <a:rPr sz="1250" b="1" i="0">
                <a:solidFill>
                  <a:srgbClr val="AAB6FF"/>
                </a:solidFill>
                <a:latin typeface="Segoe UI"/>
              </a:rPr>
              <a:t>CIERRE · LÍNEA CE01</a:t>
            </a:r>
          </a:p>
        </p:txBody>
      </p:sp>
      <p:sp>
        <p:nvSpPr>
          <p:cNvPr id="3" name="TextBox 2"/>
          <p:cNvSpPr txBox="1"/>
          <p:nvPr/>
        </p:nvSpPr>
        <p:spPr>
          <a:xfrm>
            <a:off x="731520" y="2514600"/>
            <a:ext cx="10058400" cy="1188720"/>
          </a:xfrm>
          <a:prstGeom prst="rect">
            <a:avLst/>
          </a:prstGeom>
          <a:noFill/>
        </p:spPr>
        <p:txBody>
          <a:bodyPr wrap="square" lIns="0" tIns="0" rIns="0" bIns="0" anchor="t">
            <a:spAutoFit/>
          </a:bodyPr>
          <a:lstStyle/>
          <a:p>
            <a:pPr algn="l">
              <a:lnSpc>
                <a:spcPct val="100000"/>
              </a:lnSpc>
              <a:spcAft>
                <a:spcPts val="0"/>
              </a:spcAft>
            </a:pPr>
            <a:r>
              <a:rPr sz="2800" b="0" i="0">
                <a:solidFill>
                  <a:srgbClr val="FFFFFF"/>
                </a:solidFill>
                <a:latin typeface="Segoe UI"/>
              </a:rPr>
              <a:t>De un diagnóstico honesto a un sistema que ya opera</a:t>
            </a:r>
          </a:p>
        </p:txBody>
      </p:sp>
      <p:sp>
        <p:nvSpPr>
          <p:cNvPr id="4" name="TextBox 3"/>
          <p:cNvSpPr txBox="1"/>
          <p:nvPr/>
        </p:nvSpPr>
        <p:spPr>
          <a:xfrm>
            <a:off x="731520" y="3657600"/>
            <a:ext cx="9326880" cy="822960"/>
          </a:xfrm>
          <a:prstGeom prst="rect">
            <a:avLst/>
          </a:prstGeom>
          <a:noFill/>
        </p:spPr>
        <p:txBody>
          <a:bodyPr wrap="square" lIns="0" tIns="0" rIns="0" bIns="0" anchor="t">
            <a:spAutoFit/>
          </a:bodyPr>
          <a:lstStyle/>
          <a:p>
            <a:pPr algn="l">
              <a:lnSpc>
                <a:spcPct val="120000"/>
              </a:lnSpc>
              <a:spcAft>
                <a:spcPts val="0"/>
              </a:spcAft>
            </a:pPr>
            <a:r>
              <a:rPr sz="1400" b="0" i="0">
                <a:solidFill>
                  <a:srgbClr val="9AA4DE"/>
                </a:solidFill>
                <a:latin typeface="Segoe UI"/>
              </a:rPr>
              <a:t>Diagnóstico, business case, plan de gestión y modelado de procesos: cuatro entregables que explican por qué se construyó la Plataforma CERMAT, no solo cómo.</a:t>
            </a:r>
          </a:p>
        </p:txBody>
      </p:sp>
      <p:sp>
        <p:nvSpPr>
          <p:cNvPr id="5" name="TextBox 4"/>
          <p:cNvSpPr txBox="1"/>
          <p:nvPr/>
        </p:nvSpPr>
        <p:spPr>
          <a:xfrm>
            <a:off x="731520" y="4846320"/>
            <a:ext cx="9144000" cy="365760"/>
          </a:xfrm>
          <a:prstGeom prst="rect">
            <a:avLst/>
          </a:prstGeom>
          <a:noFill/>
        </p:spPr>
        <p:txBody>
          <a:bodyPr wrap="square" lIns="0" tIns="0" rIns="0" bIns="0" anchor="t">
            <a:spAutoFit/>
          </a:bodyPr>
          <a:lstStyle/>
          <a:p>
            <a:pPr algn="l">
              <a:lnSpc>
                <a:spcPct val="100000"/>
              </a:lnSpc>
              <a:spcAft>
                <a:spcPts val="0"/>
              </a:spcAft>
            </a:pPr>
            <a:r>
              <a:rPr sz="1100" b="0" i="0">
                <a:solidFill>
                  <a:srgbClr val="9AA4DE"/>
                </a:solidFill>
                <a:latin typeface="Segoe UI"/>
              </a:rPr>
              <a:t>Academia La Prepa Cermat · Azángaro, Perú · 9° ciclo · Perfil de Egreso 2026</a:t>
            </a:r>
          </a:p>
        </p:txBody>
      </p:sp>
      <p:sp>
        <p:nvSpPr>
          <p:cNvPr id="6" name="TextBox 5"/>
          <p:cNvSpPr txBox="1"/>
          <p:nvPr/>
        </p:nvSpPr>
        <p:spPr>
          <a:xfrm>
            <a:off x="731520" y="5577840"/>
            <a:ext cx="7315200" cy="365760"/>
          </a:xfrm>
          <a:prstGeom prst="rect">
            <a:avLst/>
          </a:prstGeom>
          <a:noFill/>
        </p:spPr>
        <p:txBody>
          <a:bodyPr wrap="square" lIns="0" tIns="0" rIns="0" bIns="0" anchor="t">
            <a:spAutoFit/>
          </a:bodyPr>
          <a:lstStyle/>
          <a:p>
            <a:pPr algn="l">
              <a:lnSpc>
                <a:spcPct val="100000"/>
              </a:lnSpc>
              <a:spcAft>
                <a:spcPts val="0"/>
              </a:spcAft>
            </a:pPr>
            <a:r>
              <a:rPr sz="1500" b="1" i="0">
                <a:solidFill>
                  <a:srgbClr val="FFFFFF"/>
                </a:solidFill>
                <a:latin typeface="Segoe UI"/>
              </a:rPr>
              <a:t>Gracias. Quedamos atentos a sus 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2499</Words>
  <Application>Microsoft Office PowerPoint</Application>
  <PresentationFormat>Panorámica</PresentationFormat>
  <Paragraphs>352</Paragraphs>
  <Slides>23</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Calibri</vt:lpstr>
      <vt:lpstr>Georgia</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yucra mamani</cp:lastModifiedBy>
  <cp:revision>2</cp:revision>
  <dcterms:created xsi:type="dcterms:W3CDTF">2013-01-27T09:14:16Z</dcterms:created>
  <dcterms:modified xsi:type="dcterms:W3CDTF">2026-07-07T04:19:41Z</dcterms:modified>
  <cp:category/>
</cp:coreProperties>
</file>