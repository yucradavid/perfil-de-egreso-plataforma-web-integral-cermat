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858000" cy="9144000"/>
  <p:embeddedFontLst>
    <p:embeddedFont>
      <p:font typeface="Quattrocento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4" roundtripDataSignature="AMtx7mgtwKaFxfa1KCo9vjdNfeu/9K29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3AA868-564C-44F6-85B7-51580B655D98}">
  <a:tblStyle styleId="{3B3AA868-564C-44F6-85B7-51580B655D9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QuattrocentoSans-bold.fntdata"/><Relationship Id="rId30" Type="http://schemas.openxmlformats.org/officeDocument/2006/relationships/font" Target="fonts/QuattrocentoSans-regular.fntdata"/><Relationship Id="rId11" Type="http://schemas.openxmlformats.org/officeDocument/2006/relationships/slide" Target="slides/slide5.xml"/><Relationship Id="rId33" Type="http://schemas.openxmlformats.org/officeDocument/2006/relationships/font" Target="fonts/QuattrocentoSans-boldItalic.fntdata"/><Relationship Id="rId10" Type="http://schemas.openxmlformats.org/officeDocument/2006/relationships/slide" Target="slides/slide4.xml"/><Relationship Id="rId32" Type="http://schemas.openxmlformats.org/officeDocument/2006/relationships/font" Target="fonts/QuattrocentoSans-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7c2375738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7c237573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(Presenta: David Robert Yucra Mamani) "Buenas tardes. Vamos a sustentar la línea CE01 de nuestro perfil de egreso: cuatro entregables que explican por qué se construyó la Plataforma CERMAT, no solo cómo. Tenemos 15 minutos, así que vamos directo al punto."</a:t>
            </a:r>
            <a:endParaRPr/>
          </a:p>
        </p:txBody>
      </p:sp>
      <p:sp>
        <p:nvSpPr>
          <p:cNvPr id="88" name="Google Shape;88;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(Presenta: David Robert Yucra Mamani) "El orden es siempre el mismo: primero por qué era necesario el proyecto, después por qué esta solución y no otra, cómo se organizó, y qué cambió en la práctica. Cada uno de nosotros expone un entregable."</a:t>
            </a:r>
            <a:endParaRPr/>
          </a:p>
        </p:txBody>
      </p:sp>
      <p:sp>
        <p:nvSpPr>
          <p:cNvPr id="107" name="Google Shape;10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"Antes de hablar del sistema, hay que entender la academia: es un negocio donde los padres eligen según qué tan organizada se ve la institución. Por eso el seguimiento del alumno no es un detalle técnico, es el argumento de venta de CERMAT."</a:t>
            </a:r>
            <a:endParaRPr/>
          </a:p>
        </p:txBody>
      </p:sp>
      <p:sp>
        <p:nvSpPr>
          <p:cNvPr id="154" name="Google Shape;15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"Hicimos este FODA sobre la academia, no sobre el sistema. Las dos fortalezas que mencionamos — portales por rol y QR — ya existen, no son promesas. Y las amenazas, como la protección de datos de menores, las resolvemos en la línea de infraestructura."</a:t>
            </a:r>
            <a:endParaRPr/>
          </a:p>
        </p:txBody>
      </p:sp>
      <p:sp>
        <p:nvSpPr>
          <p:cNvPr id="198" name="Google Shape;19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"El nivel de madurez digital era medio-alto para el sector — ya hay una plataforma en producción — pero antes de ella, CERMAT operaba exactamente como el resto de academias de la zona: cuadernos, Excel y mensajería informal."</a:t>
            </a:r>
            <a:endParaRPr/>
          </a:p>
        </p:txBody>
      </p:sp>
      <p:sp>
        <p:nvSpPr>
          <p:cNvPr id="224" name="Google Shape;224;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"Esta frase es el punto de partida de todo el perfil de egreso: el Business Case la retoma para justificar la inversión, y la línea de Ingeniería de Software la resuelve técnicamente."</a:t>
            </a:r>
            <a:endParaRPr/>
          </a:p>
        </p:txBody>
      </p:sp>
      <p:sp>
        <p:nvSpPr>
          <p:cNvPr id="241" name="Google Shape;241;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"No son objetivos a futuro: los tres ya están en producción. Eso es lo que hace que este business case sea distinto — no estamos proyectando, estamos evaluando algo que ya funciona."</a:t>
            </a:r>
            <a:endParaRPr/>
          </a:p>
        </p:txBody>
      </p:sp>
      <p:sp>
        <p:nvSpPr>
          <p:cNvPr id="272" name="Google Shape;27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"La diferencia no está en el costo — el SaaS incluso pesa parecido en costo aparente. Está en el ajuste al flujo real: sedes, ciclos, turnos y grupos de CERMAT no son genéricos, y una plataforma propia es la única opción que se adapta al 100% y deja los datos en manos de la institución."</a:t>
            </a:r>
            <a:endParaRPr/>
          </a:p>
        </p:txBody>
      </p:sp>
      <p:sp>
        <p:nvSpPr>
          <p:cNvPr id="297" name="Google Shape;297;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"Aclaramos siempre que estas cifras son estimadas para fines de sustentación, no reemplazan la contabilidad formal de la institución — eso es parte de la honestidad técnica de todo este perfil de egreso."</a:t>
            </a:r>
            <a:endParaRPr/>
          </a:p>
        </p:txBody>
      </p:sp>
      <p:sp>
        <p:nvSpPr>
          <p:cNvPr id="308" name="Google Shape;308;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"El riesgo más real es el primero: somos un equipo pequeño. Por eso insistimos tanto en documentar todo — este perfil de egreso es, literalmente, la mitigación de ese riesgo."</a:t>
            </a:r>
            <a:endParaRPr/>
          </a:p>
        </p:txBody>
      </p:sp>
      <p:sp>
        <p:nvSpPr>
          <p:cNvPr id="330" name="Google Shape;33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"Marcamos con claridad qué NO incluye esta fase — pasarela de pagos automática y app móvil nativa — para que el jurado vea que el alcance fue una decisión consciente, no un olvido."</a:t>
            </a:r>
            <a:endParaRPr/>
          </a:p>
        </p:txBody>
      </p:sp>
      <p:sp>
        <p:nvSpPr>
          <p:cNvPr id="354" name="Google Shape;35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"Cada rama de esta EDT no es teórica: corresponde uno a uno con una carpeta features/ real del repositorio, con su propio esquema de datos y sus propias pantallas."</a:t>
            </a:r>
            <a:endParaRPr/>
          </a:p>
        </p:txBody>
      </p:sp>
      <p:sp>
        <p:nvSpPr>
          <p:cNvPr id="377" name="Google Shape;377;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"Más de 90 documentos de fase y auditoría respaldan este cronograma — no es una promesa retroactiva, es historial real verificable por control de versiones."</a:t>
            </a:r>
            <a:endParaRPr/>
          </a:p>
        </p:txBody>
      </p:sp>
      <p:sp>
        <p:nvSpPr>
          <p:cNvPr id="408" name="Google Shape;408;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"Decidimos ser honestos: no forzamos una notación Scrum que no usamos de verdad. Nuestro backlog priorizado por dominio funciona igual, solo que con otro nombre — fases, no sprints."</a:t>
            </a:r>
            <a:endParaRPr/>
          </a:p>
        </p:txBody>
      </p:sp>
      <p:sp>
        <p:nvSpPr>
          <p:cNvPr id="419" name="Google Shape;419;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"Antes, confirmar una matrícula tomaba de un día a varios días, y el padre no recibía ninguna confirmación formal — todo dependía de una llamada o de la memoria de secretaría."</a:t>
            </a:r>
            <a:endParaRPr/>
          </a:p>
        </p:txBody>
      </p:sp>
      <p:sp>
        <p:nvSpPr>
          <p:cNvPr id="449" name="Google Shape;449;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"Esto no es diagrama de intención: está implementado en features/enrollments del repositorio, con auditoría propia documentando la deduplicación."</a:t>
            </a:r>
            <a:endParaRPr/>
          </a:p>
        </p:txBody>
      </p:sp>
      <p:sp>
        <p:nvSpPr>
          <p:cNvPr id="486" name="Google Shape;486;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"Este cuadro es el cierre de la línea CE01: el diagnóstico identificó el problema, el business case lo justificó económicamente, el plan lo organizó, y este modelado prueba, dimensión por dimensión, que el proceso realmente mejoró."</a:t>
            </a:r>
            <a:endParaRPr/>
          </a:p>
        </p:txBody>
      </p:sp>
      <p:sp>
        <p:nvSpPr>
          <p:cNvPr id="523" name="Google Shape;523;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(Presenta: David Robert Yucra Mamani) "Con esto cerramos la línea CE01. Quedamos atentos a sus preguntas."</a:t>
            </a:r>
            <a:endParaRPr/>
          </a:p>
        </p:txBody>
      </p:sp>
      <p:sp>
        <p:nvSpPr>
          <p:cNvPr id="542" name="Google Shape;542;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3"/>
          <p:cNvSpPr/>
          <p:nvPr>
            <p:ph idx="2" type="pic"/>
          </p:nvPr>
        </p:nvSpPr>
        <p:spPr>
          <a:xfrm>
            <a:off x="1792288" y="612775"/>
            <a:ext cx="5486400" cy="4114800"/>
          </a:xfrm>
          <a:prstGeom prst="rect">
            <a:avLst/>
          </a:prstGeom>
          <a:noFill/>
          <a:ln>
            <a:noFill/>
          </a:ln>
        </p:spPr>
      </p:sp>
      <p:sp>
        <p:nvSpPr>
          <p:cNvPr id="64" name="Google Shape;6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yucradavid.github.io/Perfil-de-egreso-Plataforma-Web-Integral-CERMA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g3f7c2375738_1_0"/>
          <p:cNvPicPr preferRelativeResize="0"/>
          <p:nvPr/>
        </p:nvPicPr>
        <p:blipFill>
          <a:blip r:embed="rId3">
            <a:alphaModFix/>
          </a:blip>
          <a:stretch>
            <a:fillRect/>
          </a:stretch>
        </p:blipFill>
        <p:spPr>
          <a:xfrm>
            <a:off x="0" y="0"/>
            <a:ext cx="12191992"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89" name="Shape 89"/>
        <p:cNvGrpSpPr/>
        <p:nvPr/>
      </p:nvGrpSpPr>
      <p:grpSpPr>
        <a:xfrm>
          <a:off x="0" y="0"/>
          <a:ext cx="0" cy="0"/>
          <a:chOff x="0" y="0"/>
          <a:chExt cx="0" cy="0"/>
        </a:xfrm>
      </p:grpSpPr>
      <p:sp>
        <p:nvSpPr>
          <p:cNvPr id="90" name="Google Shape;90;p2"/>
          <p:cNvSpPr txBox="1"/>
          <p:nvPr/>
        </p:nvSpPr>
        <p:spPr>
          <a:xfrm>
            <a:off x="731520" y="822960"/>
            <a:ext cx="91440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SUSTENTACIÓN · LÍNEA CE01 — GESTIÓN DE TECNOLOGÍAS DE INFORMACIÓN</a:t>
            </a:r>
            <a:endParaRPr/>
          </a:p>
        </p:txBody>
      </p:sp>
      <p:sp>
        <p:nvSpPr>
          <p:cNvPr id="91" name="Google Shape;91;p2"/>
          <p:cNvSpPr txBox="1"/>
          <p:nvPr/>
        </p:nvSpPr>
        <p:spPr>
          <a:xfrm>
            <a:off x="731520" y="1371600"/>
            <a:ext cx="10515600" cy="20116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3800" u="none" cap="none" strike="noStrike">
                <a:solidFill>
                  <a:srgbClr val="FFFFFF"/>
                </a:solidFill>
                <a:latin typeface="Quattrocento Sans"/>
                <a:ea typeface="Quattrocento Sans"/>
                <a:cs typeface="Quattrocento Sans"/>
                <a:sym typeface="Quattrocento Sans"/>
              </a:rPr>
              <a:t>Diagnóstico, Business Case,</a:t>
            </a:r>
            <a:endParaRPr/>
          </a:p>
          <a:p>
            <a:pPr indent="0" lvl="0" marL="0" marR="0" rtl="0" algn="l">
              <a:lnSpc>
                <a:spcPct val="105000"/>
              </a:lnSpc>
              <a:spcBef>
                <a:spcPts val="0"/>
              </a:spcBef>
              <a:spcAft>
                <a:spcPts val="0"/>
              </a:spcAft>
              <a:buNone/>
            </a:pPr>
            <a:r>
              <a:rPr b="0" i="0" lang="en-US" sz="3800" u="none" cap="none" strike="noStrike">
                <a:solidFill>
                  <a:srgbClr val="FFFFFF"/>
                </a:solidFill>
                <a:latin typeface="Quattrocento Sans"/>
                <a:ea typeface="Quattrocento Sans"/>
                <a:cs typeface="Quattrocento Sans"/>
                <a:sym typeface="Quattrocento Sans"/>
              </a:rPr>
              <a:t>Plan de Gestión y Modelado de Procesos</a:t>
            </a:r>
            <a:endParaRPr/>
          </a:p>
        </p:txBody>
      </p:sp>
      <p:sp>
        <p:nvSpPr>
          <p:cNvPr id="92" name="Google Shape;92;p2"/>
          <p:cNvSpPr txBox="1"/>
          <p:nvPr/>
        </p:nvSpPr>
        <p:spPr>
          <a:xfrm>
            <a:off x="731520" y="3246120"/>
            <a:ext cx="86868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9AA4DE"/>
                </a:solidFill>
                <a:latin typeface="Quattrocento Sans"/>
                <a:ea typeface="Quattrocento Sans"/>
                <a:cs typeface="Quattrocento Sans"/>
                <a:sym typeface="Quattrocento Sans"/>
              </a:rPr>
              <a:t>Plataforma Web Integral de Gestión Académica CERMAT — un sistema en producción, no un prototipo.</a:t>
            </a:r>
            <a:endParaRPr/>
          </a:p>
        </p:txBody>
      </p:sp>
      <p:sp>
        <p:nvSpPr>
          <p:cNvPr id="93" name="Google Shape;93;p2"/>
          <p:cNvSpPr/>
          <p:nvPr/>
        </p:nvSpPr>
        <p:spPr>
          <a:xfrm>
            <a:off x="731520" y="3977639"/>
            <a:ext cx="10515600" cy="12700"/>
          </a:xfrm>
          <a:prstGeom prst="rect">
            <a:avLst/>
          </a:prstGeom>
          <a:solidFill>
            <a:srgbClr val="333C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2"/>
          <p:cNvSpPr txBox="1"/>
          <p:nvPr/>
        </p:nvSpPr>
        <p:spPr>
          <a:xfrm>
            <a:off x="731520" y="4206240"/>
            <a:ext cx="2423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LÍDER</a:t>
            </a:r>
            <a:endParaRPr/>
          </a:p>
        </p:txBody>
      </p:sp>
      <p:sp>
        <p:nvSpPr>
          <p:cNvPr id="95" name="Google Shape;95;p2"/>
          <p:cNvSpPr txBox="1"/>
          <p:nvPr/>
        </p:nvSpPr>
        <p:spPr>
          <a:xfrm>
            <a:off x="731520" y="4498848"/>
            <a:ext cx="24231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FFFFFF"/>
                </a:solidFill>
                <a:latin typeface="Quattrocento Sans"/>
                <a:ea typeface="Quattrocento Sans"/>
                <a:cs typeface="Quattrocento Sans"/>
                <a:sym typeface="Quattrocento Sans"/>
              </a:rPr>
              <a:t>David Robert Yucra Mamani</a:t>
            </a:r>
            <a:endParaRPr/>
          </a:p>
        </p:txBody>
      </p:sp>
      <p:sp>
        <p:nvSpPr>
          <p:cNvPr id="96" name="Google Shape;96;p2"/>
          <p:cNvSpPr txBox="1"/>
          <p:nvPr/>
        </p:nvSpPr>
        <p:spPr>
          <a:xfrm>
            <a:off x="3337560" y="4206240"/>
            <a:ext cx="2423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INTEGRANTE</a:t>
            </a:r>
            <a:endParaRPr/>
          </a:p>
        </p:txBody>
      </p:sp>
      <p:sp>
        <p:nvSpPr>
          <p:cNvPr id="97" name="Google Shape;97;p2"/>
          <p:cNvSpPr txBox="1"/>
          <p:nvPr/>
        </p:nvSpPr>
        <p:spPr>
          <a:xfrm>
            <a:off x="3337560" y="4498848"/>
            <a:ext cx="24231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FFFFFF"/>
                </a:solidFill>
                <a:latin typeface="Quattrocento Sans"/>
                <a:ea typeface="Quattrocento Sans"/>
                <a:cs typeface="Quattrocento Sans"/>
                <a:sym typeface="Quattrocento Sans"/>
              </a:rPr>
              <a:t>Gladys Rosaura Yana Pari</a:t>
            </a:r>
            <a:endParaRPr/>
          </a:p>
        </p:txBody>
      </p:sp>
      <p:sp>
        <p:nvSpPr>
          <p:cNvPr id="98" name="Google Shape;98;p2"/>
          <p:cNvSpPr txBox="1"/>
          <p:nvPr/>
        </p:nvSpPr>
        <p:spPr>
          <a:xfrm>
            <a:off x="5943600" y="4206240"/>
            <a:ext cx="2423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INTEGRANTE</a:t>
            </a:r>
            <a:endParaRPr/>
          </a:p>
        </p:txBody>
      </p:sp>
      <p:sp>
        <p:nvSpPr>
          <p:cNvPr id="99" name="Google Shape;99;p2"/>
          <p:cNvSpPr txBox="1"/>
          <p:nvPr/>
        </p:nvSpPr>
        <p:spPr>
          <a:xfrm>
            <a:off x="5943600" y="4498848"/>
            <a:ext cx="24231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FFFFFF"/>
                </a:solidFill>
                <a:latin typeface="Quattrocento Sans"/>
                <a:ea typeface="Quattrocento Sans"/>
                <a:cs typeface="Quattrocento Sans"/>
                <a:sym typeface="Quattrocento Sans"/>
              </a:rPr>
              <a:t>Denilson Leeke Mamani Flores</a:t>
            </a:r>
            <a:endParaRPr/>
          </a:p>
        </p:txBody>
      </p:sp>
      <p:sp>
        <p:nvSpPr>
          <p:cNvPr id="100" name="Google Shape;100;p2"/>
          <p:cNvSpPr txBox="1"/>
          <p:nvPr/>
        </p:nvSpPr>
        <p:spPr>
          <a:xfrm>
            <a:off x="8549640" y="4206240"/>
            <a:ext cx="24231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INTEGRANTE</a:t>
            </a:r>
            <a:endParaRPr/>
          </a:p>
        </p:txBody>
      </p:sp>
      <p:sp>
        <p:nvSpPr>
          <p:cNvPr id="101" name="Google Shape;101;p2"/>
          <p:cNvSpPr txBox="1"/>
          <p:nvPr/>
        </p:nvSpPr>
        <p:spPr>
          <a:xfrm>
            <a:off x="8549640" y="4498848"/>
            <a:ext cx="24231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FFFFFF"/>
                </a:solidFill>
                <a:latin typeface="Quattrocento Sans"/>
                <a:ea typeface="Quattrocento Sans"/>
                <a:cs typeface="Quattrocento Sans"/>
                <a:sym typeface="Quattrocento Sans"/>
              </a:rPr>
              <a:t>Cárdenas Vilca Rennzo</a:t>
            </a:r>
            <a:endParaRPr/>
          </a:p>
        </p:txBody>
      </p:sp>
      <p:sp>
        <p:nvSpPr>
          <p:cNvPr id="102" name="Google Shape;102;p2"/>
          <p:cNvSpPr txBox="1"/>
          <p:nvPr/>
        </p:nvSpPr>
        <p:spPr>
          <a:xfrm>
            <a:off x="731520" y="5349240"/>
            <a:ext cx="100584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9AA4DE"/>
                </a:solidFill>
                <a:latin typeface="Quattrocento Sans"/>
                <a:ea typeface="Quattrocento Sans"/>
                <a:cs typeface="Quattrocento Sans"/>
                <a:sym typeface="Quattrocento Sans"/>
              </a:rPr>
              <a:t>Academia La Prepa Cermat · Azángaro, Perú      9° ciclo      Perfil de Egreso (EPE) 2026</a:t>
            </a:r>
            <a:endParaRPr/>
          </a:p>
        </p:txBody>
      </p:sp>
      <p:sp>
        <p:nvSpPr>
          <p:cNvPr id="103" name="Google Shape;103;p2"/>
          <p:cNvSpPr txBox="1"/>
          <p:nvPr/>
        </p:nvSpPr>
        <p:spPr>
          <a:xfrm>
            <a:off x="731520" y="5852160"/>
            <a:ext cx="100584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AAB6FF"/>
                </a:solidFill>
                <a:latin typeface="Quattrocento Sans"/>
                <a:ea typeface="Quattrocento Sans"/>
                <a:cs typeface="Quattrocento Sans"/>
                <a:sym typeface="Quattrocento Sans"/>
              </a:rPr>
              <a:t>Duración objetivo: 15 minutos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08" name="Shape 108"/>
        <p:cNvGrpSpPr/>
        <p:nvPr/>
      </p:nvGrpSpPr>
      <p:grpSpPr>
        <a:xfrm>
          <a:off x="0" y="0"/>
          <a:ext cx="0" cy="0"/>
          <a:chOff x="0" y="0"/>
          <a:chExt cx="0" cy="0"/>
        </a:xfrm>
      </p:grpSpPr>
      <p:sp>
        <p:nvSpPr>
          <p:cNvPr id="109" name="Google Shape;109;p3"/>
          <p:cNvSpPr txBox="1"/>
          <p:nvPr/>
        </p:nvSpPr>
        <p:spPr>
          <a:xfrm>
            <a:off x="731520" y="640080"/>
            <a:ext cx="7315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AGENDA · 15 MINUTOS</a:t>
            </a:r>
            <a:endParaRPr/>
          </a:p>
        </p:txBody>
      </p:sp>
      <p:sp>
        <p:nvSpPr>
          <p:cNvPr id="110" name="Google Shape;110;p3"/>
          <p:cNvSpPr txBox="1"/>
          <p:nvPr/>
        </p:nvSpPr>
        <p:spPr>
          <a:xfrm>
            <a:off x="731520" y="1005840"/>
            <a:ext cx="960120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600" u="none" cap="none" strike="noStrike">
                <a:solidFill>
                  <a:srgbClr val="1B2559"/>
                </a:solidFill>
                <a:latin typeface="Quattrocento Sans"/>
                <a:ea typeface="Quattrocento Sans"/>
                <a:cs typeface="Quattrocento Sans"/>
                <a:sym typeface="Quattrocento Sans"/>
              </a:rPr>
              <a:t>Cuatro entregables, un mismo hilo: del diagnóstico a la ejecución</a:t>
            </a:r>
            <a:endParaRPr/>
          </a:p>
        </p:txBody>
      </p:sp>
      <p:sp>
        <p:nvSpPr>
          <p:cNvPr id="111" name="Google Shape;111;p3"/>
          <p:cNvSpPr/>
          <p:nvPr/>
        </p:nvSpPr>
        <p:spPr>
          <a:xfrm>
            <a:off x="731520" y="2011680"/>
            <a:ext cx="10698480" cy="12700"/>
          </a:xfrm>
          <a:prstGeom prst="rect">
            <a:avLst/>
          </a:prstGeom>
          <a:solidFill>
            <a:srgbClr val="D8DC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 name="Google Shape;112;p3"/>
          <p:cNvSpPr/>
          <p:nvPr/>
        </p:nvSpPr>
        <p:spPr>
          <a:xfrm>
            <a:off x="731520" y="2834640"/>
            <a:ext cx="10698480" cy="12700"/>
          </a:xfrm>
          <a:prstGeom prst="rect">
            <a:avLst/>
          </a:prstGeom>
          <a:solidFill>
            <a:srgbClr val="D8DC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3" name="Google Shape;113;p3"/>
          <p:cNvSpPr txBox="1"/>
          <p:nvPr/>
        </p:nvSpPr>
        <p:spPr>
          <a:xfrm>
            <a:off x="731520" y="2057400"/>
            <a:ext cx="8229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3B5BDB"/>
                </a:solidFill>
                <a:latin typeface="Quattrocento Sans"/>
                <a:ea typeface="Quattrocento Sans"/>
                <a:cs typeface="Quattrocento Sans"/>
                <a:sym typeface="Quattrocento Sans"/>
              </a:rPr>
              <a:t>E1</a:t>
            </a:r>
            <a:endParaRPr/>
          </a:p>
        </p:txBody>
      </p:sp>
      <p:sp>
        <p:nvSpPr>
          <p:cNvPr id="114" name="Google Shape;114;p3"/>
          <p:cNvSpPr txBox="1"/>
          <p:nvPr/>
        </p:nvSpPr>
        <p:spPr>
          <a:xfrm>
            <a:off x="1691640" y="2057400"/>
            <a:ext cx="60350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50" u="none" cap="none" strike="noStrike">
                <a:solidFill>
                  <a:srgbClr val="1B2559"/>
                </a:solidFill>
                <a:latin typeface="Quattrocento Sans"/>
                <a:ea typeface="Quattrocento Sans"/>
                <a:cs typeface="Quattrocento Sans"/>
                <a:sym typeface="Quattrocento Sans"/>
              </a:rPr>
              <a:t>Diagnóstico Organizacional y Alineamiento Estratégico</a:t>
            </a:r>
            <a:endParaRPr/>
          </a:p>
        </p:txBody>
      </p:sp>
      <p:sp>
        <p:nvSpPr>
          <p:cNvPr id="115" name="Google Shape;115;p3"/>
          <p:cNvSpPr txBox="1"/>
          <p:nvPr/>
        </p:nvSpPr>
        <p:spPr>
          <a:xfrm>
            <a:off x="1691640" y="2441448"/>
            <a:ext cx="60350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CE0111–CE0115</a:t>
            </a:r>
            <a:endParaRPr/>
          </a:p>
        </p:txBody>
      </p:sp>
      <p:sp>
        <p:nvSpPr>
          <p:cNvPr id="116" name="Google Shape;116;p3"/>
          <p:cNvSpPr txBox="1"/>
          <p:nvPr/>
        </p:nvSpPr>
        <p:spPr>
          <a:xfrm>
            <a:off x="7909560" y="2148840"/>
            <a:ext cx="2377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454F78"/>
                </a:solidFill>
                <a:latin typeface="Quattrocento Sans"/>
                <a:ea typeface="Quattrocento Sans"/>
                <a:cs typeface="Quattrocento Sans"/>
                <a:sym typeface="Quattrocento Sans"/>
              </a:rPr>
              <a:t>Expone: David Robert Yucra Mamani</a:t>
            </a:r>
            <a:endParaRPr/>
          </a:p>
        </p:txBody>
      </p:sp>
      <p:sp>
        <p:nvSpPr>
          <p:cNvPr id="117" name="Google Shape;117;p3"/>
          <p:cNvSpPr txBox="1"/>
          <p:nvPr/>
        </p:nvSpPr>
        <p:spPr>
          <a:xfrm>
            <a:off x="10378440" y="2148840"/>
            <a:ext cx="10059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
        <p:nvSpPr>
          <p:cNvPr id="118" name="Google Shape;118;p3"/>
          <p:cNvSpPr/>
          <p:nvPr/>
        </p:nvSpPr>
        <p:spPr>
          <a:xfrm>
            <a:off x="731520" y="3703320"/>
            <a:ext cx="10698480" cy="12700"/>
          </a:xfrm>
          <a:prstGeom prst="rect">
            <a:avLst/>
          </a:prstGeom>
          <a:solidFill>
            <a:srgbClr val="D8DC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3"/>
          <p:cNvSpPr txBox="1"/>
          <p:nvPr/>
        </p:nvSpPr>
        <p:spPr>
          <a:xfrm>
            <a:off x="731520" y="2926080"/>
            <a:ext cx="8229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3B5BDB"/>
                </a:solidFill>
                <a:latin typeface="Quattrocento Sans"/>
                <a:ea typeface="Quattrocento Sans"/>
                <a:cs typeface="Quattrocento Sans"/>
                <a:sym typeface="Quattrocento Sans"/>
              </a:rPr>
              <a:t>E2</a:t>
            </a:r>
            <a:endParaRPr/>
          </a:p>
        </p:txBody>
      </p:sp>
      <p:sp>
        <p:nvSpPr>
          <p:cNvPr id="120" name="Google Shape;120;p3"/>
          <p:cNvSpPr txBox="1"/>
          <p:nvPr/>
        </p:nvSpPr>
        <p:spPr>
          <a:xfrm>
            <a:off x="1691640" y="2926080"/>
            <a:ext cx="60350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50" u="none" cap="none" strike="noStrike">
                <a:solidFill>
                  <a:srgbClr val="1B2559"/>
                </a:solidFill>
                <a:latin typeface="Quattrocento Sans"/>
                <a:ea typeface="Quattrocento Sans"/>
                <a:cs typeface="Quattrocento Sans"/>
                <a:sym typeface="Quattrocento Sans"/>
              </a:rPr>
              <a:t>Business Case del Proyecto</a:t>
            </a:r>
            <a:endParaRPr/>
          </a:p>
        </p:txBody>
      </p:sp>
      <p:sp>
        <p:nvSpPr>
          <p:cNvPr id="121" name="Google Shape;121;p3"/>
          <p:cNvSpPr txBox="1"/>
          <p:nvPr/>
        </p:nvSpPr>
        <p:spPr>
          <a:xfrm>
            <a:off x="1691640" y="3310128"/>
            <a:ext cx="60350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CE0113</a:t>
            </a:r>
            <a:endParaRPr/>
          </a:p>
        </p:txBody>
      </p:sp>
      <p:sp>
        <p:nvSpPr>
          <p:cNvPr id="122" name="Google Shape;122;p3"/>
          <p:cNvSpPr txBox="1"/>
          <p:nvPr/>
        </p:nvSpPr>
        <p:spPr>
          <a:xfrm>
            <a:off x="7909560" y="3017520"/>
            <a:ext cx="2377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454F78"/>
                </a:solidFill>
                <a:latin typeface="Quattrocento Sans"/>
                <a:ea typeface="Quattrocento Sans"/>
                <a:cs typeface="Quattrocento Sans"/>
                <a:sym typeface="Quattrocento Sans"/>
              </a:rPr>
              <a:t>Expone: Denilson Leeke Mamani Flores</a:t>
            </a:r>
            <a:endParaRPr/>
          </a:p>
        </p:txBody>
      </p:sp>
      <p:sp>
        <p:nvSpPr>
          <p:cNvPr id="123" name="Google Shape;123;p3"/>
          <p:cNvSpPr txBox="1"/>
          <p:nvPr/>
        </p:nvSpPr>
        <p:spPr>
          <a:xfrm>
            <a:off x="10378440" y="3017520"/>
            <a:ext cx="10059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
        <p:nvSpPr>
          <p:cNvPr id="124" name="Google Shape;124;p3"/>
          <p:cNvSpPr/>
          <p:nvPr/>
        </p:nvSpPr>
        <p:spPr>
          <a:xfrm>
            <a:off x="731520" y="4572000"/>
            <a:ext cx="10698480" cy="12700"/>
          </a:xfrm>
          <a:prstGeom prst="rect">
            <a:avLst/>
          </a:prstGeom>
          <a:solidFill>
            <a:srgbClr val="D8DC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5" name="Google Shape;125;p3"/>
          <p:cNvSpPr txBox="1"/>
          <p:nvPr/>
        </p:nvSpPr>
        <p:spPr>
          <a:xfrm>
            <a:off x="731520" y="3794760"/>
            <a:ext cx="8229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3B5BDB"/>
                </a:solidFill>
                <a:latin typeface="Quattrocento Sans"/>
                <a:ea typeface="Quattrocento Sans"/>
                <a:cs typeface="Quattrocento Sans"/>
                <a:sym typeface="Quattrocento Sans"/>
              </a:rPr>
              <a:t>E3</a:t>
            </a:r>
            <a:endParaRPr/>
          </a:p>
        </p:txBody>
      </p:sp>
      <p:sp>
        <p:nvSpPr>
          <p:cNvPr id="126" name="Google Shape;126;p3"/>
          <p:cNvSpPr txBox="1"/>
          <p:nvPr/>
        </p:nvSpPr>
        <p:spPr>
          <a:xfrm>
            <a:off x="1691640" y="3794760"/>
            <a:ext cx="60350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50" u="none" cap="none" strike="noStrike">
                <a:solidFill>
                  <a:srgbClr val="1B2559"/>
                </a:solidFill>
                <a:latin typeface="Quattrocento Sans"/>
                <a:ea typeface="Quattrocento Sans"/>
                <a:cs typeface="Quattrocento Sans"/>
                <a:sym typeface="Quattrocento Sans"/>
              </a:rPr>
              <a:t>Plan de Gestión del Proyecto</a:t>
            </a:r>
            <a:endParaRPr/>
          </a:p>
        </p:txBody>
      </p:sp>
      <p:sp>
        <p:nvSpPr>
          <p:cNvPr id="127" name="Google Shape;127;p3"/>
          <p:cNvSpPr txBox="1"/>
          <p:nvPr/>
        </p:nvSpPr>
        <p:spPr>
          <a:xfrm>
            <a:off x="1691640" y="4178808"/>
            <a:ext cx="60350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CE0121–CE0125</a:t>
            </a:r>
            <a:endParaRPr/>
          </a:p>
        </p:txBody>
      </p:sp>
      <p:sp>
        <p:nvSpPr>
          <p:cNvPr id="128" name="Google Shape;128;p3"/>
          <p:cNvSpPr txBox="1"/>
          <p:nvPr/>
        </p:nvSpPr>
        <p:spPr>
          <a:xfrm>
            <a:off x="7909560" y="3886200"/>
            <a:ext cx="2377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454F78"/>
                </a:solidFill>
                <a:latin typeface="Quattrocento Sans"/>
                <a:ea typeface="Quattrocento Sans"/>
                <a:cs typeface="Quattrocento Sans"/>
                <a:sym typeface="Quattrocento Sans"/>
              </a:rPr>
              <a:t>Expone: Cárdenas Vilca Rennzo</a:t>
            </a:r>
            <a:endParaRPr/>
          </a:p>
        </p:txBody>
      </p:sp>
      <p:sp>
        <p:nvSpPr>
          <p:cNvPr id="129" name="Google Shape;129;p3"/>
          <p:cNvSpPr txBox="1"/>
          <p:nvPr/>
        </p:nvSpPr>
        <p:spPr>
          <a:xfrm>
            <a:off x="10378440" y="3886200"/>
            <a:ext cx="10059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
        <p:nvSpPr>
          <p:cNvPr id="130" name="Google Shape;130;p3"/>
          <p:cNvSpPr/>
          <p:nvPr/>
        </p:nvSpPr>
        <p:spPr>
          <a:xfrm>
            <a:off x="731520" y="5440680"/>
            <a:ext cx="10698480" cy="12700"/>
          </a:xfrm>
          <a:prstGeom prst="rect">
            <a:avLst/>
          </a:prstGeom>
          <a:solidFill>
            <a:srgbClr val="D8DC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1" name="Google Shape;131;p3"/>
          <p:cNvSpPr txBox="1"/>
          <p:nvPr/>
        </p:nvSpPr>
        <p:spPr>
          <a:xfrm>
            <a:off x="731520" y="4663440"/>
            <a:ext cx="8229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3B5BDB"/>
                </a:solidFill>
                <a:latin typeface="Quattrocento Sans"/>
                <a:ea typeface="Quattrocento Sans"/>
                <a:cs typeface="Quattrocento Sans"/>
                <a:sym typeface="Quattrocento Sans"/>
              </a:rPr>
              <a:t>E4</a:t>
            </a:r>
            <a:endParaRPr/>
          </a:p>
        </p:txBody>
      </p:sp>
      <p:sp>
        <p:nvSpPr>
          <p:cNvPr id="132" name="Google Shape;132;p3"/>
          <p:cNvSpPr txBox="1"/>
          <p:nvPr/>
        </p:nvSpPr>
        <p:spPr>
          <a:xfrm>
            <a:off x="1691640" y="4663440"/>
            <a:ext cx="60350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50" u="none" cap="none" strike="noStrike">
                <a:solidFill>
                  <a:srgbClr val="1B2559"/>
                </a:solidFill>
                <a:latin typeface="Quattrocento Sans"/>
                <a:ea typeface="Quattrocento Sans"/>
                <a:cs typeface="Quattrocento Sans"/>
                <a:sym typeface="Quattrocento Sans"/>
              </a:rPr>
              <a:t>Modelado de Procesos AS-IS / TO-BE</a:t>
            </a:r>
            <a:endParaRPr/>
          </a:p>
        </p:txBody>
      </p:sp>
      <p:sp>
        <p:nvSpPr>
          <p:cNvPr id="133" name="Google Shape;133;p3"/>
          <p:cNvSpPr txBox="1"/>
          <p:nvPr/>
        </p:nvSpPr>
        <p:spPr>
          <a:xfrm>
            <a:off x="1691640" y="5047488"/>
            <a:ext cx="60350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CE0131–CE0135</a:t>
            </a:r>
            <a:endParaRPr/>
          </a:p>
        </p:txBody>
      </p:sp>
      <p:sp>
        <p:nvSpPr>
          <p:cNvPr id="134" name="Google Shape;134;p3"/>
          <p:cNvSpPr txBox="1"/>
          <p:nvPr/>
        </p:nvSpPr>
        <p:spPr>
          <a:xfrm>
            <a:off x="7909560" y="4754880"/>
            <a:ext cx="2377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454F78"/>
                </a:solidFill>
                <a:latin typeface="Quattrocento Sans"/>
                <a:ea typeface="Quattrocento Sans"/>
                <a:cs typeface="Quattrocento Sans"/>
                <a:sym typeface="Quattrocento Sans"/>
              </a:rPr>
              <a:t>Expone: Gladys Rosaura Yana Pari</a:t>
            </a:r>
            <a:endParaRPr/>
          </a:p>
        </p:txBody>
      </p:sp>
      <p:sp>
        <p:nvSpPr>
          <p:cNvPr id="135" name="Google Shape;135;p3"/>
          <p:cNvSpPr txBox="1"/>
          <p:nvPr/>
        </p:nvSpPr>
        <p:spPr>
          <a:xfrm>
            <a:off x="10378440" y="4754880"/>
            <a:ext cx="10059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
        <p:nvSpPr>
          <p:cNvPr id="136" name="Google Shape;136;p3"/>
          <p:cNvSpPr txBox="1"/>
          <p:nvPr/>
        </p:nvSpPr>
        <p:spPr>
          <a:xfrm>
            <a:off x="731520" y="6172200"/>
            <a:ext cx="100584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100" u="none" cap="none" strike="noStrike">
                <a:solidFill>
                  <a:srgbClr val="454F78"/>
                </a:solidFill>
                <a:latin typeface="Quattrocento Sans"/>
                <a:ea typeface="Quattrocento Sans"/>
                <a:cs typeface="Quattrocento Sans"/>
                <a:sym typeface="Quattrocento Sans"/>
              </a:rPr>
              <a:t>Apertura y cierre a cargo de David Robert Yucra Mamani  ·  Total estimado: ~14:00, con margen hasta 15:00</a:t>
            </a:r>
            <a:endParaRPr/>
          </a:p>
        </p:txBody>
      </p:sp>
      <p:sp>
        <p:nvSpPr>
          <p:cNvPr id="137" name="Google Shape;137;p3"/>
          <p:cNvSpPr txBox="1"/>
          <p:nvPr/>
        </p:nvSpPr>
        <p:spPr>
          <a:xfrm>
            <a:off x="1950250" y="5612688"/>
            <a:ext cx="866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Documentacion: </a:t>
            </a:r>
            <a:r>
              <a:rPr lang="en-US" u="sng">
                <a:solidFill>
                  <a:schemeClr val="hlink"/>
                </a:solidFill>
                <a:hlinkClick r:id="rId3"/>
              </a:rPr>
              <a:t>https://yucradavid.github.io/Perfil-de-egreso-Plataforma-Web-Integral-CERMAT/</a:t>
            </a:r>
            <a:r>
              <a:rPr lang="en-US"/>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141" name="Shape 141"/>
        <p:cNvGrpSpPr/>
        <p:nvPr/>
      </p:nvGrpSpPr>
      <p:grpSpPr>
        <a:xfrm>
          <a:off x="0" y="0"/>
          <a:ext cx="0" cy="0"/>
          <a:chOff x="0" y="0"/>
          <a:chExt cx="0" cy="0"/>
        </a:xfrm>
      </p:grpSpPr>
      <p:sp>
        <p:nvSpPr>
          <p:cNvPr id="142" name="Google Shape;142;p4"/>
          <p:cNvSpPr txBox="1"/>
          <p:nvPr/>
        </p:nvSpPr>
        <p:spPr>
          <a:xfrm>
            <a:off x="731520" y="1828800"/>
            <a:ext cx="8229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ENTREGABLE 01</a:t>
            </a:r>
            <a:endParaRPr/>
          </a:p>
        </p:txBody>
      </p:sp>
      <p:sp>
        <p:nvSpPr>
          <p:cNvPr id="143" name="Google Shape;143;p4"/>
          <p:cNvSpPr txBox="1"/>
          <p:nvPr/>
        </p:nvSpPr>
        <p:spPr>
          <a:xfrm>
            <a:off x="731520" y="2331720"/>
            <a:ext cx="7863840" cy="14630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3200" u="none" cap="none" strike="noStrike">
                <a:solidFill>
                  <a:srgbClr val="FFFFFF"/>
                </a:solidFill>
                <a:latin typeface="Quattrocento Sans"/>
                <a:ea typeface="Quattrocento Sans"/>
                <a:cs typeface="Quattrocento Sans"/>
                <a:sym typeface="Quattrocento Sans"/>
              </a:rPr>
              <a:t>Diagnóstico Organizacional y Alineamiento Estratégico</a:t>
            </a:r>
            <a:endParaRPr/>
          </a:p>
        </p:txBody>
      </p:sp>
      <p:sp>
        <p:nvSpPr>
          <p:cNvPr id="144" name="Google Shape;144;p4"/>
          <p:cNvSpPr txBox="1"/>
          <p:nvPr/>
        </p:nvSpPr>
        <p:spPr>
          <a:xfrm>
            <a:off x="731520" y="3794760"/>
            <a:ext cx="786384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9AA4DE"/>
                </a:solidFill>
                <a:latin typeface="Quattrocento Sans"/>
                <a:ea typeface="Quattrocento Sans"/>
                <a:cs typeface="Quattrocento Sans"/>
                <a:sym typeface="Quattrocento Sans"/>
              </a:rPr>
              <a:t>Diagnóstico organizacional · Alineamiento estratégico · Caso de negocio · Roadmap de tecnología · Matriz de riesgos estratégicos</a:t>
            </a:r>
            <a:endParaRPr/>
          </a:p>
        </p:txBody>
      </p:sp>
      <p:sp>
        <p:nvSpPr>
          <p:cNvPr id="145" name="Google Shape;145;p4"/>
          <p:cNvSpPr/>
          <p:nvPr/>
        </p:nvSpPr>
        <p:spPr>
          <a:xfrm>
            <a:off x="731520" y="4434840"/>
            <a:ext cx="2926080" cy="12700"/>
          </a:xfrm>
          <a:prstGeom prst="rect">
            <a:avLst/>
          </a:prstGeom>
          <a:solidFill>
            <a:srgbClr val="333C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6" name="Google Shape;146;p4"/>
          <p:cNvSpPr txBox="1"/>
          <p:nvPr/>
        </p:nvSpPr>
        <p:spPr>
          <a:xfrm>
            <a:off x="731520" y="4617720"/>
            <a:ext cx="3657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EXPONE</a:t>
            </a:r>
            <a:endParaRPr/>
          </a:p>
        </p:txBody>
      </p:sp>
      <p:sp>
        <p:nvSpPr>
          <p:cNvPr id="147" name="Google Shape;147;p4"/>
          <p:cNvSpPr txBox="1"/>
          <p:nvPr/>
        </p:nvSpPr>
        <p:spPr>
          <a:xfrm>
            <a:off x="731520" y="4892040"/>
            <a:ext cx="4572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David Robert Yucra Mamani</a:t>
            </a:r>
            <a:endParaRPr/>
          </a:p>
        </p:txBody>
      </p:sp>
      <p:sp>
        <p:nvSpPr>
          <p:cNvPr id="148" name="Google Shape;148;p4"/>
          <p:cNvSpPr txBox="1"/>
          <p:nvPr/>
        </p:nvSpPr>
        <p:spPr>
          <a:xfrm>
            <a:off x="5669280" y="4617720"/>
            <a:ext cx="2743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TIEMPO ASIGNADO</a:t>
            </a:r>
            <a:endParaRPr/>
          </a:p>
        </p:txBody>
      </p:sp>
      <p:sp>
        <p:nvSpPr>
          <p:cNvPr id="149" name="Google Shape;149;p4"/>
          <p:cNvSpPr txBox="1"/>
          <p:nvPr/>
        </p:nvSpPr>
        <p:spPr>
          <a:xfrm>
            <a:off x="5669280" y="4892040"/>
            <a:ext cx="27432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3:30</a:t>
            </a:r>
            <a:endParaRPr/>
          </a:p>
        </p:txBody>
      </p:sp>
      <p:sp>
        <p:nvSpPr>
          <p:cNvPr id="150" name="Google Shape;150;p4"/>
          <p:cNvSpPr txBox="1"/>
          <p:nvPr/>
        </p:nvSpPr>
        <p:spPr>
          <a:xfrm>
            <a:off x="9326880" y="1463040"/>
            <a:ext cx="2377440" cy="2743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4000" u="none" cap="none" strike="noStrike">
                <a:solidFill>
                  <a:srgbClr val="2C3576"/>
                </a:solidFill>
                <a:latin typeface="Georgia"/>
                <a:ea typeface="Georgia"/>
                <a:cs typeface="Georgia"/>
                <a:sym typeface="Georgia"/>
              </a:rPr>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55" name="Shape 155"/>
        <p:cNvGrpSpPr/>
        <p:nvPr/>
      </p:nvGrpSpPr>
      <p:grpSpPr>
        <a:xfrm>
          <a:off x="0" y="0"/>
          <a:ext cx="0" cy="0"/>
          <a:chOff x="0" y="0"/>
          <a:chExt cx="0" cy="0"/>
        </a:xfrm>
      </p:grpSpPr>
      <p:sp>
        <p:nvSpPr>
          <p:cNvPr id="156" name="Google Shape;156;p5"/>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E1 · 1.1 CONTEXTO ORGANIZACIONAL</a:t>
            </a:r>
            <a:endParaRPr/>
          </a:p>
        </p:txBody>
      </p:sp>
      <p:sp>
        <p:nvSpPr>
          <p:cNvPr id="157" name="Google Shape;157;p5"/>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Una academia privada donde el seguimiento al alumno es el diferenciador comercial</a:t>
            </a:r>
            <a:endParaRPr/>
          </a:p>
        </p:txBody>
      </p:sp>
      <p:sp>
        <p:nvSpPr>
          <p:cNvPr id="158" name="Google Shape;158;p5"/>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9" name="Google Shape;159;p5"/>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David Robert Yucra Mamani   ·   ⏱ 45s</a:t>
            </a:r>
            <a:endParaRPr/>
          </a:p>
        </p:txBody>
      </p:sp>
      <p:sp>
        <p:nvSpPr>
          <p:cNvPr id="160" name="Google Shape;160;p5"/>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4 / 22</a:t>
            </a:r>
            <a:endParaRPr/>
          </a:p>
        </p:txBody>
      </p:sp>
      <p:sp>
        <p:nvSpPr>
          <p:cNvPr id="161" name="Google Shape;161;p5"/>
          <p:cNvSpPr/>
          <p:nvPr/>
        </p:nvSpPr>
        <p:spPr>
          <a:xfrm>
            <a:off x="731520" y="1920240"/>
            <a:ext cx="512064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2" name="Google Shape;162;p5"/>
          <p:cNvSpPr txBox="1"/>
          <p:nvPr/>
        </p:nvSpPr>
        <p:spPr>
          <a:xfrm>
            <a:off x="896112" y="20299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ESTRUCTURA</a:t>
            </a:r>
            <a:endParaRPr/>
          </a:p>
        </p:txBody>
      </p:sp>
      <p:sp>
        <p:nvSpPr>
          <p:cNvPr id="163" name="Google Shape;163;p5"/>
          <p:cNvSpPr txBox="1"/>
          <p:nvPr/>
        </p:nvSpPr>
        <p:spPr>
          <a:xfrm>
            <a:off x="896112" y="2304288"/>
            <a:ext cx="479145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Dirección general → coordinación académica/secretaría → docentes por ciclo → auxiliares → alumnos y padres.</a:t>
            </a:r>
            <a:endParaRPr/>
          </a:p>
        </p:txBody>
      </p:sp>
      <p:sp>
        <p:nvSpPr>
          <p:cNvPr id="164" name="Google Shape;164;p5"/>
          <p:cNvSpPr/>
          <p:nvPr/>
        </p:nvSpPr>
        <p:spPr>
          <a:xfrm>
            <a:off x="6035040" y="1920240"/>
            <a:ext cx="539496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5" name="Google Shape;165;p5"/>
          <p:cNvSpPr txBox="1"/>
          <p:nvPr/>
        </p:nvSpPr>
        <p:spPr>
          <a:xfrm>
            <a:off x="6199632" y="20299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SECTOR</a:t>
            </a:r>
            <a:endParaRPr/>
          </a:p>
        </p:txBody>
      </p:sp>
      <p:sp>
        <p:nvSpPr>
          <p:cNvPr id="166" name="Google Shape;166;p5"/>
          <p:cNvSpPr txBox="1"/>
          <p:nvPr/>
        </p:nvSpPr>
        <p:spPr>
          <a:xfrm>
            <a:off x="6199632" y="2304288"/>
            <a:ext cx="506577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Educación básica privada en Azángaro, Puno — varias academias compitiendo por matrícula, donde organización y comunicación con padres son el diferenciador.</a:t>
            </a:r>
            <a:endParaRPr/>
          </a:p>
        </p:txBody>
      </p:sp>
      <p:sp>
        <p:nvSpPr>
          <p:cNvPr id="167" name="Google Shape;167;p5"/>
          <p:cNvSpPr txBox="1"/>
          <p:nvPr/>
        </p:nvSpPr>
        <p:spPr>
          <a:xfrm>
            <a:off x="731520" y="3657600"/>
            <a:ext cx="54864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454F78"/>
                </a:solidFill>
                <a:latin typeface="Quattrocento Sans"/>
                <a:ea typeface="Quattrocento Sans"/>
                <a:cs typeface="Quattrocento Sans"/>
                <a:sym typeface="Quattrocento Sans"/>
              </a:rPr>
              <a:t>CADENA DE VALOR</a:t>
            </a:r>
            <a:endParaRPr/>
          </a:p>
        </p:txBody>
      </p:sp>
      <p:sp>
        <p:nvSpPr>
          <p:cNvPr id="168" name="Google Shape;168;p5"/>
          <p:cNvSpPr/>
          <p:nvPr/>
        </p:nvSpPr>
        <p:spPr>
          <a:xfrm>
            <a:off x="731520"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9" name="Google Shape;169;p5"/>
          <p:cNvSpPr/>
          <p:nvPr/>
        </p:nvSpPr>
        <p:spPr>
          <a:xfrm>
            <a:off x="731520"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0" name="Google Shape;170;p5"/>
          <p:cNvSpPr txBox="1"/>
          <p:nvPr/>
        </p:nvSpPr>
        <p:spPr>
          <a:xfrm>
            <a:off x="841248"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Captación</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(sitio, redes)</a:t>
            </a:r>
            <a:endParaRPr/>
          </a:p>
        </p:txBody>
      </p:sp>
      <p:sp>
        <p:nvSpPr>
          <p:cNvPr id="171" name="Google Shape;171;p5"/>
          <p:cNvSpPr txBox="1"/>
          <p:nvPr/>
        </p:nvSpPr>
        <p:spPr>
          <a:xfrm>
            <a:off x="1985554"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72" name="Google Shape;172;p5"/>
          <p:cNvSpPr/>
          <p:nvPr/>
        </p:nvSpPr>
        <p:spPr>
          <a:xfrm>
            <a:off x="2305594"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3" name="Google Shape;173;p5"/>
          <p:cNvSpPr/>
          <p:nvPr/>
        </p:nvSpPr>
        <p:spPr>
          <a:xfrm>
            <a:off x="2305594"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4" name="Google Shape;174;p5"/>
          <p:cNvSpPr txBox="1"/>
          <p:nvPr/>
        </p:nvSpPr>
        <p:spPr>
          <a:xfrm>
            <a:off x="2415322"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Pre-matrícula</a:t>
            </a:r>
            <a:endParaRPr/>
          </a:p>
        </p:txBody>
      </p:sp>
      <p:sp>
        <p:nvSpPr>
          <p:cNvPr id="175" name="Google Shape;175;p5"/>
          <p:cNvSpPr txBox="1"/>
          <p:nvPr/>
        </p:nvSpPr>
        <p:spPr>
          <a:xfrm>
            <a:off x="3559628"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76" name="Google Shape;176;p5"/>
          <p:cNvSpPr/>
          <p:nvPr/>
        </p:nvSpPr>
        <p:spPr>
          <a:xfrm>
            <a:off x="3879668"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7" name="Google Shape;177;p5"/>
          <p:cNvSpPr/>
          <p:nvPr/>
        </p:nvSpPr>
        <p:spPr>
          <a:xfrm>
            <a:off x="3879668"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8" name="Google Shape;178;p5"/>
          <p:cNvSpPr txBox="1"/>
          <p:nvPr/>
        </p:nvSpPr>
        <p:spPr>
          <a:xfrm>
            <a:off x="3989396"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Matrícula</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y cobro</a:t>
            </a:r>
            <a:endParaRPr/>
          </a:p>
        </p:txBody>
      </p:sp>
      <p:sp>
        <p:nvSpPr>
          <p:cNvPr id="179" name="Google Shape;179;p5"/>
          <p:cNvSpPr txBox="1"/>
          <p:nvPr/>
        </p:nvSpPr>
        <p:spPr>
          <a:xfrm>
            <a:off x="5133702"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80" name="Google Shape;180;p5"/>
          <p:cNvSpPr/>
          <p:nvPr/>
        </p:nvSpPr>
        <p:spPr>
          <a:xfrm>
            <a:off x="5453742"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1" name="Google Shape;181;p5"/>
          <p:cNvSpPr/>
          <p:nvPr/>
        </p:nvSpPr>
        <p:spPr>
          <a:xfrm>
            <a:off x="5453742"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2" name="Google Shape;182;p5"/>
          <p:cNvSpPr txBox="1"/>
          <p:nvPr/>
        </p:nvSpPr>
        <p:spPr>
          <a:xfrm>
            <a:off x="5563470"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Dictado por</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sede/grupo/turno</a:t>
            </a:r>
            <a:endParaRPr/>
          </a:p>
        </p:txBody>
      </p:sp>
      <p:sp>
        <p:nvSpPr>
          <p:cNvPr id="183" name="Google Shape;183;p5"/>
          <p:cNvSpPr txBox="1"/>
          <p:nvPr/>
        </p:nvSpPr>
        <p:spPr>
          <a:xfrm>
            <a:off x="6707777"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84" name="Google Shape;184;p5"/>
          <p:cNvSpPr/>
          <p:nvPr/>
        </p:nvSpPr>
        <p:spPr>
          <a:xfrm>
            <a:off x="7027817"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5" name="Google Shape;185;p5"/>
          <p:cNvSpPr/>
          <p:nvPr/>
        </p:nvSpPr>
        <p:spPr>
          <a:xfrm>
            <a:off x="7027817"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6" name="Google Shape;186;p5"/>
          <p:cNvSpPr txBox="1"/>
          <p:nvPr/>
        </p:nvSpPr>
        <p:spPr>
          <a:xfrm>
            <a:off x="7137545"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Seguimiento de</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asistencia</a:t>
            </a:r>
            <a:endParaRPr/>
          </a:p>
        </p:txBody>
      </p:sp>
      <p:sp>
        <p:nvSpPr>
          <p:cNvPr id="187" name="Google Shape;187;p5"/>
          <p:cNvSpPr txBox="1"/>
          <p:nvPr/>
        </p:nvSpPr>
        <p:spPr>
          <a:xfrm>
            <a:off x="8281851"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88" name="Google Shape;188;p5"/>
          <p:cNvSpPr/>
          <p:nvPr/>
        </p:nvSpPr>
        <p:spPr>
          <a:xfrm>
            <a:off x="8601891"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9" name="Google Shape;189;p5"/>
          <p:cNvSpPr/>
          <p:nvPr/>
        </p:nvSpPr>
        <p:spPr>
          <a:xfrm>
            <a:off x="8601891"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0" name="Google Shape;190;p5"/>
          <p:cNvSpPr txBox="1"/>
          <p:nvPr/>
        </p:nvSpPr>
        <p:spPr>
          <a:xfrm>
            <a:off x="8711619"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Comunicación</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con padres</a:t>
            </a:r>
            <a:endParaRPr/>
          </a:p>
        </p:txBody>
      </p:sp>
      <p:sp>
        <p:nvSpPr>
          <p:cNvPr id="191" name="Google Shape;191;p5"/>
          <p:cNvSpPr txBox="1"/>
          <p:nvPr/>
        </p:nvSpPr>
        <p:spPr>
          <a:xfrm>
            <a:off x="9855925" y="3977639"/>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192" name="Google Shape;192;p5"/>
          <p:cNvSpPr/>
          <p:nvPr/>
        </p:nvSpPr>
        <p:spPr>
          <a:xfrm>
            <a:off x="10175965" y="3977639"/>
            <a:ext cx="1254034"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3" name="Google Shape;193;p5"/>
          <p:cNvSpPr/>
          <p:nvPr/>
        </p:nvSpPr>
        <p:spPr>
          <a:xfrm>
            <a:off x="10175965" y="3977639"/>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4" name="Google Shape;194;p5"/>
          <p:cNvSpPr txBox="1"/>
          <p:nvPr/>
        </p:nvSpPr>
        <p:spPr>
          <a:xfrm>
            <a:off x="10285693" y="4050791"/>
            <a:ext cx="1034578"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Egreso /</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renovación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99" name="Shape 199"/>
        <p:cNvGrpSpPr/>
        <p:nvPr/>
      </p:nvGrpSpPr>
      <p:grpSpPr>
        <a:xfrm>
          <a:off x="0" y="0"/>
          <a:ext cx="0" cy="0"/>
          <a:chOff x="0" y="0"/>
          <a:chExt cx="0" cy="0"/>
        </a:xfrm>
      </p:grpSpPr>
      <p:sp>
        <p:nvSpPr>
          <p:cNvPr id="200" name="Google Shape;200;p6"/>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E1 · 1.2 ANÁLISIS ESTRATÉGICO</a:t>
            </a:r>
            <a:endParaRPr/>
          </a:p>
        </p:txBody>
      </p:sp>
      <p:sp>
        <p:nvSpPr>
          <p:cNvPr id="201" name="Google Shape;201;p6"/>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FODA: la plataforma ataca justo las debilidades y amenazas del negocio</a:t>
            </a:r>
            <a:endParaRPr/>
          </a:p>
        </p:txBody>
      </p:sp>
      <p:sp>
        <p:nvSpPr>
          <p:cNvPr id="202" name="Google Shape;202;p6"/>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3" name="Google Shape;203;p6"/>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David Robert Yucra Mamani   ·   ⏱ 55s</a:t>
            </a:r>
            <a:endParaRPr/>
          </a:p>
        </p:txBody>
      </p:sp>
      <p:sp>
        <p:nvSpPr>
          <p:cNvPr id="204" name="Google Shape;204;p6"/>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5 / 22</a:t>
            </a:r>
            <a:endParaRPr/>
          </a:p>
        </p:txBody>
      </p:sp>
      <p:sp>
        <p:nvSpPr>
          <p:cNvPr id="205" name="Google Shape;205;p6"/>
          <p:cNvSpPr/>
          <p:nvPr/>
        </p:nvSpPr>
        <p:spPr>
          <a:xfrm>
            <a:off x="731520" y="1920240"/>
            <a:ext cx="5257800" cy="18288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6" name="Google Shape;206;p6"/>
          <p:cNvSpPr/>
          <p:nvPr/>
        </p:nvSpPr>
        <p:spPr>
          <a:xfrm>
            <a:off x="731520" y="1920240"/>
            <a:ext cx="54864" cy="182880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 name="Google Shape;207;p6"/>
          <p:cNvSpPr txBox="1"/>
          <p:nvPr/>
        </p:nvSpPr>
        <p:spPr>
          <a:xfrm>
            <a:off x="896112" y="2029968"/>
            <a:ext cx="492861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FORTALEZAS</a:t>
            </a:r>
            <a:endParaRPr/>
          </a:p>
        </p:txBody>
      </p:sp>
      <p:sp>
        <p:nvSpPr>
          <p:cNvPr id="208" name="Google Shape;208;p6"/>
          <p:cNvSpPr txBox="1"/>
          <p:nvPr/>
        </p:nvSpPr>
        <p:spPr>
          <a:xfrm>
            <a:off x="896112" y="2304288"/>
            <a:ext cx="4928616" cy="13258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Plataforma digital propia con portales por rol, control de asistencia por QR, matrícula pública conectada al flujo interno.</a:t>
            </a:r>
            <a:endParaRPr/>
          </a:p>
        </p:txBody>
      </p:sp>
      <p:sp>
        <p:nvSpPr>
          <p:cNvPr id="209" name="Google Shape;209;p6"/>
          <p:cNvSpPr/>
          <p:nvPr/>
        </p:nvSpPr>
        <p:spPr>
          <a:xfrm>
            <a:off x="6172200" y="1920240"/>
            <a:ext cx="5257800" cy="18288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0" name="Google Shape;210;p6"/>
          <p:cNvSpPr/>
          <p:nvPr/>
        </p:nvSpPr>
        <p:spPr>
          <a:xfrm>
            <a:off x="6172200" y="1920240"/>
            <a:ext cx="54864" cy="182880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1" name="Google Shape;211;p6"/>
          <p:cNvSpPr txBox="1"/>
          <p:nvPr/>
        </p:nvSpPr>
        <p:spPr>
          <a:xfrm>
            <a:off x="6336792" y="2029968"/>
            <a:ext cx="492861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OPORTUNIDADES</a:t>
            </a:r>
            <a:endParaRPr/>
          </a:p>
        </p:txBody>
      </p:sp>
      <p:sp>
        <p:nvSpPr>
          <p:cNvPr id="212" name="Google Shape;212;p6"/>
          <p:cNvSpPr txBox="1"/>
          <p:nvPr/>
        </p:nvSpPr>
        <p:spPr>
          <a:xfrm>
            <a:off x="6336792" y="2304288"/>
            <a:ext cx="4928616" cy="13258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Crecimiento de matrícula frente a competidores menos digitales; réplica a nuevas sedes con bajo costo marginal.</a:t>
            </a:r>
            <a:endParaRPr/>
          </a:p>
        </p:txBody>
      </p:sp>
      <p:sp>
        <p:nvSpPr>
          <p:cNvPr id="213" name="Google Shape;213;p6"/>
          <p:cNvSpPr/>
          <p:nvPr/>
        </p:nvSpPr>
        <p:spPr>
          <a:xfrm>
            <a:off x="731520" y="3931920"/>
            <a:ext cx="5257800" cy="18288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4" name="Google Shape;214;p6"/>
          <p:cNvSpPr/>
          <p:nvPr/>
        </p:nvSpPr>
        <p:spPr>
          <a:xfrm>
            <a:off x="731520" y="3931920"/>
            <a:ext cx="54864" cy="18288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5" name="Google Shape;215;p6"/>
          <p:cNvSpPr txBox="1"/>
          <p:nvPr/>
        </p:nvSpPr>
        <p:spPr>
          <a:xfrm>
            <a:off x="896112" y="4041648"/>
            <a:ext cx="492861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DEBILIDADES</a:t>
            </a:r>
            <a:endParaRPr/>
          </a:p>
        </p:txBody>
      </p:sp>
      <p:sp>
        <p:nvSpPr>
          <p:cNvPr id="216" name="Google Shape;216;p6"/>
          <p:cNvSpPr txBox="1"/>
          <p:nvPr/>
        </p:nvSpPr>
        <p:spPr>
          <a:xfrm>
            <a:off x="896112" y="4315968"/>
            <a:ext cx="4928616" cy="13258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Dependencia de un equipo técnico pequeño; procesos históricos aún en transición hacia el flujo digital.</a:t>
            </a:r>
            <a:endParaRPr/>
          </a:p>
        </p:txBody>
      </p:sp>
      <p:sp>
        <p:nvSpPr>
          <p:cNvPr id="217" name="Google Shape;217;p6"/>
          <p:cNvSpPr/>
          <p:nvPr/>
        </p:nvSpPr>
        <p:spPr>
          <a:xfrm>
            <a:off x="6172200" y="3931920"/>
            <a:ext cx="5257800" cy="18288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8" name="Google Shape;218;p6"/>
          <p:cNvSpPr/>
          <p:nvPr/>
        </p:nvSpPr>
        <p:spPr>
          <a:xfrm>
            <a:off x="6172200" y="3931920"/>
            <a:ext cx="54864" cy="18288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9" name="Google Shape;219;p6"/>
          <p:cNvSpPr txBox="1"/>
          <p:nvPr/>
        </p:nvSpPr>
        <p:spPr>
          <a:xfrm>
            <a:off x="6336792" y="4041648"/>
            <a:ext cx="492861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AMENAZAS</a:t>
            </a:r>
            <a:endParaRPr/>
          </a:p>
        </p:txBody>
      </p:sp>
      <p:sp>
        <p:nvSpPr>
          <p:cNvPr id="220" name="Google Shape;220;p6"/>
          <p:cNvSpPr txBox="1"/>
          <p:nvPr/>
        </p:nvSpPr>
        <p:spPr>
          <a:xfrm>
            <a:off x="6336792" y="4315968"/>
            <a:ext cx="4928616" cy="13258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Competencia con marketing agresivo; regulación de protección de datos de menores de edad.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25" name="Shape 225"/>
        <p:cNvGrpSpPr/>
        <p:nvPr/>
      </p:nvGrpSpPr>
      <p:grpSpPr>
        <a:xfrm>
          <a:off x="0" y="0"/>
          <a:ext cx="0" cy="0"/>
          <a:chOff x="0" y="0"/>
          <a:chExt cx="0" cy="0"/>
        </a:xfrm>
      </p:grpSpPr>
      <p:sp>
        <p:nvSpPr>
          <p:cNvPr id="226" name="Google Shape;226;p7"/>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E1 · 1.3 DIAGNÓSTICO DIGITAL</a:t>
            </a:r>
            <a:endParaRPr/>
          </a:p>
        </p:txBody>
      </p:sp>
      <p:sp>
        <p:nvSpPr>
          <p:cNvPr id="227" name="Google Shape;227;p7"/>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Antes de la plataforma no existía ningún sistema propio</a:t>
            </a:r>
            <a:endParaRPr/>
          </a:p>
        </p:txBody>
      </p:sp>
      <p:sp>
        <p:nvSpPr>
          <p:cNvPr id="228" name="Google Shape;228;p7"/>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9" name="Google Shape;229;p7"/>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David Robert Yucra Mamani   ·   ⏱ 45s</a:t>
            </a:r>
            <a:endParaRPr/>
          </a:p>
        </p:txBody>
      </p:sp>
      <p:sp>
        <p:nvSpPr>
          <p:cNvPr id="230" name="Google Shape;230;p7"/>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6 / 22</a:t>
            </a:r>
            <a:endParaRPr/>
          </a:p>
        </p:txBody>
      </p:sp>
      <p:sp>
        <p:nvSpPr>
          <p:cNvPr id="231" name="Google Shape;231;p7"/>
          <p:cNvSpPr/>
          <p:nvPr/>
        </p:nvSpPr>
        <p:spPr>
          <a:xfrm>
            <a:off x="731520" y="1920240"/>
            <a:ext cx="5120640" cy="31089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2" name="Google Shape;232;p7"/>
          <p:cNvSpPr txBox="1"/>
          <p:nvPr/>
        </p:nvSpPr>
        <p:spPr>
          <a:xfrm>
            <a:off x="896112" y="20299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ANTES DEL SISTEMA</a:t>
            </a:r>
            <a:endParaRPr/>
          </a:p>
        </p:txBody>
      </p:sp>
      <p:sp>
        <p:nvSpPr>
          <p:cNvPr id="233" name="Google Shape;233;p7"/>
          <p:cNvSpPr txBox="1"/>
          <p:nvPr/>
        </p:nvSpPr>
        <p:spPr>
          <a:xfrm>
            <a:off x="896112" y="2304288"/>
            <a:ext cx="4791456" cy="26060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Formularios no integrados</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Gestión manual de alumnos</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Asistencia poco trazable</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Pagos separados de la matrícula</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Sin portales diferenciados por rol</a:t>
            </a:r>
            <a:endParaRPr/>
          </a:p>
        </p:txBody>
      </p:sp>
      <p:sp>
        <p:nvSpPr>
          <p:cNvPr id="234" name="Google Shape;234;p7"/>
          <p:cNvSpPr/>
          <p:nvPr/>
        </p:nvSpPr>
        <p:spPr>
          <a:xfrm>
            <a:off x="6035040" y="1920240"/>
            <a:ext cx="5394960" cy="31089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5" name="Google Shape;235;p7"/>
          <p:cNvSpPr/>
          <p:nvPr/>
        </p:nvSpPr>
        <p:spPr>
          <a:xfrm>
            <a:off x="6035040" y="1920240"/>
            <a:ext cx="54864" cy="310896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6" name="Google Shape;236;p7"/>
          <p:cNvSpPr txBox="1"/>
          <p:nvPr/>
        </p:nvSpPr>
        <p:spPr>
          <a:xfrm>
            <a:off x="6199632" y="20299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CONSECUENCIAS</a:t>
            </a:r>
            <a:endParaRPr/>
          </a:p>
        </p:txBody>
      </p:sp>
      <p:sp>
        <p:nvSpPr>
          <p:cNvPr id="237" name="Google Shape;237;p7"/>
          <p:cNvSpPr txBox="1"/>
          <p:nvPr/>
        </p:nvSpPr>
        <p:spPr>
          <a:xfrm>
            <a:off x="6199632" y="2304288"/>
            <a:ext cx="5065776" cy="26060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Duplicidad de datos</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Baja visibilidad operativa</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Riesgo de errores en cupos</a:t>
            </a:r>
            <a:endParaRPr/>
          </a:p>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 Demora en la atención a padres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42" name="Shape 242"/>
        <p:cNvGrpSpPr/>
        <p:nvPr/>
      </p:nvGrpSpPr>
      <p:grpSpPr>
        <a:xfrm>
          <a:off x="0" y="0"/>
          <a:ext cx="0" cy="0"/>
          <a:chOff x="0" y="0"/>
          <a:chExt cx="0" cy="0"/>
        </a:xfrm>
      </p:grpSpPr>
      <p:sp>
        <p:nvSpPr>
          <p:cNvPr id="243" name="Google Shape;243;p8"/>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E1 · 1.4 IDENTIFICACIÓN DEL PROBLEMA</a:t>
            </a:r>
            <a:endParaRPr/>
          </a:p>
        </p:txBody>
      </p:sp>
      <p:sp>
        <p:nvSpPr>
          <p:cNvPr id="244" name="Google Shape;244;p8"/>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La tesis del diagnóstico</a:t>
            </a:r>
            <a:endParaRPr/>
          </a:p>
        </p:txBody>
      </p:sp>
      <p:sp>
        <p:nvSpPr>
          <p:cNvPr id="245" name="Google Shape;245;p8"/>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6" name="Google Shape;246;p8"/>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David Robert Yucra Mamani   ·   ⏱ 50s</a:t>
            </a:r>
            <a:endParaRPr/>
          </a:p>
        </p:txBody>
      </p:sp>
      <p:sp>
        <p:nvSpPr>
          <p:cNvPr id="247" name="Google Shape;247;p8"/>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7 / 22</a:t>
            </a:r>
            <a:endParaRPr/>
          </a:p>
        </p:txBody>
      </p:sp>
      <p:sp>
        <p:nvSpPr>
          <p:cNvPr id="248" name="Google Shape;248;p8"/>
          <p:cNvSpPr/>
          <p:nvPr/>
        </p:nvSpPr>
        <p:spPr>
          <a:xfrm>
            <a:off x="731520" y="1965960"/>
            <a:ext cx="54864" cy="118872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9" name="Google Shape;249;p8"/>
          <p:cNvSpPr txBox="1"/>
          <p:nvPr/>
        </p:nvSpPr>
        <p:spPr>
          <a:xfrm>
            <a:off x="960120" y="1965960"/>
            <a:ext cx="10287000" cy="11887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n-US" sz="1700" u="none" cap="none" strike="noStrike">
                <a:solidFill>
                  <a:srgbClr val="1B2559"/>
                </a:solidFill>
                <a:latin typeface="Georgia"/>
                <a:ea typeface="Georgia"/>
                <a:cs typeface="Georgia"/>
                <a:sym typeface="Georgia"/>
              </a:rPr>
              <a:t>“Academia La Prepa Cermat necesitaba centralizar su gestión académica y administrativa porque operaba con canales dispersos y procesos manuales que generaban duplicidad de datos y baja visibilidad operativa.”</a:t>
            </a:r>
            <a:endParaRPr/>
          </a:p>
        </p:txBody>
      </p:sp>
      <p:sp>
        <p:nvSpPr>
          <p:cNvPr id="250" name="Google Shape;250;p8"/>
          <p:cNvSpPr/>
          <p:nvPr/>
        </p:nvSpPr>
        <p:spPr>
          <a:xfrm>
            <a:off x="731520" y="3429000"/>
            <a:ext cx="5120640" cy="15544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1" name="Google Shape;251;p8"/>
          <p:cNvSpPr txBox="1"/>
          <p:nvPr/>
        </p:nvSpPr>
        <p:spPr>
          <a:xfrm>
            <a:off x="896112" y="353872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CAUSA RAÍZ</a:t>
            </a:r>
            <a:endParaRPr/>
          </a:p>
        </p:txBody>
      </p:sp>
      <p:sp>
        <p:nvSpPr>
          <p:cNvPr id="252" name="Google Shape;252;p8"/>
          <p:cNvSpPr txBox="1"/>
          <p:nvPr/>
        </p:nvSpPr>
        <p:spPr>
          <a:xfrm>
            <a:off x="896112" y="3813048"/>
            <a:ext cx="4791456" cy="10515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Sin sistema propio históricamente; crecimiento de sedes/ciclos/alumnos sin que la gestión escalara junto con ese crecimiento.</a:t>
            </a:r>
            <a:endParaRPr/>
          </a:p>
        </p:txBody>
      </p:sp>
      <p:sp>
        <p:nvSpPr>
          <p:cNvPr id="253" name="Google Shape;253;p8"/>
          <p:cNvSpPr/>
          <p:nvPr/>
        </p:nvSpPr>
        <p:spPr>
          <a:xfrm>
            <a:off x="6035040" y="3429000"/>
            <a:ext cx="5394960" cy="15544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4" name="Google Shape;254;p8"/>
          <p:cNvSpPr txBox="1"/>
          <p:nvPr/>
        </p:nvSpPr>
        <p:spPr>
          <a:xfrm>
            <a:off x="6199632" y="353872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IMPACTO ESTRATÉGICO</a:t>
            </a:r>
            <a:endParaRPr/>
          </a:p>
        </p:txBody>
      </p:sp>
      <p:sp>
        <p:nvSpPr>
          <p:cNvPr id="255" name="Google Shape;255;p8"/>
          <p:cNvSpPr txBox="1"/>
          <p:nvPr/>
        </p:nvSpPr>
        <p:spPr>
          <a:xfrm>
            <a:off x="6199632" y="3813048"/>
            <a:ext cx="5065776" cy="10515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Riesgo de perder matrículas frente a competidores mejor organizados; decisiones de dirección con información incompleta.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259" name="Shape 259"/>
        <p:cNvGrpSpPr/>
        <p:nvPr/>
      </p:nvGrpSpPr>
      <p:grpSpPr>
        <a:xfrm>
          <a:off x="0" y="0"/>
          <a:ext cx="0" cy="0"/>
          <a:chOff x="0" y="0"/>
          <a:chExt cx="0" cy="0"/>
        </a:xfrm>
      </p:grpSpPr>
      <p:sp>
        <p:nvSpPr>
          <p:cNvPr id="260" name="Google Shape;260;p9"/>
          <p:cNvSpPr txBox="1"/>
          <p:nvPr/>
        </p:nvSpPr>
        <p:spPr>
          <a:xfrm>
            <a:off x="731520" y="1828800"/>
            <a:ext cx="8229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ENTREGABLE 02</a:t>
            </a:r>
            <a:endParaRPr/>
          </a:p>
        </p:txBody>
      </p:sp>
      <p:sp>
        <p:nvSpPr>
          <p:cNvPr id="261" name="Google Shape;261;p9"/>
          <p:cNvSpPr txBox="1"/>
          <p:nvPr/>
        </p:nvSpPr>
        <p:spPr>
          <a:xfrm>
            <a:off x="731520" y="2331720"/>
            <a:ext cx="7863840" cy="14630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3200" u="none" cap="none" strike="noStrike">
                <a:solidFill>
                  <a:srgbClr val="FFFFFF"/>
                </a:solidFill>
                <a:latin typeface="Quattrocento Sans"/>
                <a:ea typeface="Quattrocento Sans"/>
                <a:cs typeface="Quattrocento Sans"/>
                <a:sym typeface="Quattrocento Sans"/>
              </a:rPr>
              <a:t>Business Case del Proyecto</a:t>
            </a:r>
            <a:endParaRPr/>
          </a:p>
        </p:txBody>
      </p:sp>
      <p:sp>
        <p:nvSpPr>
          <p:cNvPr id="262" name="Google Shape;262;p9"/>
          <p:cNvSpPr txBox="1"/>
          <p:nvPr/>
        </p:nvSpPr>
        <p:spPr>
          <a:xfrm>
            <a:off x="731520" y="3794760"/>
            <a:ext cx="786384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9AA4DE"/>
                </a:solidFill>
                <a:latin typeface="Quattrocento Sans"/>
                <a:ea typeface="Quattrocento Sans"/>
                <a:cs typeface="Quattrocento Sans"/>
                <a:sym typeface="Quattrocento Sans"/>
              </a:rPr>
              <a:t>Objetivos SMART · alternativas evaluadas · costos y beneficios · riesgos iniciales</a:t>
            </a:r>
            <a:endParaRPr/>
          </a:p>
        </p:txBody>
      </p:sp>
      <p:sp>
        <p:nvSpPr>
          <p:cNvPr id="263" name="Google Shape;263;p9"/>
          <p:cNvSpPr/>
          <p:nvPr/>
        </p:nvSpPr>
        <p:spPr>
          <a:xfrm>
            <a:off x="731520" y="4434840"/>
            <a:ext cx="2926080" cy="12700"/>
          </a:xfrm>
          <a:prstGeom prst="rect">
            <a:avLst/>
          </a:prstGeom>
          <a:solidFill>
            <a:srgbClr val="333C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4" name="Google Shape;264;p9"/>
          <p:cNvSpPr txBox="1"/>
          <p:nvPr/>
        </p:nvSpPr>
        <p:spPr>
          <a:xfrm>
            <a:off x="731520" y="4617720"/>
            <a:ext cx="3657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EXPONE</a:t>
            </a:r>
            <a:endParaRPr/>
          </a:p>
        </p:txBody>
      </p:sp>
      <p:sp>
        <p:nvSpPr>
          <p:cNvPr id="265" name="Google Shape;265;p9"/>
          <p:cNvSpPr txBox="1"/>
          <p:nvPr/>
        </p:nvSpPr>
        <p:spPr>
          <a:xfrm>
            <a:off x="731520" y="4892040"/>
            <a:ext cx="4572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Denilson Leeke Mamani Flores</a:t>
            </a:r>
            <a:endParaRPr/>
          </a:p>
        </p:txBody>
      </p:sp>
      <p:sp>
        <p:nvSpPr>
          <p:cNvPr id="266" name="Google Shape;266;p9"/>
          <p:cNvSpPr txBox="1"/>
          <p:nvPr/>
        </p:nvSpPr>
        <p:spPr>
          <a:xfrm>
            <a:off x="5669280" y="4617720"/>
            <a:ext cx="2743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TIEMPO ASIGNADO</a:t>
            </a:r>
            <a:endParaRPr/>
          </a:p>
        </p:txBody>
      </p:sp>
      <p:sp>
        <p:nvSpPr>
          <p:cNvPr id="267" name="Google Shape;267;p9"/>
          <p:cNvSpPr txBox="1"/>
          <p:nvPr/>
        </p:nvSpPr>
        <p:spPr>
          <a:xfrm>
            <a:off x="5669280" y="4892040"/>
            <a:ext cx="27432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3:00</a:t>
            </a:r>
            <a:endParaRPr/>
          </a:p>
        </p:txBody>
      </p:sp>
      <p:sp>
        <p:nvSpPr>
          <p:cNvPr id="268" name="Google Shape;268;p9"/>
          <p:cNvSpPr txBox="1"/>
          <p:nvPr/>
        </p:nvSpPr>
        <p:spPr>
          <a:xfrm>
            <a:off x="9326880" y="1463040"/>
            <a:ext cx="2377440" cy="2743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4000" u="none" cap="none" strike="noStrike">
                <a:solidFill>
                  <a:srgbClr val="2C3576"/>
                </a:solidFill>
                <a:latin typeface="Georgia"/>
                <a:ea typeface="Georgia"/>
                <a:cs typeface="Georgia"/>
                <a:sym typeface="Georgia"/>
              </a:rPr>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73" name="Shape 273"/>
        <p:cNvGrpSpPr/>
        <p:nvPr/>
      </p:nvGrpSpPr>
      <p:grpSpPr>
        <a:xfrm>
          <a:off x="0" y="0"/>
          <a:ext cx="0" cy="0"/>
          <a:chOff x="0" y="0"/>
          <a:chExt cx="0" cy="0"/>
        </a:xfrm>
      </p:grpSpPr>
      <p:sp>
        <p:nvSpPr>
          <p:cNvPr id="274" name="Google Shape;274;p10"/>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E2 · 2.1 OBJETIVOS Y BENEFICIOS</a:t>
            </a:r>
            <a:endParaRPr/>
          </a:p>
        </p:txBody>
      </p:sp>
      <p:sp>
        <p:nvSpPr>
          <p:cNvPr id="275" name="Google Shape;275;p10"/>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Tres objetivos medibles, los tres ya cumplidos</a:t>
            </a:r>
            <a:endParaRPr/>
          </a:p>
        </p:txBody>
      </p:sp>
      <p:sp>
        <p:nvSpPr>
          <p:cNvPr id="276" name="Google Shape;276;p10"/>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7" name="Google Shape;277;p10"/>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Denilson Leeke Mamani Flores   ·   ⏱ 40s</a:t>
            </a:r>
            <a:endParaRPr/>
          </a:p>
        </p:txBody>
      </p:sp>
      <p:sp>
        <p:nvSpPr>
          <p:cNvPr id="278" name="Google Shape;278;p10"/>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9 / 22</a:t>
            </a:r>
            <a:endParaRPr/>
          </a:p>
        </p:txBody>
      </p:sp>
      <p:sp>
        <p:nvSpPr>
          <p:cNvPr id="279" name="Google Shape;279;p10"/>
          <p:cNvSpPr/>
          <p:nvPr/>
        </p:nvSpPr>
        <p:spPr>
          <a:xfrm>
            <a:off x="731520" y="1920240"/>
            <a:ext cx="2606040" cy="29260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0" name="Google Shape;280;p10"/>
          <p:cNvSpPr/>
          <p:nvPr/>
        </p:nvSpPr>
        <p:spPr>
          <a:xfrm>
            <a:off x="731520" y="1920240"/>
            <a:ext cx="54864" cy="29260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1" name="Google Shape;281;p10"/>
          <p:cNvSpPr txBox="1"/>
          <p:nvPr/>
        </p:nvSpPr>
        <p:spPr>
          <a:xfrm>
            <a:off x="896112" y="202996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OBJETIVO 1</a:t>
            </a:r>
            <a:endParaRPr/>
          </a:p>
        </p:txBody>
      </p:sp>
      <p:sp>
        <p:nvSpPr>
          <p:cNvPr id="282" name="Google Shape;282;p10"/>
          <p:cNvSpPr txBox="1"/>
          <p:nvPr/>
        </p:nvSpPr>
        <p:spPr>
          <a:xfrm>
            <a:off x="896112" y="2304288"/>
            <a:ext cx="2276856" cy="24231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Centralizar matrícula, pagos y asistencia — 21 colecciones de datos operativas documentadas.</a:t>
            </a:r>
            <a:endParaRPr/>
          </a:p>
        </p:txBody>
      </p:sp>
      <p:sp>
        <p:nvSpPr>
          <p:cNvPr id="283" name="Google Shape;283;p10"/>
          <p:cNvSpPr/>
          <p:nvPr/>
        </p:nvSpPr>
        <p:spPr>
          <a:xfrm>
            <a:off x="3502152" y="1920240"/>
            <a:ext cx="2606040" cy="29260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4" name="Google Shape;284;p10"/>
          <p:cNvSpPr/>
          <p:nvPr/>
        </p:nvSpPr>
        <p:spPr>
          <a:xfrm>
            <a:off x="3502152" y="1920240"/>
            <a:ext cx="54864" cy="29260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5" name="Google Shape;285;p10"/>
          <p:cNvSpPr txBox="1"/>
          <p:nvPr/>
        </p:nvSpPr>
        <p:spPr>
          <a:xfrm>
            <a:off x="3666744" y="202996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OBJETIVO 2</a:t>
            </a:r>
            <a:endParaRPr/>
          </a:p>
        </p:txBody>
      </p:sp>
      <p:sp>
        <p:nvSpPr>
          <p:cNvPr id="286" name="Google Shape;286;p10"/>
          <p:cNvSpPr txBox="1"/>
          <p:nvPr/>
        </p:nvSpPr>
        <p:spPr>
          <a:xfrm>
            <a:off x="3666744" y="2304288"/>
            <a:ext cx="2276856" cy="24231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4 portales por rol + consulta pública para padres — rutas protegidas verificables en el código.</a:t>
            </a:r>
            <a:endParaRPr/>
          </a:p>
        </p:txBody>
      </p:sp>
      <p:sp>
        <p:nvSpPr>
          <p:cNvPr id="287" name="Google Shape;287;p10"/>
          <p:cNvSpPr/>
          <p:nvPr/>
        </p:nvSpPr>
        <p:spPr>
          <a:xfrm>
            <a:off x="6272784" y="1920240"/>
            <a:ext cx="2606040" cy="29260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8" name="Google Shape;288;p10"/>
          <p:cNvSpPr/>
          <p:nvPr/>
        </p:nvSpPr>
        <p:spPr>
          <a:xfrm>
            <a:off x="6272784" y="1920240"/>
            <a:ext cx="54864" cy="29260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9" name="Google Shape;289;p10"/>
          <p:cNvSpPr txBox="1"/>
          <p:nvPr/>
        </p:nvSpPr>
        <p:spPr>
          <a:xfrm>
            <a:off x="6437376" y="202996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OBJETIVO 3</a:t>
            </a:r>
            <a:endParaRPr/>
          </a:p>
        </p:txBody>
      </p:sp>
      <p:sp>
        <p:nvSpPr>
          <p:cNvPr id="290" name="Google Shape;290;p10"/>
          <p:cNvSpPr txBox="1"/>
          <p:nvPr/>
        </p:nvSpPr>
        <p:spPr>
          <a:xfrm>
            <a:off x="6437376" y="2304288"/>
            <a:ext cx="2276856" cy="24231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Asistencia por código QR — tokens y registros con trazabilidad real.</a:t>
            </a:r>
            <a:endParaRPr/>
          </a:p>
        </p:txBody>
      </p:sp>
      <p:sp>
        <p:nvSpPr>
          <p:cNvPr id="291" name="Google Shape;291;p10"/>
          <p:cNvSpPr/>
          <p:nvPr/>
        </p:nvSpPr>
        <p:spPr>
          <a:xfrm>
            <a:off x="9043416" y="1920240"/>
            <a:ext cx="2606040" cy="29260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2" name="Google Shape;292;p10"/>
          <p:cNvSpPr txBox="1"/>
          <p:nvPr/>
        </p:nvSpPr>
        <p:spPr>
          <a:xfrm>
            <a:off x="9208008" y="202996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BENEFICIO ESPERADO</a:t>
            </a:r>
            <a:endParaRPr/>
          </a:p>
        </p:txBody>
      </p:sp>
      <p:sp>
        <p:nvSpPr>
          <p:cNvPr id="293" name="Google Shape;293;p10"/>
          <p:cNvSpPr txBox="1"/>
          <p:nvPr/>
        </p:nvSpPr>
        <p:spPr>
          <a:xfrm>
            <a:off x="9208008" y="2304288"/>
            <a:ext cx="2276856" cy="24231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Menos horas administrativas perdidas, menor riesgo de error en cobros, más confianza de los padres.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298" name="Shape 298"/>
        <p:cNvGrpSpPr/>
        <p:nvPr/>
      </p:nvGrpSpPr>
      <p:grpSpPr>
        <a:xfrm>
          <a:off x="0" y="0"/>
          <a:ext cx="0" cy="0"/>
          <a:chOff x="0" y="0"/>
          <a:chExt cx="0" cy="0"/>
        </a:xfrm>
      </p:grpSpPr>
      <p:sp>
        <p:nvSpPr>
          <p:cNvPr id="299" name="Google Shape;299;p11"/>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E2 · 2.2 ANÁLISIS DE ALTERNATIVAS</a:t>
            </a:r>
            <a:endParaRPr/>
          </a:p>
        </p:txBody>
      </p:sp>
      <p:sp>
        <p:nvSpPr>
          <p:cNvPr id="300" name="Google Shape;300;p11"/>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Por qué no un Excel, por qué no un SaaS genérico</a:t>
            </a:r>
            <a:endParaRPr/>
          </a:p>
        </p:txBody>
      </p:sp>
      <p:sp>
        <p:nvSpPr>
          <p:cNvPr id="301" name="Google Shape;301;p11"/>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2" name="Google Shape;302;p11"/>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Denilson Leeke Mamani Flores   ·   ⏱ 50s</a:t>
            </a:r>
            <a:endParaRPr/>
          </a:p>
        </p:txBody>
      </p:sp>
      <p:sp>
        <p:nvSpPr>
          <p:cNvPr id="303" name="Google Shape;303;p11"/>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10 / 22</a:t>
            </a:r>
            <a:endParaRPr/>
          </a:p>
        </p:txBody>
      </p:sp>
      <p:graphicFrame>
        <p:nvGraphicFramePr>
          <p:cNvPr id="304" name="Google Shape;304;p11"/>
          <p:cNvGraphicFramePr/>
          <p:nvPr/>
        </p:nvGraphicFramePr>
        <p:xfrm>
          <a:off x="731520" y="1965960"/>
          <a:ext cx="3000000" cy="3000000"/>
        </p:xfrm>
        <a:graphic>
          <a:graphicData uri="http://schemas.openxmlformats.org/drawingml/2006/table">
            <a:tbl>
              <a:tblPr bandRow="1" firstRow="1">
                <a:noFill/>
                <a:tableStyleId>{3B3AA868-564C-44F6-85B7-51580B655D98}</a:tableStyleId>
              </a:tblPr>
              <a:tblGrid>
                <a:gridCol w="5212075"/>
                <a:gridCol w="1828800"/>
                <a:gridCol w="1828800"/>
                <a:gridCol w="1828800"/>
              </a:tblGrid>
              <a:tr h="472450">
                <a:tc>
                  <a:txBody>
                    <a:bodyPr/>
                    <a:lstStyle/>
                    <a:p>
                      <a:pPr indent="0" lvl="0" marL="0" marR="0" rtl="0" algn="l">
                        <a:spcBef>
                          <a:spcPts val="0"/>
                        </a:spcBef>
                        <a:spcAft>
                          <a:spcPts val="0"/>
                        </a:spcAft>
                        <a:buNone/>
                      </a:pPr>
                      <a:r>
                        <a:rPr b="1" lang="en-US" sz="1100" u="none" cap="none" strike="noStrike">
                          <a:solidFill>
                            <a:srgbClr val="FFFFFF"/>
                          </a:solidFill>
                          <a:latin typeface="Quattrocento Sans"/>
                          <a:ea typeface="Quattrocento Sans"/>
                          <a:cs typeface="Quattrocento Sans"/>
                          <a:sym typeface="Quattrocento Sans"/>
                        </a:rPr>
                        <a:t>Criterio (escala 1–5)</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00" u="none" cap="none" strike="noStrike">
                          <a:solidFill>
                            <a:srgbClr val="FFFFFF"/>
                          </a:solidFill>
                          <a:latin typeface="Quattrocento Sans"/>
                          <a:ea typeface="Quattrocento Sans"/>
                          <a:cs typeface="Quattrocento Sans"/>
                          <a:sym typeface="Quattrocento Sans"/>
                        </a:rPr>
                        <a:t>A. Manual</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00" u="none" cap="none" strike="noStrike">
                          <a:solidFill>
                            <a:srgbClr val="FFFFFF"/>
                          </a:solidFill>
                          <a:latin typeface="Quattrocento Sans"/>
                          <a:ea typeface="Quattrocento Sans"/>
                          <a:cs typeface="Quattrocento Sans"/>
                          <a:sym typeface="Quattrocento Sans"/>
                        </a:rPr>
                        <a:t>B. SaaS de terceros</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00" u="none" cap="none" strike="noStrike">
                          <a:solidFill>
                            <a:srgbClr val="1B2559"/>
                          </a:solidFill>
                          <a:latin typeface="Quattrocento Sans"/>
                          <a:ea typeface="Quattrocento Sans"/>
                          <a:cs typeface="Quattrocento Sans"/>
                          <a:sym typeface="Quattrocento Sans"/>
                        </a:rPr>
                        <a:t>C. Plataforma propia</a:t>
                      </a:r>
                      <a:endParaRPr/>
                    </a:p>
                  </a:txBody>
                  <a:tcPr marT="50800" marB="50800" marR="76200" marL="76200" anchor="ctr">
                    <a:solidFill>
                      <a:srgbClr val="DDE3FB"/>
                    </a:solidFill>
                  </a:tcPr>
                </a:tc>
              </a:tr>
              <a:tr h="472450">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Costo total a 3 años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2</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2</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4</a:t>
                      </a:r>
                      <a:endParaRPr/>
                    </a:p>
                  </a:txBody>
                  <a:tcPr marT="50800" marB="50800" marR="76200" marL="76200" anchor="ctr">
                    <a:solidFill>
                      <a:srgbClr val="DDE3FB"/>
                    </a:solidFill>
                  </a:tcPr>
                </a:tc>
              </a:tr>
              <a:tr h="472450">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Ajuste al flujo real de CERMAT</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1</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2</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5</a:t>
                      </a:r>
                      <a:endParaRPr/>
                    </a:p>
                  </a:txBody>
                  <a:tcPr marT="50800" marB="50800" marR="76200" marL="76200" anchor="ctr">
                    <a:solidFill>
                      <a:srgbClr val="DDE3FB"/>
                    </a:solidFill>
                  </a:tcPr>
                </a:tc>
              </a:tr>
              <a:tr h="472450">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Control y propiedad de los datos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3</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2</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5</a:t>
                      </a:r>
                      <a:endParaRPr/>
                    </a:p>
                  </a:txBody>
                  <a:tcPr marT="50800" marB="50800" marR="76200" marL="76200" anchor="ctr">
                    <a:solidFill>
                      <a:srgbClr val="DDE3FB"/>
                    </a:solidFill>
                  </a:tcPr>
                </a:tc>
              </a:tr>
              <a:tr h="472450">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Velocidad de evolución futura</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1</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2</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4</a:t>
                      </a:r>
                      <a:endParaRPr/>
                    </a:p>
                  </a:txBody>
                  <a:tcPr marT="50800" marB="50800" marR="76200" marL="76200" anchor="ctr">
                    <a:solidFill>
                      <a:srgbClr val="DDE3FB"/>
                    </a:solidFill>
                  </a:tcPr>
                </a:tc>
              </a:tr>
              <a:tr h="472450">
                <a:tc>
                  <a:txBody>
                    <a:bodyPr/>
                    <a:lstStyle/>
                    <a:p>
                      <a:pPr indent="0" lvl="0" marL="0" marR="0" rtl="0" algn="l">
                        <a:spcBef>
                          <a:spcPts val="0"/>
                        </a:spcBef>
                        <a:spcAft>
                          <a:spcPts val="0"/>
                        </a:spcAft>
                        <a:buNone/>
                      </a:pPr>
                      <a:r>
                        <a:rPr b="1" lang="en-US" sz="1150" u="none" cap="none" strike="noStrike">
                          <a:solidFill>
                            <a:srgbClr val="1B2559"/>
                          </a:solidFill>
                          <a:latin typeface="Quattrocento Sans"/>
                          <a:ea typeface="Quattrocento Sans"/>
                          <a:cs typeface="Quattrocento Sans"/>
                          <a:sym typeface="Quattrocento Sans"/>
                        </a:rPr>
                        <a:t>Total</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1" lang="en-US" sz="1150" u="none" cap="none" strike="noStrike">
                          <a:solidFill>
                            <a:srgbClr val="1B2559"/>
                          </a:solidFill>
                          <a:latin typeface="Quattrocento Sans"/>
                          <a:ea typeface="Quattrocento Sans"/>
                          <a:cs typeface="Quattrocento Sans"/>
                          <a:sym typeface="Quattrocento Sans"/>
                        </a:rPr>
                        <a:t>7</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1" lang="en-US" sz="1150" u="none" cap="none" strike="noStrike">
                          <a:solidFill>
                            <a:srgbClr val="1B2559"/>
                          </a:solidFill>
                          <a:latin typeface="Quattrocento Sans"/>
                          <a:ea typeface="Quattrocento Sans"/>
                          <a:cs typeface="Quattrocento Sans"/>
                          <a:sym typeface="Quattrocento Sans"/>
                        </a:rPr>
                        <a:t>8</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1" lang="en-US" sz="1150" u="none" cap="none" strike="noStrike">
                          <a:solidFill>
                            <a:srgbClr val="1B2559"/>
                          </a:solidFill>
                          <a:latin typeface="Quattrocento Sans"/>
                          <a:ea typeface="Quattrocento Sans"/>
                          <a:cs typeface="Quattrocento Sans"/>
                          <a:sym typeface="Quattrocento Sans"/>
                        </a:rPr>
                        <a:t>18</a:t>
                      </a:r>
                      <a:endParaRPr/>
                    </a:p>
                  </a:txBody>
                  <a:tcPr marT="50800" marB="50800" marR="76200" marL="76200" anchor="ctr">
                    <a:solidFill>
                      <a:srgbClr val="DDE3FB"/>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309" name="Shape 309"/>
        <p:cNvGrpSpPr/>
        <p:nvPr/>
      </p:nvGrpSpPr>
      <p:grpSpPr>
        <a:xfrm>
          <a:off x="0" y="0"/>
          <a:ext cx="0" cy="0"/>
          <a:chOff x="0" y="0"/>
          <a:chExt cx="0" cy="0"/>
        </a:xfrm>
      </p:grpSpPr>
      <p:sp>
        <p:nvSpPr>
          <p:cNvPr id="310" name="Google Shape;310;p12"/>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E2 · 2.4 ESTIMACIÓN DE COSTOS</a:t>
            </a:r>
            <a:endParaRPr/>
          </a:p>
        </p:txBody>
      </p:sp>
      <p:sp>
        <p:nvSpPr>
          <p:cNvPr id="311" name="Google Shape;311;p12"/>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Sin licencias recurrentes, con costo operativo variable</a:t>
            </a:r>
            <a:endParaRPr/>
          </a:p>
        </p:txBody>
      </p:sp>
      <p:sp>
        <p:nvSpPr>
          <p:cNvPr id="312" name="Google Shape;312;p12"/>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3" name="Google Shape;313;p12"/>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Denilson Leeke Mamani Flores   ·   ⏱ 40s</a:t>
            </a:r>
            <a:endParaRPr/>
          </a:p>
        </p:txBody>
      </p:sp>
      <p:sp>
        <p:nvSpPr>
          <p:cNvPr id="314" name="Google Shape;314;p12"/>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11 / 22</a:t>
            </a:r>
            <a:endParaRPr/>
          </a:p>
        </p:txBody>
      </p:sp>
      <p:sp>
        <p:nvSpPr>
          <p:cNvPr id="315" name="Google Shape;315;p12"/>
          <p:cNvSpPr/>
          <p:nvPr/>
        </p:nvSpPr>
        <p:spPr>
          <a:xfrm>
            <a:off x="731520" y="1920240"/>
            <a:ext cx="512064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6" name="Google Shape;316;p12"/>
          <p:cNvSpPr txBox="1"/>
          <p:nvPr/>
        </p:nvSpPr>
        <p:spPr>
          <a:xfrm>
            <a:off x="896112" y="20299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INVERSIÓN INICIAL</a:t>
            </a:r>
            <a:endParaRPr/>
          </a:p>
        </p:txBody>
      </p:sp>
      <p:sp>
        <p:nvSpPr>
          <p:cNvPr id="317" name="Google Shape;317;p12"/>
          <p:cNvSpPr txBox="1"/>
          <p:nvPr/>
        </p:nvSpPr>
        <p:spPr>
          <a:xfrm>
            <a:off x="896112" y="2304288"/>
            <a:ext cx="479145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Horas de desarrollo del equipo propio, stack de código abierto (React, Node.js, MySQL, Python) — sin licencias.</a:t>
            </a:r>
            <a:endParaRPr/>
          </a:p>
        </p:txBody>
      </p:sp>
      <p:sp>
        <p:nvSpPr>
          <p:cNvPr id="318" name="Google Shape;318;p12"/>
          <p:cNvSpPr/>
          <p:nvPr/>
        </p:nvSpPr>
        <p:spPr>
          <a:xfrm>
            <a:off x="6035040" y="1920240"/>
            <a:ext cx="539496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9" name="Google Shape;319;p12"/>
          <p:cNvSpPr txBox="1"/>
          <p:nvPr/>
        </p:nvSpPr>
        <p:spPr>
          <a:xfrm>
            <a:off x="6199632" y="20299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COSTOS RECURRENTES</a:t>
            </a:r>
            <a:endParaRPr/>
          </a:p>
        </p:txBody>
      </p:sp>
      <p:sp>
        <p:nvSpPr>
          <p:cNvPr id="320" name="Google Shape;320;p12"/>
          <p:cNvSpPr txBox="1"/>
          <p:nvPr/>
        </p:nvSpPr>
        <p:spPr>
          <a:xfrm>
            <a:off x="6199632" y="2304288"/>
            <a:ext cx="506577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Plan de Firebase según uso (Firestore/Storage/Auth), dominio y hosting de la SPA.</a:t>
            </a:r>
            <a:endParaRPr/>
          </a:p>
        </p:txBody>
      </p:sp>
      <p:sp>
        <p:nvSpPr>
          <p:cNvPr id="321" name="Google Shape;321;p12"/>
          <p:cNvSpPr/>
          <p:nvPr/>
        </p:nvSpPr>
        <p:spPr>
          <a:xfrm>
            <a:off x="731520" y="3520440"/>
            <a:ext cx="512064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2" name="Google Shape;322;p12"/>
          <p:cNvSpPr txBox="1"/>
          <p:nvPr/>
        </p:nvSpPr>
        <p:spPr>
          <a:xfrm>
            <a:off x="896112" y="36301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MANTENIMIENTO</a:t>
            </a:r>
            <a:endParaRPr/>
          </a:p>
        </p:txBody>
      </p:sp>
      <p:sp>
        <p:nvSpPr>
          <p:cNvPr id="323" name="Google Shape;323;p12"/>
          <p:cNvSpPr txBox="1"/>
          <p:nvPr/>
        </p:nvSpPr>
        <p:spPr>
          <a:xfrm>
            <a:off x="896112" y="3904488"/>
            <a:ext cx="479145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Horas de soporte y evolución — más de 90 documentos de fase y auditoría respaldan ese trabajo continuo.</a:t>
            </a:r>
            <a:endParaRPr/>
          </a:p>
        </p:txBody>
      </p:sp>
      <p:sp>
        <p:nvSpPr>
          <p:cNvPr id="324" name="Google Shape;324;p12"/>
          <p:cNvSpPr/>
          <p:nvPr/>
        </p:nvSpPr>
        <p:spPr>
          <a:xfrm>
            <a:off x="6035040" y="3520440"/>
            <a:ext cx="539496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5" name="Google Shape;325;p12"/>
          <p:cNvSpPr txBox="1"/>
          <p:nvPr/>
        </p:nvSpPr>
        <p:spPr>
          <a:xfrm>
            <a:off x="6199632" y="36301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CAPA LOCAL</a:t>
            </a:r>
            <a:endParaRPr/>
          </a:p>
        </p:txBody>
      </p:sp>
      <p:sp>
        <p:nvSpPr>
          <p:cNvPr id="326" name="Google Shape;326;p12"/>
          <p:cNvSpPr txBox="1"/>
          <p:nvPr/>
        </p:nvSpPr>
        <p:spPr>
          <a:xfrm>
            <a:off x="6199632" y="3904488"/>
            <a:ext cx="506577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Servidor local, UPS y conectividad de respaldo, dimensionados en la línea de Infraestructura.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331" name="Shape 331"/>
        <p:cNvGrpSpPr/>
        <p:nvPr/>
      </p:nvGrpSpPr>
      <p:grpSpPr>
        <a:xfrm>
          <a:off x="0" y="0"/>
          <a:ext cx="0" cy="0"/>
          <a:chOff x="0" y="0"/>
          <a:chExt cx="0" cy="0"/>
        </a:xfrm>
      </p:grpSpPr>
      <p:sp>
        <p:nvSpPr>
          <p:cNvPr id="332" name="Google Shape;332;p13"/>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E2 · 2.5 RIESGOS INICIALES</a:t>
            </a:r>
            <a:endParaRPr/>
          </a:p>
        </p:txBody>
      </p:sp>
      <p:sp>
        <p:nvSpPr>
          <p:cNvPr id="333" name="Google Shape;333;p13"/>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Riesgos identificados desde el negocio, no solo desde la técnica</a:t>
            </a:r>
            <a:endParaRPr/>
          </a:p>
        </p:txBody>
      </p:sp>
      <p:sp>
        <p:nvSpPr>
          <p:cNvPr id="334" name="Google Shape;334;p13"/>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5" name="Google Shape;335;p13"/>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Denilson Leeke Mamani Flores   ·   ⏱ 35s</a:t>
            </a:r>
            <a:endParaRPr/>
          </a:p>
        </p:txBody>
      </p:sp>
      <p:sp>
        <p:nvSpPr>
          <p:cNvPr id="336" name="Google Shape;336;p13"/>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12 / 22</a:t>
            </a:r>
            <a:endParaRPr/>
          </a:p>
        </p:txBody>
      </p:sp>
      <p:graphicFrame>
        <p:nvGraphicFramePr>
          <p:cNvPr id="337" name="Google Shape;337;p13"/>
          <p:cNvGraphicFramePr/>
          <p:nvPr/>
        </p:nvGraphicFramePr>
        <p:xfrm>
          <a:off x="731520" y="1965960"/>
          <a:ext cx="3000000" cy="3000000"/>
        </p:xfrm>
        <a:graphic>
          <a:graphicData uri="http://schemas.openxmlformats.org/drawingml/2006/table">
            <a:tbl>
              <a:tblPr bandRow="1" firstRow="1">
                <a:noFill/>
                <a:tableStyleId>{3B3AA868-564C-44F6-85B7-51580B655D98}</a:tableStyleId>
              </a:tblPr>
              <a:tblGrid>
                <a:gridCol w="4114800"/>
                <a:gridCol w="6583675"/>
              </a:tblGrid>
              <a:tr h="777250">
                <a:tc>
                  <a:txBody>
                    <a:bodyPr/>
                    <a:lstStyle/>
                    <a:p>
                      <a:pPr indent="0" lvl="0" marL="0" marR="0" rtl="0" algn="l">
                        <a:spcBef>
                          <a:spcPts val="0"/>
                        </a:spcBef>
                        <a:spcAft>
                          <a:spcPts val="0"/>
                        </a:spcAft>
                        <a:buNone/>
                      </a:pPr>
                      <a:r>
                        <a:rPr b="1" lang="en-US" sz="1200" u="none" cap="none" strike="noStrike">
                          <a:solidFill>
                            <a:srgbClr val="FFFFFF"/>
                          </a:solidFill>
                          <a:latin typeface="Quattrocento Sans"/>
                          <a:ea typeface="Quattrocento Sans"/>
                          <a:cs typeface="Quattrocento Sans"/>
                          <a:sym typeface="Quattrocento Sans"/>
                        </a:rPr>
                        <a:t>Riesgo</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200" u="none" cap="none" strike="noStrike">
                          <a:solidFill>
                            <a:srgbClr val="FFFFFF"/>
                          </a:solidFill>
                          <a:latin typeface="Quattrocento Sans"/>
                          <a:ea typeface="Quattrocento Sans"/>
                          <a:cs typeface="Quattrocento Sans"/>
                          <a:sym typeface="Quattrocento Sans"/>
                        </a:rPr>
                        <a:t>Impacto preliminar</a:t>
                      </a:r>
                      <a:endParaRPr/>
                    </a:p>
                  </a:txBody>
                  <a:tcPr marT="50800" marB="50800" marR="76200" marL="76200" anchor="ctr">
                    <a:solidFill>
                      <a:srgbClr val="1B2559"/>
                    </a:solidFill>
                  </a:tcPr>
                </a:tc>
              </a:tr>
              <a:tr h="777250">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Dependencia de un equipo técnico reducido</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Medio-alto — mitigado documentando el sistema exhaustivamente (este perfil de egreso).</a:t>
                      </a:r>
                      <a:endParaRPr/>
                    </a:p>
                  </a:txBody>
                  <a:tcPr marT="50800" marB="50800" marR="76200" marL="76200" anchor="ctr">
                    <a:solidFill>
                      <a:srgbClr val="FFFFFF"/>
                    </a:solidFill>
                  </a:tcPr>
                </a:tc>
              </a:tr>
              <a:tr h="777250">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Cambios regulatorios de protección de datos de menores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Medio — mitigado con las políticas de la línea de Infraestructura (CE0321).</a:t>
                      </a:r>
                      <a:endParaRPr/>
                    </a:p>
                  </a:txBody>
                  <a:tcPr marT="50800" marB="50800" marR="76200" marL="76200" anchor="ctr">
                    <a:solidFill>
                      <a:srgbClr val="FFFFFF"/>
                    </a:solidFill>
                  </a:tcPr>
                </a:tc>
              </a:tr>
              <a:tr h="777250">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Resistencia al cambio del personal</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50" u="none" cap="none" strike="noStrike">
                          <a:solidFill>
                            <a:srgbClr val="1B2559"/>
                          </a:solidFill>
                          <a:latin typeface="Quattrocento Sans"/>
                          <a:ea typeface="Quattrocento Sans"/>
                          <a:cs typeface="Quattrocento Sans"/>
                          <a:sym typeface="Quattrocento Sans"/>
                        </a:rPr>
                        <a:t>Bajo-medio — mitigado por la simplicidad de los portales por rol.</a:t>
                      </a:r>
                      <a:endParaRPr/>
                    </a:p>
                  </a:txBody>
                  <a:tcPr marT="50800" marB="50800" marR="76200" marL="7620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341" name="Shape 341"/>
        <p:cNvGrpSpPr/>
        <p:nvPr/>
      </p:nvGrpSpPr>
      <p:grpSpPr>
        <a:xfrm>
          <a:off x="0" y="0"/>
          <a:ext cx="0" cy="0"/>
          <a:chOff x="0" y="0"/>
          <a:chExt cx="0" cy="0"/>
        </a:xfrm>
      </p:grpSpPr>
      <p:sp>
        <p:nvSpPr>
          <p:cNvPr id="342" name="Google Shape;342;p14"/>
          <p:cNvSpPr txBox="1"/>
          <p:nvPr/>
        </p:nvSpPr>
        <p:spPr>
          <a:xfrm>
            <a:off x="731520" y="1828800"/>
            <a:ext cx="8229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ENTREGABLE 03</a:t>
            </a:r>
            <a:endParaRPr/>
          </a:p>
        </p:txBody>
      </p:sp>
      <p:sp>
        <p:nvSpPr>
          <p:cNvPr id="343" name="Google Shape;343;p14"/>
          <p:cNvSpPr txBox="1"/>
          <p:nvPr/>
        </p:nvSpPr>
        <p:spPr>
          <a:xfrm>
            <a:off x="731520" y="2331720"/>
            <a:ext cx="7863840" cy="14630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3200" u="none" cap="none" strike="noStrike">
                <a:solidFill>
                  <a:srgbClr val="FFFFFF"/>
                </a:solidFill>
                <a:latin typeface="Quattrocento Sans"/>
                <a:ea typeface="Quattrocento Sans"/>
                <a:cs typeface="Quattrocento Sans"/>
                <a:sym typeface="Quattrocento Sans"/>
              </a:rPr>
              <a:t>Plan de Gestión del Proyecto</a:t>
            </a:r>
            <a:endParaRPr/>
          </a:p>
        </p:txBody>
      </p:sp>
      <p:sp>
        <p:nvSpPr>
          <p:cNvPr id="344" name="Google Shape;344;p14"/>
          <p:cNvSpPr txBox="1"/>
          <p:nvPr/>
        </p:nvSpPr>
        <p:spPr>
          <a:xfrm>
            <a:off x="731520" y="3794760"/>
            <a:ext cx="786384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9AA4DE"/>
                </a:solidFill>
                <a:latin typeface="Quattrocento Sans"/>
                <a:ea typeface="Quattrocento Sans"/>
                <a:cs typeface="Quattrocento Sans"/>
                <a:sym typeface="Quattrocento Sans"/>
              </a:rPr>
              <a:t>Acta de constitución · alcance (EDT) · cronograma · costos · riesgos · enfoque ágil</a:t>
            </a:r>
            <a:endParaRPr/>
          </a:p>
        </p:txBody>
      </p:sp>
      <p:sp>
        <p:nvSpPr>
          <p:cNvPr id="345" name="Google Shape;345;p14"/>
          <p:cNvSpPr/>
          <p:nvPr/>
        </p:nvSpPr>
        <p:spPr>
          <a:xfrm>
            <a:off x="731520" y="4434840"/>
            <a:ext cx="2926080" cy="12700"/>
          </a:xfrm>
          <a:prstGeom prst="rect">
            <a:avLst/>
          </a:prstGeom>
          <a:solidFill>
            <a:srgbClr val="333C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6" name="Google Shape;346;p14"/>
          <p:cNvSpPr txBox="1"/>
          <p:nvPr/>
        </p:nvSpPr>
        <p:spPr>
          <a:xfrm>
            <a:off x="731520" y="4617720"/>
            <a:ext cx="3657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EXPONE</a:t>
            </a:r>
            <a:endParaRPr/>
          </a:p>
        </p:txBody>
      </p:sp>
      <p:sp>
        <p:nvSpPr>
          <p:cNvPr id="347" name="Google Shape;347;p14"/>
          <p:cNvSpPr txBox="1"/>
          <p:nvPr/>
        </p:nvSpPr>
        <p:spPr>
          <a:xfrm>
            <a:off x="731520" y="4892040"/>
            <a:ext cx="4572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Cárdenas Vilca Rennzo</a:t>
            </a:r>
            <a:endParaRPr/>
          </a:p>
        </p:txBody>
      </p:sp>
      <p:sp>
        <p:nvSpPr>
          <p:cNvPr id="348" name="Google Shape;348;p14"/>
          <p:cNvSpPr txBox="1"/>
          <p:nvPr/>
        </p:nvSpPr>
        <p:spPr>
          <a:xfrm>
            <a:off x="5669280" y="4617720"/>
            <a:ext cx="2743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TIEMPO ASIGNADO</a:t>
            </a:r>
            <a:endParaRPr/>
          </a:p>
        </p:txBody>
      </p:sp>
      <p:sp>
        <p:nvSpPr>
          <p:cNvPr id="349" name="Google Shape;349;p14"/>
          <p:cNvSpPr txBox="1"/>
          <p:nvPr/>
        </p:nvSpPr>
        <p:spPr>
          <a:xfrm>
            <a:off x="5669280" y="4892040"/>
            <a:ext cx="27432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3:15</a:t>
            </a:r>
            <a:endParaRPr/>
          </a:p>
        </p:txBody>
      </p:sp>
      <p:sp>
        <p:nvSpPr>
          <p:cNvPr id="350" name="Google Shape;350;p14"/>
          <p:cNvSpPr txBox="1"/>
          <p:nvPr/>
        </p:nvSpPr>
        <p:spPr>
          <a:xfrm>
            <a:off x="9326880" y="1463040"/>
            <a:ext cx="2377440" cy="2743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4000" u="none" cap="none" strike="noStrike">
                <a:solidFill>
                  <a:srgbClr val="2C3576"/>
                </a:solidFill>
                <a:latin typeface="Georgia"/>
                <a:ea typeface="Georgia"/>
                <a:cs typeface="Georgia"/>
                <a:sym typeface="Georgia"/>
              </a:rPr>
              <a:t>03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355" name="Shape 355"/>
        <p:cNvGrpSpPr/>
        <p:nvPr/>
      </p:nvGrpSpPr>
      <p:grpSpPr>
        <a:xfrm>
          <a:off x="0" y="0"/>
          <a:ext cx="0" cy="0"/>
          <a:chOff x="0" y="0"/>
          <a:chExt cx="0" cy="0"/>
        </a:xfrm>
      </p:grpSpPr>
      <p:sp>
        <p:nvSpPr>
          <p:cNvPr id="356" name="Google Shape;356;p15"/>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E3 · 3.1 ACTA DE CONSTITUCIÓN</a:t>
            </a:r>
            <a:endParaRPr/>
          </a:p>
        </p:txBody>
      </p:sp>
      <p:sp>
        <p:nvSpPr>
          <p:cNvPr id="357" name="Google Shape;357;p15"/>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Quién lo pidió, qué se prometió, qué quedó fuera</a:t>
            </a:r>
            <a:endParaRPr/>
          </a:p>
        </p:txBody>
      </p:sp>
      <p:sp>
        <p:nvSpPr>
          <p:cNvPr id="358" name="Google Shape;358;p15"/>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9" name="Google Shape;359;p15"/>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Cárdenas Vilca Rennzo   ·   ⏱ 40s</a:t>
            </a:r>
            <a:endParaRPr/>
          </a:p>
        </p:txBody>
      </p:sp>
      <p:sp>
        <p:nvSpPr>
          <p:cNvPr id="360" name="Google Shape;360;p15"/>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14 / 22</a:t>
            </a:r>
            <a:endParaRPr/>
          </a:p>
        </p:txBody>
      </p:sp>
      <p:sp>
        <p:nvSpPr>
          <p:cNvPr id="361" name="Google Shape;361;p15"/>
          <p:cNvSpPr/>
          <p:nvPr/>
        </p:nvSpPr>
        <p:spPr>
          <a:xfrm>
            <a:off x="731520" y="1920240"/>
            <a:ext cx="512064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2" name="Google Shape;362;p15"/>
          <p:cNvSpPr txBox="1"/>
          <p:nvPr/>
        </p:nvSpPr>
        <p:spPr>
          <a:xfrm>
            <a:off x="896112" y="20299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SPONSOR</a:t>
            </a:r>
            <a:endParaRPr/>
          </a:p>
        </p:txBody>
      </p:sp>
      <p:sp>
        <p:nvSpPr>
          <p:cNvPr id="363" name="Google Shape;363;p15"/>
          <p:cNvSpPr txBox="1"/>
          <p:nvPr/>
        </p:nvSpPr>
        <p:spPr>
          <a:xfrm>
            <a:off x="896112" y="2304288"/>
            <a:ext cx="479145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Dirección de Academia La Prepa Cermat.</a:t>
            </a:r>
            <a:endParaRPr/>
          </a:p>
        </p:txBody>
      </p:sp>
      <p:sp>
        <p:nvSpPr>
          <p:cNvPr id="364" name="Google Shape;364;p15"/>
          <p:cNvSpPr/>
          <p:nvPr/>
        </p:nvSpPr>
        <p:spPr>
          <a:xfrm>
            <a:off x="6035040" y="1920240"/>
            <a:ext cx="539496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5" name="Google Shape;365;p15"/>
          <p:cNvSpPr txBox="1"/>
          <p:nvPr/>
        </p:nvSpPr>
        <p:spPr>
          <a:xfrm>
            <a:off x="6199632" y="20299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ALCANCE PRELIMINAR</a:t>
            </a:r>
            <a:endParaRPr/>
          </a:p>
        </p:txBody>
      </p:sp>
      <p:sp>
        <p:nvSpPr>
          <p:cNvPr id="366" name="Google Shape;366;p15"/>
          <p:cNvSpPr txBox="1"/>
          <p:nvPr/>
        </p:nvSpPr>
        <p:spPr>
          <a:xfrm>
            <a:off x="6199632" y="2304288"/>
            <a:ext cx="506577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Sitio público, matrícula, ciclos/grupos/sedes, pagos, asistencia QR, portales por rol, recursos/blog/talleres.</a:t>
            </a:r>
            <a:endParaRPr/>
          </a:p>
        </p:txBody>
      </p:sp>
      <p:sp>
        <p:nvSpPr>
          <p:cNvPr id="367" name="Google Shape;367;p15"/>
          <p:cNvSpPr/>
          <p:nvPr/>
        </p:nvSpPr>
        <p:spPr>
          <a:xfrm>
            <a:off x="731520" y="3520440"/>
            <a:ext cx="512064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8" name="Google Shape;368;p15"/>
          <p:cNvSpPr/>
          <p:nvPr/>
        </p:nvSpPr>
        <p:spPr>
          <a:xfrm>
            <a:off x="731520" y="3520440"/>
            <a:ext cx="54864" cy="141732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9" name="Google Shape;369;p15"/>
          <p:cNvSpPr txBox="1"/>
          <p:nvPr/>
        </p:nvSpPr>
        <p:spPr>
          <a:xfrm>
            <a:off x="896112" y="363016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RESTRICCIONES</a:t>
            </a:r>
            <a:endParaRPr/>
          </a:p>
        </p:txBody>
      </p:sp>
      <p:sp>
        <p:nvSpPr>
          <p:cNvPr id="370" name="Google Shape;370;p15"/>
          <p:cNvSpPr txBox="1"/>
          <p:nvPr/>
        </p:nvSpPr>
        <p:spPr>
          <a:xfrm>
            <a:off x="896112" y="3904488"/>
            <a:ext cx="479145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00" u="none" cap="none" strike="noStrike">
                <a:solidFill>
                  <a:srgbClr val="1B2559"/>
                </a:solidFill>
                <a:latin typeface="Quattrocento Sans"/>
                <a:ea typeface="Quattrocento Sans"/>
                <a:cs typeface="Quattrocento Sans"/>
                <a:sym typeface="Quattrocento Sans"/>
              </a:rPr>
              <a:t>Equipo de desarrollo reducido; sin pasarela de pagos automática ni app móvil nativa en esta fase.</a:t>
            </a:r>
            <a:endParaRPr/>
          </a:p>
        </p:txBody>
      </p:sp>
      <p:sp>
        <p:nvSpPr>
          <p:cNvPr id="371" name="Google Shape;371;p15"/>
          <p:cNvSpPr/>
          <p:nvPr/>
        </p:nvSpPr>
        <p:spPr>
          <a:xfrm>
            <a:off x="6035040" y="3520440"/>
            <a:ext cx="5394960" cy="141732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2" name="Google Shape;372;p15"/>
          <p:cNvSpPr txBox="1"/>
          <p:nvPr/>
        </p:nvSpPr>
        <p:spPr>
          <a:xfrm>
            <a:off x="6199632" y="363016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SUPUESTOS</a:t>
            </a:r>
            <a:endParaRPr/>
          </a:p>
        </p:txBody>
      </p:sp>
      <p:sp>
        <p:nvSpPr>
          <p:cNvPr id="373" name="Google Shape;373;p15"/>
          <p:cNvSpPr txBox="1"/>
          <p:nvPr/>
        </p:nvSpPr>
        <p:spPr>
          <a:xfrm>
            <a:off x="6199632" y="3904488"/>
            <a:ext cx="5065776"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Los administradores validan las reglas de negocio; Firestore es la fuente principal de datos operativos.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378" name="Shape 378"/>
        <p:cNvGrpSpPr/>
        <p:nvPr/>
      </p:nvGrpSpPr>
      <p:grpSpPr>
        <a:xfrm>
          <a:off x="0" y="0"/>
          <a:ext cx="0" cy="0"/>
          <a:chOff x="0" y="0"/>
          <a:chExt cx="0" cy="0"/>
        </a:xfrm>
      </p:grpSpPr>
      <p:sp>
        <p:nvSpPr>
          <p:cNvPr id="379" name="Google Shape;379;p16"/>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E3 · 3.2 GESTIÓN DEL ALCANCE (EDT / WBS)</a:t>
            </a:r>
            <a:endParaRPr/>
          </a:p>
        </p:txBody>
      </p:sp>
      <p:sp>
        <p:nvSpPr>
          <p:cNvPr id="380" name="Google Shape;380;p16"/>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Siete ramas de trabajo, cada una trazable a código real</a:t>
            </a:r>
            <a:endParaRPr/>
          </a:p>
        </p:txBody>
      </p:sp>
      <p:sp>
        <p:nvSpPr>
          <p:cNvPr id="381" name="Google Shape;381;p16"/>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2" name="Google Shape;382;p16"/>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Cárdenas Vilca Rennzo   ·   ⏱ 45s</a:t>
            </a:r>
            <a:endParaRPr/>
          </a:p>
        </p:txBody>
      </p:sp>
      <p:sp>
        <p:nvSpPr>
          <p:cNvPr id="383" name="Google Shape;383;p16"/>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15 / 22</a:t>
            </a:r>
            <a:endParaRPr/>
          </a:p>
        </p:txBody>
      </p:sp>
      <p:sp>
        <p:nvSpPr>
          <p:cNvPr id="384" name="Google Shape;384;p16"/>
          <p:cNvSpPr/>
          <p:nvPr/>
        </p:nvSpPr>
        <p:spPr>
          <a:xfrm>
            <a:off x="731520" y="1965960"/>
            <a:ext cx="260604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5" name="Google Shape;385;p16"/>
          <p:cNvSpPr txBox="1"/>
          <p:nvPr/>
        </p:nvSpPr>
        <p:spPr>
          <a:xfrm>
            <a:off x="896112" y="207568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16"/>
          <p:cNvSpPr txBox="1"/>
          <p:nvPr/>
        </p:nvSpPr>
        <p:spPr>
          <a:xfrm>
            <a:off x="896112" y="2350008"/>
            <a:ext cx="227685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Sitio público</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Inicio, ciclos, sedes, blog, contacto</a:t>
            </a:r>
            <a:endParaRPr/>
          </a:p>
        </p:txBody>
      </p:sp>
      <p:sp>
        <p:nvSpPr>
          <p:cNvPr id="387" name="Google Shape;387;p16"/>
          <p:cNvSpPr/>
          <p:nvPr/>
        </p:nvSpPr>
        <p:spPr>
          <a:xfrm>
            <a:off x="3502152" y="1965960"/>
            <a:ext cx="260604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8" name="Google Shape;388;p16"/>
          <p:cNvSpPr txBox="1"/>
          <p:nvPr/>
        </p:nvSpPr>
        <p:spPr>
          <a:xfrm>
            <a:off x="3666744" y="207568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16"/>
          <p:cNvSpPr txBox="1"/>
          <p:nvPr/>
        </p:nvSpPr>
        <p:spPr>
          <a:xfrm>
            <a:off x="3666744" y="2350008"/>
            <a:ext cx="227685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Gestión académica</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Ciclos, categorías, grupos, cupos, turno</a:t>
            </a:r>
            <a:endParaRPr/>
          </a:p>
        </p:txBody>
      </p:sp>
      <p:sp>
        <p:nvSpPr>
          <p:cNvPr id="390" name="Google Shape;390;p16"/>
          <p:cNvSpPr/>
          <p:nvPr/>
        </p:nvSpPr>
        <p:spPr>
          <a:xfrm>
            <a:off x="6272784" y="1965960"/>
            <a:ext cx="260604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1" name="Google Shape;391;p16"/>
          <p:cNvSpPr txBox="1"/>
          <p:nvPr/>
        </p:nvSpPr>
        <p:spPr>
          <a:xfrm>
            <a:off x="6437376" y="207568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16"/>
          <p:cNvSpPr txBox="1"/>
          <p:nvPr/>
        </p:nvSpPr>
        <p:spPr>
          <a:xfrm>
            <a:off x="6437376" y="2350008"/>
            <a:ext cx="227685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Matrícula y pagos</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Matrícula pública, estados, cuotas</a:t>
            </a:r>
            <a:endParaRPr/>
          </a:p>
        </p:txBody>
      </p:sp>
      <p:sp>
        <p:nvSpPr>
          <p:cNvPr id="393" name="Google Shape;393;p16"/>
          <p:cNvSpPr/>
          <p:nvPr/>
        </p:nvSpPr>
        <p:spPr>
          <a:xfrm>
            <a:off x="9043416" y="1965960"/>
            <a:ext cx="2606040" cy="146304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4" name="Google Shape;394;p16"/>
          <p:cNvSpPr txBox="1"/>
          <p:nvPr/>
        </p:nvSpPr>
        <p:spPr>
          <a:xfrm>
            <a:off x="9208008" y="2075688"/>
            <a:ext cx="22768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16"/>
          <p:cNvSpPr txBox="1"/>
          <p:nvPr/>
        </p:nvSpPr>
        <p:spPr>
          <a:xfrm>
            <a:off x="9208008" y="2350008"/>
            <a:ext cx="2276856" cy="96012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Usuarios y roles</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Admin, docente, estudiante, auxiliar</a:t>
            </a:r>
            <a:endParaRPr/>
          </a:p>
        </p:txBody>
      </p:sp>
      <p:sp>
        <p:nvSpPr>
          <p:cNvPr id="396" name="Google Shape;396;p16"/>
          <p:cNvSpPr/>
          <p:nvPr/>
        </p:nvSpPr>
        <p:spPr>
          <a:xfrm>
            <a:off x="731520" y="3611880"/>
            <a:ext cx="3502152" cy="13716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7" name="Google Shape;397;p16"/>
          <p:cNvSpPr txBox="1"/>
          <p:nvPr/>
        </p:nvSpPr>
        <p:spPr>
          <a:xfrm>
            <a:off x="896112" y="3721608"/>
            <a:ext cx="317296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16"/>
          <p:cNvSpPr txBox="1"/>
          <p:nvPr/>
        </p:nvSpPr>
        <p:spPr>
          <a:xfrm>
            <a:off x="896112" y="3995928"/>
            <a:ext cx="3172968"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Asistencia QR</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Tokens, registros, consulta para padres</a:t>
            </a:r>
            <a:endParaRPr/>
          </a:p>
        </p:txBody>
      </p:sp>
      <p:sp>
        <p:nvSpPr>
          <p:cNvPr id="399" name="Google Shape;399;p16"/>
          <p:cNvSpPr/>
          <p:nvPr/>
        </p:nvSpPr>
        <p:spPr>
          <a:xfrm>
            <a:off x="4398264" y="3611880"/>
            <a:ext cx="3502152" cy="13716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0" name="Google Shape;400;p16"/>
          <p:cNvSpPr txBox="1"/>
          <p:nvPr/>
        </p:nvSpPr>
        <p:spPr>
          <a:xfrm>
            <a:off x="4562856" y="3721608"/>
            <a:ext cx="317296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16"/>
          <p:cNvSpPr txBox="1"/>
          <p:nvPr/>
        </p:nvSpPr>
        <p:spPr>
          <a:xfrm>
            <a:off x="4562856" y="3995928"/>
            <a:ext cx="3172968"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Contenidos</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Recursos, blog, talleres</a:t>
            </a:r>
            <a:endParaRPr/>
          </a:p>
        </p:txBody>
      </p:sp>
      <p:sp>
        <p:nvSpPr>
          <p:cNvPr id="402" name="Google Shape;402;p16"/>
          <p:cNvSpPr/>
          <p:nvPr/>
        </p:nvSpPr>
        <p:spPr>
          <a:xfrm>
            <a:off x="8065008" y="3611880"/>
            <a:ext cx="3502152" cy="137160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3" name="Google Shape;403;p16"/>
          <p:cNvSpPr txBox="1"/>
          <p:nvPr/>
        </p:nvSpPr>
        <p:spPr>
          <a:xfrm>
            <a:off x="8229600" y="3721608"/>
            <a:ext cx="317296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4" name="Google Shape;404;p16"/>
          <p:cNvSpPr txBox="1"/>
          <p:nvPr/>
        </p:nvSpPr>
        <p:spPr>
          <a:xfrm>
            <a:off x="8229600" y="3995928"/>
            <a:ext cx="3172968" cy="8686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Infraestructura</a:t>
            </a:r>
            <a:endParaRPr/>
          </a:p>
          <a:p>
            <a:pPr indent="0" lvl="0" marL="0" marR="0" rtl="0" algn="l">
              <a:lnSpc>
                <a:spcPct val="112000"/>
              </a:lnSpc>
              <a:spcBef>
                <a:spcPts val="0"/>
              </a:spcBef>
              <a:spcAft>
                <a:spcPts val="0"/>
              </a:spcAft>
              <a:buNone/>
            </a:pPr>
            <a:r>
              <a:rPr b="0" i="0" lang="en-US" sz="1150" u="none" cap="none" strike="noStrike">
                <a:solidFill>
                  <a:srgbClr val="1B2559"/>
                </a:solidFill>
                <a:latin typeface="Quattrocento Sans"/>
                <a:ea typeface="Quattrocento Sans"/>
                <a:cs typeface="Quattrocento Sans"/>
                <a:sym typeface="Quattrocento Sans"/>
              </a:rPr>
              <a:t>Reglas Firestore, API REST, MySQL, PM2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409" name="Shape 409"/>
        <p:cNvGrpSpPr/>
        <p:nvPr/>
      </p:nvGrpSpPr>
      <p:grpSpPr>
        <a:xfrm>
          <a:off x="0" y="0"/>
          <a:ext cx="0" cy="0"/>
          <a:chOff x="0" y="0"/>
          <a:chExt cx="0" cy="0"/>
        </a:xfrm>
      </p:grpSpPr>
      <p:sp>
        <p:nvSpPr>
          <p:cNvPr id="410" name="Google Shape;410;p17"/>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E3 · 3.3 GESTIÓN DEL CRONOGRAMA</a:t>
            </a:r>
            <a:endParaRPr/>
          </a:p>
        </p:txBody>
      </p:sp>
      <p:sp>
        <p:nvSpPr>
          <p:cNvPr id="411" name="Google Shape;411;p17"/>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Ejecución iterativa por fases, documentada en el repositorio</a:t>
            </a:r>
            <a:endParaRPr/>
          </a:p>
        </p:txBody>
      </p:sp>
      <p:sp>
        <p:nvSpPr>
          <p:cNvPr id="412" name="Google Shape;412;p17"/>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3" name="Google Shape;413;p17"/>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Cárdenas Vilca Rennzo   ·   ⏱ 50s</a:t>
            </a:r>
            <a:endParaRPr/>
          </a:p>
        </p:txBody>
      </p:sp>
      <p:sp>
        <p:nvSpPr>
          <p:cNvPr id="414" name="Google Shape;414;p17"/>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16 / 22</a:t>
            </a:r>
            <a:endParaRPr/>
          </a:p>
        </p:txBody>
      </p:sp>
      <p:graphicFrame>
        <p:nvGraphicFramePr>
          <p:cNvPr id="415" name="Google Shape;415;p17"/>
          <p:cNvGraphicFramePr/>
          <p:nvPr/>
        </p:nvGraphicFramePr>
        <p:xfrm>
          <a:off x="731520" y="1920240"/>
          <a:ext cx="3000000" cy="3000000"/>
        </p:xfrm>
        <a:graphic>
          <a:graphicData uri="http://schemas.openxmlformats.org/drawingml/2006/table">
            <a:tbl>
              <a:tblPr bandRow="1" firstRow="1">
                <a:noFill/>
                <a:tableStyleId>{3B3AA868-564C-44F6-85B7-51580B655D98}</a:tableStyleId>
              </a:tblPr>
              <a:tblGrid>
                <a:gridCol w="2926075"/>
                <a:gridCol w="7772400"/>
              </a:tblGrid>
              <a:tr h="468625">
                <a:tc>
                  <a:txBody>
                    <a:bodyPr/>
                    <a:lstStyle/>
                    <a:p>
                      <a:pPr indent="0" lvl="0" marL="0" marR="0" rtl="0" algn="l">
                        <a:spcBef>
                          <a:spcPts val="0"/>
                        </a:spcBef>
                        <a:spcAft>
                          <a:spcPts val="0"/>
                        </a:spcAft>
                        <a:buNone/>
                      </a:pPr>
                      <a:r>
                        <a:rPr b="1" lang="en-US" sz="1100" u="none" cap="none" strike="noStrike">
                          <a:solidFill>
                            <a:srgbClr val="FFFFFF"/>
                          </a:solidFill>
                          <a:latin typeface="Quattrocento Sans"/>
                          <a:ea typeface="Quattrocento Sans"/>
                          <a:cs typeface="Quattrocento Sans"/>
                          <a:sym typeface="Quattrocento Sans"/>
                        </a:rPr>
                        <a:t>Hito</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00" u="none" cap="none" strike="noStrike">
                          <a:solidFill>
                            <a:srgbClr val="FFFFFF"/>
                          </a:solidFill>
                          <a:latin typeface="Quattrocento Sans"/>
                          <a:ea typeface="Quattrocento Sans"/>
                          <a:cs typeface="Quattrocento Sans"/>
                          <a:sym typeface="Quattrocento Sans"/>
                        </a:rPr>
                        <a:t>Contenido representativo</a:t>
                      </a:r>
                      <a:endParaRPr/>
                    </a:p>
                  </a:txBody>
                  <a:tcPr marT="50800" marB="50800" marR="76200" marL="76200" anchor="ctr">
                    <a:solidFill>
                      <a:srgbClr val="1B2559"/>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Fundacional</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Home público, header/navegación, hero, footer.</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Académico</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Ciclos, grupos, sedes, categorías, modalidad/turno.</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Matrícula y estados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Máquina de estados de matrícula, cupos, activación.</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Crítico / seguridad</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Reglas de Firestore, deduplicación, payload de matrícula.</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UX administrativa</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Sidebar responsivo, formularios, KPIs de matrícula/pagos.</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Calidad</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Higiene de lint, tipado seguro, auditoría global.</a:t>
                      </a:r>
                      <a:endParaRPr/>
                    </a:p>
                  </a:txBody>
                  <a:tcPr marT="50800" marB="50800" marR="76200" marL="76200" anchor="ctr">
                    <a:solidFill>
                      <a:srgbClr val="FFFFFF"/>
                    </a:solidFill>
                  </a:tcPr>
                </a:tc>
              </a:tr>
              <a:tr h="468625">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Cierre EPE</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150" u="none" cap="none" strike="noStrike">
                          <a:solidFill>
                            <a:srgbClr val="1B2559"/>
                          </a:solidFill>
                          <a:latin typeface="Quattrocento Sans"/>
                          <a:ea typeface="Quattrocento Sans"/>
                          <a:cs typeface="Quattrocento Sans"/>
                          <a:sym typeface="Quattrocento Sans"/>
                        </a:rPr>
                        <a:t>Este perfil de egreso completo.</a:t>
                      </a:r>
                      <a:endParaRPr/>
                    </a:p>
                  </a:txBody>
                  <a:tcPr marT="50800" marB="50800" marR="76200" marL="76200"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420" name="Shape 420"/>
        <p:cNvGrpSpPr/>
        <p:nvPr/>
      </p:nvGrpSpPr>
      <p:grpSpPr>
        <a:xfrm>
          <a:off x="0" y="0"/>
          <a:ext cx="0" cy="0"/>
          <a:chOff x="0" y="0"/>
          <a:chExt cx="0" cy="0"/>
        </a:xfrm>
      </p:grpSpPr>
      <p:sp>
        <p:nvSpPr>
          <p:cNvPr id="421" name="Google Shape;421;p18"/>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E3 · 3.5–3.6 RIESGOS Y ENFOQUE ÁGIL</a:t>
            </a:r>
            <a:endParaRPr/>
          </a:p>
        </p:txBody>
      </p:sp>
      <p:sp>
        <p:nvSpPr>
          <p:cNvPr id="422" name="Google Shape;422;p18"/>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Ágil iterativo por fases, no Scrum forzado</a:t>
            </a:r>
            <a:endParaRPr/>
          </a:p>
        </p:txBody>
      </p:sp>
      <p:sp>
        <p:nvSpPr>
          <p:cNvPr id="423" name="Google Shape;423;p18"/>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4" name="Google Shape;424;p18"/>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Cárdenas Vilca Rennzo   ·   ⏱ 45s</a:t>
            </a:r>
            <a:endParaRPr/>
          </a:p>
        </p:txBody>
      </p:sp>
      <p:sp>
        <p:nvSpPr>
          <p:cNvPr id="425" name="Google Shape;425;p18"/>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17 / 22</a:t>
            </a:r>
            <a:endParaRPr/>
          </a:p>
        </p:txBody>
      </p:sp>
      <p:sp>
        <p:nvSpPr>
          <p:cNvPr id="426" name="Google Shape;426;p18"/>
          <p:cNvSpPr/>
          <p:nvPr/>
        </p:nvSpPr>
        <p:spPr>
          <a:xfrm>
            <a:off x="731520" y="1965960"/>
            <a:ext cx="5120640" cy="2011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7" name="Google Shape;427;p18"/>
          <p:cNvSpPr/>
          <p:nvPr/>
        </p:nvSpPr>
        <p:spPr>
          <a:xfrm>
            <a:off x="731520" y="1965960"/>
            <a:ext cx="54864" cy="2011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8" name="Google Shape;428;p18"/>
          <p:cNvSpPr txBox="1"/>
          <p:nvPr/>
        </p:nvSpPr>
        <p:spPr>
          <a:xfrm>
            <a:off x="896112" y="2075688"/>
            <a:ext cx="47914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RIESGO PRINCIPAL</a:t>
            </a:r>
            <a:endParaRPr/>
          </a:p>
        </p:txBody>
      </p:sp>
      <p:sp>
        <p:nvSpPr>
          <p:cNvPr id="429" name="Google Shape;429;p18"/>
          <p:cNvSpPr txBox="1"/>
          <p:nvPr/>
        </p:nvSpPr>
        <p:spPr>
          <a:xfrm>
            <a:off x="896112" y="2350008"/>
            <a:ext cx="4791456" cy="15087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Regresiones al modificar reglas de seguridad de Firestore — probabilidad media, impacto alto. Se mitiga con verificación manual documentada antes de publicar.</a:t>
            </a:r>
            <a:endParaRPr/>
          </a:p>
        </p:txBody>
      </p:sp>
      <p:sp>
        <p:nvSpPr>
          <p:cNvPr id="430" name="Google Shape;430;p18"/>
          <p:cNvSpPr/>
          <p:nvPr/>
        </p:nvSpPr>
        <p:spPr>
          <a:xfrm>
            <a:off x="6035040" y="1965960"/>
            <a:ext cx="5394960" cy="2011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1" name="Google Shape;431;p18"/>
          <p:cNvSpPr txBox="1"/>
          <p:nvPr/>
        </p:nvSpPr>
        <p:spPr>
          <a:xfrm>
            <a:off x="6199632" y="2075688"/>
            <a:ext cx="506577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ENFOQUE DE TRABAJO</a:t>
            </a:r>
            <a:endParaRPr/>
          </a:p>
        </p:txBody>
      </p:sp>
      <p:sp>
        <p:nvSpPr>
          <p:cNvPr id="432" name="Google Shape;432;p18"/>
          <p:cNvSpPr txBox="1"/>
          <p:nvPr/>
        </p:nvSpPr>
        <p:spPr>
          <a:xfrm>
            <a:off x="6199632" y="2350008"/>
            <a:ext cx="5065776" cy="15087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250" u="none" cap="none" strike="noStrike">
                <a:solidFill>
                  <a:srgbClr val="1B2559"/>
                </a:solidFill>
                <a:latin typeface="Quattrocento Sans"/>
                <a:ea typeface="Quattrocento Sans"/>
                <a:cs typeface="Quattrocento Sans"/>
                <a:sym typeface="Quattrocento Sans"/>
              </a:rPr>
              <a:t>Sin sprints de calendario fijo: fases temáticas cerradas, cada una un incremento entregado y documentado antes de iniciar la siguiente.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436" name="Shape 436"/>
        <p:cNvGrpSpPr/>
        <p:nvPr/>
      </p:nvGrpSpPr>
      <p:grpSpPr>
        <a:xfrm>
          <a:off x="0" y="0"/>
          <a:ext cx="0" cy="0"/>
          <a:chOff x="0" y="0"/>
          <a:chExt cx="0" cy="0"/>
        </a:xfrm>
      </p:grpSpPr>
      <p:sp>
        <p:nvSpPr>
          <p:cNvPr id="437" name="Google Shape;437;p19"/>
          <p:cNvSpPr txBox="1"/>
          <p:nvPr/>
        </p:nvSpPr>
        <p:spPr>
          <a:xfrm>
            <a:off x="731520" y="1828800"/>
            <a:ext cx="8229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ENTREGABLE 04</a:t>
            </a:r>
            <a:endParaRPr/>
          </a:p>
        </p:txBody>
      </p:sp>
      <p:sp>
        <p:nvSpPr>
          <p:cNvPr id="438" name="Google Shape;438;p19"/>
          <p:cNvSpPr txBox="1"/>
          <p:nvPr/>
        </p:nvSpPr>
        <p:spPr>
          <a:xfrm>
            <a:off x="731520" y="2331720"/>
            <a:ext cx="7863840" cy="14630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3200" u="none" cap="none" strike="noStrike">
                <a:solidFill>
                  <a:srgbClr val="FFFFFF"/>
                </a:solidFill>
                <a:latin typeface="Quattrocento Sans"/>
                <a:ea typeface="Quattrocento Sans"/>
                <a:cs typeface="Quattrocento Sans"/>
                <a:sym typeface="Quattrocento Sans"/>
              </a:rPr>
              <a:t>Modelado de Procesos AS-IS / TO-BE</a:t>
            </a:r>
            <a:endParaRPr/>
          </a:p>
        </p:txBody>
      </p:sp>
      <p:sp>
        <p:nvSpPr>
          <p:cNvPr id="439" name="Google Shape;439;p19"/>
          <p:cNvSpPr txBox="1"/>
          <p:nvPr/>
        </p:nvSpPr>
        <p:spPr>
          <a:xfrm>
            <a:off x="731520" y="3794760"/>
            <a:ext cx="7863840"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9AA4DE"/>
                </a:solidFill>
                <a:latin typeface="Quattrocento Sans"/>
                <a:ea typeface="Quattrocento Sans"/>
                <a:cs typeface="Quattrocento Sans"/>
                <a:sym typeface="Quattrocento Sans"/>
              </a:rPr>
              <a:t>Proceso analizado: matrícula de un alumno a un ciclo/grupo</a:t>
            </a:r>
            <a:endParaRPr/>
          </a:p>
        </p:txBody>
      </p:sp>
      <p:sp>
        <p:nvSpPr>
          <p:cNvPr id="440" name="Google Shape;440;p19"/>
          <p:cNvSpPr/>
          <p:nvPr/>
        </p:nvSpPr>
        <p:spPr>
          <a:xfrm>
            <a:off x="731520" y="4434840"/>
            <a:ext cx="2926080" cy="12700"/>
          </a:xfrm>
          <a:prstGeom prst="rect">
            <a:avLst/>
          </a:prstGeom>
          <a:solidFill>
            <a:srgbClr val="333C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1" name="Google Shape;441;p19"/>
          <p:cNvSpPr txBox="1"/>
          <p:nvPr/>
        </p:nvSpPr>
        <p:spPr>
          <a:xfrm>
            <a:off x="731520" y="4617720"/>
            <a:ext cx="3657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EXPONE</a:t>
            </a:r>
            <a:endParaRPr/>
          </a:p>
        </p:txBody>
      </p:sp>
      <p:sp>
        <p:nvSpPr>
          <p:cNvPr id="442" name="Google Shape;442;p19"/>
          <p:cNvSpPr txBox="1"/>
          <p:nvPr/>
        </p:nvSpPr>
        <p:spPr>
          <a:xfrm>
            <a:off x="731520" y="4892040"/>
            <a:ext cx="4572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Gladys Rosaura Yana Pari</a:t>
            </a:r>
            <a:endParaRPr/>
          </a:p>
        </p:txBody>
      </p:sp>
      <p:sp>
        <p:nvSpPr>
          <p:cNvPr id="443" name="Google Shape;443;p19"/>
          <p:cNvSpPr txBox="1"/>
          <p:nvPr/>
        </p:nvSpPr>
        <p:spPr>
          <a:xfrm>
            <a:off x="5669280" y="4617720"/>
            <a:ext cx="2743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8B96E0"/>
                </a:solidFill>
                <a:latin typeface="Quattrocento Sans"/>
                <a:ea typeface="Quattrocento Sans"/>
                <a:cs typeface="Quattrocento Sans"/>
                <a:sym typeface="Quattrocento Sans"/>
              </a:rPr>
              <a:t>TIEMPO ASIGNADO</a:t>
            </a:r>
            <a:endParaRPr/>
          </a:p>
        </p:txBody>
      </p:sp>
      <p:sp>
        <p:nvSpPr>
          <p:cNvPr id="444" name="Google Shape;444;p19"/>
          <p:cNvSpPr txBox="1"/>
          <p:nvPr/>
        </p:nvSpPr>
        <p:spPr>
          <a:xfrm>
            <a:off x="5669280" y="4892040"/>
            <a:ext cx="27432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Quattrocento Sans"/>
                <a:ea typeface="Quattrocento Sans"/>
                <a:cs typeface="Quattrocento Sans"/>
                <a:sym typeface="Quattrocento Sans"/>
              </a:rPr>
              <a:t>2:35</a:t>
            </a:r>
            <a:endParaRPr/>
          </a:p>
        </p:txBody>
      </p:sp>
      <p:sp>
        <p:nvSpPr>
          <p:cNvPr id="445" name="Google Shape;445;p19"/>
          <p:cNvSpPr txBox="1"/>
          <p:nvPr/>
        </p:nvSpPr>
        <p:spPr>
          <a:xfrm>
            <a:off x="9326880" y="1463040"/>
            <a:ext cx="2377440" cy="2743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4000" u="none" cap="none" strike="noStrike">
                <a:solidFill>
                  <a:srgbClr val="2C3576"/>
                </a:solidFill>
                <a:latin typeface="Georgia"/>
                <a:ea typeface="Georgia"/>
                <a:cs typeface="Georgia"/>
                <a:sym typeface="Georgia"/>
              </a:rPr>
              <a:t>04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450" name="Shape 450"/>
        <p:cNvGrpSpPr/>
        <p:nvPr/>
      </p:nvGrpSpPr>
      <p:grpSpPr>
        <a:xfrm>
          <a:off x="0" y="0"/>
          <a:ext cx="0" cy="0"/>
          <a:chOff x="0" y="0"/>
          <a:chExt cx="0" cy="0"/>
        </a:xfrm>
      </p:grpSpPr>
      <p:sp>
        <p:nvSpPr>
          <p:cNvPr id="451" name="Google Shape;451;p20"/>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E4 · 4.1 PROCESO ACTUAL (AS-IS)</a:t>
            </a:r>
            <a:endParaRPr/>
          </a:p>
        </p:txBody>
      </p:sp>
      <p:sp>
        <p:nvSpPr>
          <p:cNvPr id="452" name="Google Shape;452;p20"/>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Antes: todo manual, nada conectado</a:t>
            </a:r>
            <a:endParaRPr/>
          </a:p>
        </p:txBody>
      </p:sp>
      <p:sp>
        <p:nvSpPr>
          <p:cNvPr id="453" name="Google Shape;453;p20"/>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4" name="Google Shape;454;p20"/>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Gladys Rosaura Yana Pari   ·   ⏱ 45s</a:t>
            </a:r>
            <a:endParaRPr/>
          </a:p>
        </p:txBody>
      </p:sp>
      <p:sp>
        <p:nvSpPr>
          <p:cNvPr id="455" name="Google Shape;455;p20"/>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19 / 22</a:t>
            </a:r>
            <a:endParaRPr/>
          </a:p>
        </p:txBody>
      </p:sp>
      <p:sp>
        <p:nvSpPr>
          <p:cNvPr id="456" name="Google Shape;456;p20"/>
          <p:cNvSpPr/>
          <p:nvPr/>
        </p:nvSpPr>
        <p:spPr>
          <a:xfrm>
            <a:off x="73152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7" name="Google Shape;457;p20"/>
          <p:cNvSpPr/>
          <p:nvPr/>
        </p:nvSpPr>
        <p:spPr>
          <a:xfrm>
            <a:off x="73152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8" name="Google Shape;458;p20"/>
          <p:cNvSpPr txBox="1"/>
          <p:nvPr/>
        </p:nvSpPr>
        <p:spPr>
          <a:xfrm>
            <a:off x="84124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Padre/postulante</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consulta</a:t>
            </a:r>
            <a:endParaRPr/>
          </a:p>
        </p:txBody>
      </p:sp>
      <p:sp>
        <p:nvSpPr>
          <p:cNvPr id="459" name="Google Shape;459;p20"/>
          <p:cNvSpPr txBox="1"/>
          <p:nvPr/>
        </p:nvSpPr>
        <p:spPr>
          <a:xfrm>
            <a:off x="224790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60" name="Google Shape;460;p20"/>
          <p:cNvSpPr/>
          <p:nvPr/>
        </p:nvSpPr>
        <p:spPr>
          <a:xfrm>
            <a:off x="256794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1" name="Google Shape;461;p20"/>
          <p:cNvSpPr/>
          <p:nvPr/>
        </p:nvSpPr>
        <p:spPr>
          <a:xfrm>
            <a:off x="256794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2" name="Google Shape;462;p20"/>
          <p:cNvSpPr txBox="1"/>
          <p:nvPr/>
        </p:nvSpPr>
        <p:spPr>
          <a:xfrm>
            <a:off x="267766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Secretaría anota en</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cuaderno/Excel</a:t>
            </a:r>
            <a:endParaRPr/>
          </a:p>
        </p:txBody>
      </p:sp>
      <p:sp>
        <p:nvSpPr>
          <p:cNvPr id="463" name="Google Shape;463;p20"/>
          <p:cNvSpPr txBox="1"/>
          <p:nvPr/>
        </p:nvSpPr>
        <p:spPr>
          <a:xfrm>
            <a:off x="408432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64" name="Google Shape;464;p20"/>
          <p:cNvSpPr/>
          <p:nvPr/>
        </p:nvSpPr>
        <p:spPr>
          <a:xfrm>
            <a:off x="440436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5" name="Google Shape;465;p20"/>
          <p:cNvSpPr/>
          <p:nvPr/>
        </p:nvSpPr>
        <p:spPr>
          <a:xfrm>
            <a:off x="440436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6" name="Google Shape;466;p20"/>
          <p:cNvSpPr txBox="1"/>
          <p:nvPr/>
        </p:nvSpPr>
        <p:spPr>
          <a:xfrm>
            <a:off x="451408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Verificación manual</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de cupo</a:t>
            </a:r>
            <a:endParaRPr/>
          </a:p>
        </p:txBody>
      </p:sp>
      <p:sp>
        <p:nvSpPr>
          <p:cNvPr id="467" name="Google Shape;467;p20"/>
          <p:cNvSpPr txBox="1"/>
          <p:nvPr/>
        </p:nvSpPr>
        <p:spPr>
          <a:xfrm>
            <a:off x="592074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68" name="Google Shape;468;p20"/>
          <p:cNvSpPr/>
          <p:nvPr/>
        </p:nvSpPr>
        <p:spPr>
          <a:xfrm>
            <a:off x="624078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9" name="Google Shape;469;p20"/>
          <p:cNvSpPr/>
          <p:nvPr/>
        </p:nvSpPr>
        <p:spPr>
          <a:xfrm>
            <a:off x="624078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0" name="Google Shape;470;p20"/>
          <p:cNvSpPr txBox="1"/>
          <p:nvPr/>
        </p:nvSpPr>
        <p:spPr>
          <a:xfrm>
            <a:off x="635050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Pago en efectivo +</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recibo físico</a:t>
            </a:r>
            <a:endParaRPr/>
          </a:p>
        </p:txBody>
      </p:sp>
      <p:sp>
        <p:nvSpPr>
          <p:cNvPr id="471" name="Google Shape;471;p20"/>
          <p:cNvSpPr txBox="1"/>
          <p:nvPr/>
        </p:nvSpPr>
        <p:spPr>
          <a:xfrm>
            <a:off x="775716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72" name="Google Shape;472;p20"/>
          <p:cNvSpPr/>
          <p:nvPr/>
        </p:nvSpPr>
        <p:spPr>
          <a:xfrm>
            <a:off x="807720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3" name="Google Shape;473;p20"/>
          <p:cNvSpPr/>
          <p:nvPr/>
        </p:nvSpPr>
        <p:spPr>
          <a:xfrm>
            <a:off x="807720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4" name="Google Shape;474;p20"/>
          <p:cNvSpPr txBox="1"/>
          <p:nvPr/>
        </p:nvSpPr>
        <p:spPr>
          <a:xfrm>
            <a:off x="818692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Dirección aprueba</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presencialmente</a:t>
            </a:r>
            <a:endParaRPr/>
          </a:p>
        </p:txBody>
      </p:sp>
      <p:sp>
        <p:nvSpPr>
          <p:cNvPr id="475" name="Google Shape;475;p20"/>
          <p:cNvSpPr txBox="1"/>
          <p:nvPr/>
        </p:nvSpPr>
        <p:spPr>
          <a:xfrm>
            <a:off x="959358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76" name="Google Shape;476;p20"/>
          <p:cNvSpPr/>
          <p:nvPr/>
        </p:nvSpPr>
        <p:spPr>
          <a:xfrm>
            <a:off x="991362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7" name="Google Shape;477;p20"/>
          <p:cNvSpPr/>
          <p:nvPr/>
        </p:nvSpPr>
        <p:spPr>
          <a:xfrm>
            <a:off x="9913620" y="2011680"/>
            <a:ext cx="45720" cy="86868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8" name="Google Shape;478;p20"/>
          <p:cNvSpPr txBox="1"/>
          <p:nvPr/>
        </p:nvSpPr>
        <p:spPr>
          <a:xfrm>
            <a:off x="1002334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Matriculado sin</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confirmación digital</a:t>
            </a:r>
            <a:endParaRPr/>
          </a:p>
        </p:txBody>
      </p:sp>
      <p:sp>
        <p:nvSpPr>
          <p:cNvPr id="479" name="Google Shape;479;p20"/>
          <p:cNvSpPr/>
          <p:nvPr/>
        </p:nvSpPr>
        <p:spPr>
          <a:xfrm>
            <a:off x="731520" y="3383280"/>
            <a:ext cx="10698480" cy="17373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0" name="Google Shape;480;p20"/>
          <p:cNvSpPr/>
          <p:nvPr/>
        </p:nvSpPr>
        <p:spPr>
          <a:xfrm>
            <a:off x="731520" y="3383280"/>
            <a:ext cx="54864" cy="173736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1" name="Google Shape;481;p20"/>
          <p:cNvSpPr txBox="1"/>
          <p:nvPr/>
        </p:nvSpPr>
        <p:spPr>
          <a:xfrm>
            <a:off x="896112" y="3493008"/>
            <a:ext cx="1036929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PROBLEMAS DETECTADOS</a:t>
            </a:r>
            <a:endParaRPr/>
          </a:p>
        </p:txBody>
      </p:sp>
      <p:sp>
        <p:nvSpPr>
          <p:cNvPr id="482" name="Google Shape;482;p20"/>
          <p:cNvSpPr txBox="1"/>
          <p:nvPr/>
        </p:nvSpPr>
        <p:spPr>
          <a:xfrm>
            <a:off x="896112" y="3767328"/>
            <a:ext cx="10369296" cy="12344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Duplicidad de registros, riesgo real de sobre-cupo (dos registros manuales pueden desincronizarse), pago desconectado del estado de matrícula, nula trazabilidad para auditoría.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487" name="Shape 487"/>
        <p:cNvGrpSpPr/>
        <p:nvPr/>
      </p:nvGrpSpPr>
      <p:grpSpPr>
        <a:xfrm>
          <a:off x="0" y="0"/>
          <a:ext cx="0" cy="0"/>
          <a:chOff x="0" y="0"/>
          <a:chExt cx="0" cy="0"/>
        </a:xfrm>
      </p:grpSpPr>
      <p:sp>
        <p:nvSpPr>
          <p:cNvPr id="488" name="Google Shape;488;p21"/>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E4 · 4.2 PROCESO PROPUESTO (TO-BE)</a:t>
            </a:r>
            <a:endParaRPr/>
          </a:p>
        </p:txBody>
      </p:sp>
      <p:sp>
        <p:nvSpPr>
          <p:cNvPr id="489" name="Google Shape;489;p21"/>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Ahora: validación automática de principio a fin</a:t>
            </a:r>
            <a:endParaRPr/>
          </a:p>
        </p:txBody>
      </p:sp>
      <p:sp>
        <p:nvSpPr>
          <p:cNvPr id="490" name="Google Shape;490;p21"/>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1" name="Google Shape;491;p21"/>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Gladys Rosaura Yana Pari   ·   ⏱ 50s</a:t>
            </a:r>
            <a:endParaRPr/>
          </a:p>
        </p:txBody>
      </p:sp>
      <p:sp>
        <p:nvSpPr>
          <p:cNvPr id="492" name="Google Shape;492;p21"/>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20 / 22</a:t>
            </a:r>
            <a:endParaRPr/>
          </a:p>
        </p:txBody>
      </p:sp>
      <p:sp>
        <p:nvSpPr>
          <p:cNvPr id="493" name="Google Shape;493;p21"/>
          <p:cNvSpPr/>
          <p:nvPr/>
        </p:nvSpPr>
        <p:spPr>
          <a:xfrm>
            <a:off x="73152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4" name="Google Shape;494;p21"/>
          <p:cNvSpPr/>
          <p:nvPr/>
        </p:nvSpPr>
        <p:spPr>
          <a:xfrm>
            <a:off x="73152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5" name="Google Shape;495;p21"/>
          <p:cNvSpPr txBox="1"/>
          <p:nvPr/>
        </p:nvSpPr>
        <p:spPr>
          <a:xfrm>
            <a:off x="84124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Pre-matrícula</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pública en línea</a:t>
            </a:r>
            <a:endParaRPr/>
          </a:p>
        </p:txBody>
      </p:sp>
      <p:sp>
        <p:nvSpPr>
          <p:cNvPr id="496" name="Google Shape;496;p21"/>
          <p:cNvSpPr txBox="1"/>
          <p:nvPr/>
        </p:nvSpPr>
        <p:spPr>
          <a:xfrm>
            <a:off x="224790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497" name="Google Shape;497;p21"/>
          <p:cNvSpPr/>
          <p:nvPr/>
        </p:nvSpPr>
        <p:spPr>
          <a:xfrm>
            <a:off x="256794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8" name="Google Shape;498;p21"/>
          <p:cNvSpPr/>
          <p:nvPr/>
        </p:nvSpPr>
        <p:spPr>
          <a:xfrm>
            <a:off x="256794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9" name="Google Shape;499;p21"/>
          <p:cNvSpPr txBox="1"/>
          <p:nvPr/>
        </p:nvSpPr>
        <p:spPr>
          <a:xfrm>
            <a:off x="267766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Validación automática:</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ciclo abierto + cupo</a:t>
            </a:r>
            <a:endParaRPr/>
          </a:p>
        </p:txBody>
      </p:sp>
      <p:sp>
        <p:nvSpPr>
          <p:cNvPr id="500" name="Google Shape;500;p21"/>
          <p:cNvSpPr txBox="1"/>
          <p:nvPr/>
        </p:nvSpPr>
        <p:spPr>
          <a:xfrm>
            <a:off x="408432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501" name="Google Shape;501;p21"/>
          <p:cNvSpPr/>
          <p:nvPr/>
        </p:nvSpPr>
        <p:spPr>
          <a:xfrm>
            <a:off x="440436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2" name="Google Shape;502;p21"/>
          <p:cNvSpPr/>
          <p:nvPr/>
        </p:nvSpPr>
        <p:spPr>
          <a:xfrm>
            <a:off x="440436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3" name="Google Shape;503;p21"/>
          <p:cNvSpPr txBox="1"/>
          <p:nvPr/>
        </p:nvSpPr>
        <p:spPr>
          <a:xfrm>
            <a:off x="451408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Registro</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'pendiente'</a:t>
            </a:r>
            <a:endParaRPr/>
          </a:p>
        </p:txBody>
      </p:sp>
      <p:sp>
        <p:nvSpPr>
          <p:cNvPr id="504" name="Google Shape;504;p21"/>
          <p:cNvSpPr txBox="1"/>
          <p:nvPr/>
        </p:nvSpPr>
        <p:spPr>
          <a:xfrm>
            <a:off x="592074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505" name="Google Shape;505;p21"/>
          <p:cNvSpPr/>
          <p:nvPr/>
        </p:nvSpPr>
        <p:spPr>
          <a:xfrm>
            <a:off x="624078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6" name="Google Shape;506;p21"/>
          <p:cNvSpPr/>
          <p:nvPr/>
        </p:nvSpPr>
        <p:spPr>
          <a:xfrm>
            <a:off x="624078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7" name="Google Shape;507;p21"/>
          <p:cNvSpPr txBox="1"/>
          <p:nvPr/>
        </p:nvSpPr>
        <p:spPr>
          <a:xfrm>
            <a:off x="635050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Admin revisa y</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aprueba en el panel</a:t>
            </a:r>
            <a:endParaRPr/>
          </a:p>
        </p:txBody>
      </p:sp>
      <p:sp>
        <p:nvSpPr>
          <p:cNvPr id="508" name="Google Shape;508;p21"/>
          <p:cNvSpPr txBox="1"/>
          <p:nvPr/>
        </p:nvSpPr>
        <p:spPr>
          <a:xfrm>
            <a:off x="775716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509" name="Google Shape;509;p21"/>
          <p:cNvSpPr/>
          <p:nvPr/>
        </p:nvSpPr>
        <p:spPr>
          <a:xfrm>
            <a:off x="807720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0" name="Google Shape;510;p21"/>
          <p:cNvSpPr/>
          <p:nvPr/>
        </p:nvSpPr>
        <p:spPr>
          <a:xfrm>
            <a:off x="807720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1" name="Google Shape;511;p21"/>
          <p:cNvSpPr txBox="1"/>
          <p:nvPr/>
        </p:nvSpPr>
        <p:spPr>
          <a:xfrm>
            <a:off x="818692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Pago con</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trazabilidad de cuotas</a:t>
            </a:r>
            <a:endParaRPr/>
          </a:p>
        </p:txBody>
      </p:sp>
      <p:sp>
        <p:nvSpPr>
          <p:cNvPr id="512" name="Google Shape;512;p21"/>
          <p:cNvSpPr txBox="1"/>
          <p:nvPr/>
        </p:nvSpPr>
        <p:spPr>
          <a:xfrm>
            <a:off x="9593580" y="2011680"/>
            <a:ext cx="320040" cy="8686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400" u="none" cap="none" strike="noStrike">
                <a:solidFill>
                  <a:srgbClr val="454F78"/>
                </a:solidFill>
                <a:latin typeface="Quattrocento Sans"/>
                <a:ea typeface="Quattrocento Sans"/>
                <a:cs typeface="Quattrocento Sans"/>
                <a:sym typeface="Quattrocento Sans"/>
              </a:rPr>
              <a:t>→</a:t>
            </a:r>
            <a:endParaRPr/>
          </a:p>
        </p:txBody>
      </p:sp>
      <p:sp>
        <p:nvSpPr>
          <p:cNvPr id="513" name="Google Shape;513;p21"/>
          <p:cNvSpPr/>
          <p:nvPr/>
        </p:nvSpPr>
        <p:spPr>
          <a:xfrm>
            <a:off x="9913620" y="2011680"/>
            <a:ext cx="1516380" cy="86868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4" name="Google Shape;514;p21"/>
          <p:cNvSpPr/>
          <p:nvPr/>
        </p:nvSpPr>
        <p:spPr>
          <a:xfrm>
            <a:off x="9913620" y="2011680"/>
            <a:ext cx="45720" cy="86868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5" name="Google Shape;515;p21"/>
          <p:cNvSpPr txBox="1"/>
          <p:nvPr/>
        </p:nvSpPr>
        <p:spPr>
          <a:xfrm>
            <a:off x="10023348" y="2084832"/>
            <a:ext cx="1296924" cy="72237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Activación automática</a:t>
            </a:r>
            <a:endParaRPr/>
          </a:p>
          <a:p>
            <a:pPr indent="0" lvl="0" marL="0" marR="0" rtl="0" algn="l">
              <a:lnSpc>
                <a:spcPct val="105000"/>
              </a:lnSpc>
              <a:spcBef>
                <a:spcPts val="0"/>
              </a:spcBef>
              <a:spcAft>
                <a:spcPts val="0"/>
              </a:spcAft>
              <a:buNone/>
            </a:pPr>
            <a:r>
              <a:rPr b="0" i="0" lang="en-US" sz="1019" u="none" cap="none" strike="noStrike">
                <a:solidFill>
                  <a:srgbClr val="1B2559"/>
                </a:solidFill>
                <a:latin typeface="Quattrocento Sans"/>
                <a:ea typeface="Quattrocento Sans"/>
                <a:cs typeface="Quattrocento Sans"/>
                <a:sym typeface="Quattrocento Sans"/>
              </a:rPr>
              <a:t>+ código al padre</a:t>
            </a:r>
            <a:endParaRPr/>
          </a:p>
        </p:txBody>
      </p:sp>
      <p:sp>
        <p:nvSpPr>
          <p:cNvPr id="516" name="Google Shape;516;p21"/>
          <p:cNvSpPr/>
          <p:nvPr/>
        </p:nvSpPr>
        <p:spPr>
          <a:xfrm>
            <a:off x="731520" y="3383280"/>
            <a:ext cx="10698480" cy="17373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7" name="Google Shape;517;p21"/>
          <p:cNvSpPr/>
          <p:nvPr/>
        </p:nvSpPr>
        <p:spPr>
          <a:xfrm>
            <a:off x="731520" y="3383280"/>
            <a:ext cx="54864" cy="173736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8" name="Google Shape;518;p21"/>
          <p:cNvSpPr txBox="1"/>
          <p:nvPr/>
        </p:nvSpPr>
        <p:spPr>
          <a:xfrm>
            <a:off x="896112" y="3493008"/>
            <a:ext cx="1036929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AUTOMATIZACIONES INCORPORADAS</a:t>
            </a:r>
            <a:endParaRPr/>
          </a:p>
        </p:txBody>
      </p:sp>
      <p:sp>
        <p:nvSpPr>
          <p:cNvPr id="519" name="Google Shape;519;p21"/>
          <p:cNvSpPr txBox="1"/>
          <p:nvPr/>
        </p:nvSpPr>
        <p:spPr>
          <a:xfrm>
            <a:off x="896112" y="3767328"/>
            <a:ext cx="10369296" cy="12344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350" u="none" cap="none" strike="noStrike">
                <a:solidFill>
                  <a:srgbClr val="1B2559"/>
                </a:solidFill>
                <a:latin typeface="Quattrocento Sans"/>
                <a:ea typeface="Quattrocento Sans"/>
                <a:cs typeface="Quattrocento Sans"/>
                <a:sym typeface="Quattrocento Sans"/>
              </a:rPr>
              <a:t>Validación transaccional de cupo (evita sobre-matrícula), deduplicación por alumno/ciclo, generación automática del acceso y del código de consulta de asistencia.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524" name="Shape 524"/>
        <p:cNvGrpSpPr/>
        <p:nvPr/>
      </p:nvGrpSpPr>
      <p:grpSpPr>
        <a:xfrm>
          <a:off x="0" y="0"/>
          <a:ext cx="0" cy="0"/>
          <a:chOff x="0" y="0"/>
          <a:chExt cx="0" cy="0"/>
        </a:xfrm>
      </p:grpSpPr>
      <p:sp>
        <p:nvSpPr>
          <p:cNvPr id="525" name="Google Shape;525;p22"/>
          <p:cNvSpPr txBox="1"/>
          <p:nvPr/>
        </p:nvSpPr>
        <p:spPr>
          <a:xfrm>
            <a:off x="731520" y="502920"/>
            <a:ext cx="96012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3B5BDB"/>
                </a:solidFill>
                <a:latin typeface="Quattrocento Sans"/>
                <a:ea typeface="Quattrocento Sans"/>
                <a:cs typeface="Quattrocento Sans"/>
                <a:sym typeface="Quattrocento Sans"/>
              </a:rPr>
              <a:t>E4 · 4.3 ANÁLISIS COMPARATIVO</a:t>
            </a:r>
            <a:endParaRPr/>
          </a:p>
        </p:txBody>
      </p:sp>
      <p:sp>
        <p:nvSpPr>
          <p:cNvPr id="526" name="Google Shape;526;p22"/>
          <p:cNvSpPr txBox="1"/>
          <p:nvPr/>
        </p:nvSpPr>
        <p:spPr>
          <a:xfrm>
            <a:off x="731520" y="841248"/>
            <a:ext cx="10607040" cy="9144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0" i="0" lang="en-US" sz="2300" u="none" cap="none" strike="noStrike">
                <a:solidFill>
                  <a:srgbClr val="1B2559"/>
                </a:solidFill>
                <a:latin typeface="Quattrocento Sans"/>
                <a:ea typeface="Quattrocento Sans"/>
                <a:cs typeface="Quattrocento Sans"/>
                <a:sym typeface="Quattrocento Sans"/>
              </a:rPr>
              <a:t>La mejora, en cuatro dimensiones</a:t>
            </a:r>
            <a:endParaRPr/>
          </a:p>
        </p:txBody>
      </p:sp>
      <p:sp>
        <p:nvSpPr>
          <p:cNvPr id="527" name="Google Shape;527;p22"/>
          <p:cNvSpPr/>
          <p:nvPr/>
        </p:nvSpPr>
        <p:spPr>
          <a:xfrm>
            <a:off x="731520" y="1627632"/>
            <a:ext cx="10698480" cy="15240"/>
          </a:xfrm>
          <a:prstGeom prst="rect">
            <a:avLst/>
          </a:prstGeom>
          <a:solidFill>
            <a:srgbClr val="3B5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8" name="Google Shape;528;p22"/>
          <p:cNvSpPr txBox="1"/>
          <p:nvPr/>
        </p:nvSpPr>
        <p:spPr>
          <a:xfrm>
            <a:off x="502920" y="6473952"/>
            <a:ext cx="77724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Expone: Gladys Rosaura Yana Pari   ·   ⏱ 45s</a:t>
            </a:r>
            <a:endParaRPr/>
          </a:p>
        </p:txBody>
      </p:sp>
      <p:sp>
        <p:nvSpPr>
          <p:cNvPr id="529" name="Google Shape;529;p22"/>
          <p:cNvSpPr txBox="1"/>
          <p:nvPr/>
        </p:nvSpPr>
        <p:spPr>
          <a:xfrm>
            <a:off x="10881360" y="6473952"/>
            <a:ext cx="822960" cy="29260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1050" u="none" cap="none" strike="noStrike">
                <a:solidFill>
                  <a:srgbClr val="454F78"/>
                </a:solidFill>
                <a:latin typeface="Quattrocento Sans"/>
                <a:ea typeface="Quattrocento Sans"/>
                <a:cs typeface="Quattrocento Sans"/>
                <a:sym typeface="Quattrocento Sans"/>
              </a:rPr>
              <a:t>21 / 22</a:t>
            </a:r>
            <a:endParaRPr/>
          </a:p>
        </p:txBody>
      </p:sp>
      <p:graphicFrame>
        <p:nvGraphicFramePr>
          <p:cNvPr id="530" name="Google Shape;530;p22"/>
          <p:cNvGraphicFramePr/>
          <p:nvPr/>
        </p:nvGraphicFramePr>
        <p:xfrm>
          <a:off x="731520" y="1920240"/>
          <a:ext cx="3000000" cy="3000000"/>
        </p:xfrm>
        <a:graphic>
          <a:graphicData uri="http://schemas.openxmlformats.org/drawingml/2006/table">
            <a:tbl>
              <a:tblPr bandRow="1" firstRow="1">
                <a:noFill/>
                <a:tableStyleId>{3B3AA868-564C-44F6-85B7-51580B655D98}</a:tableStyleId>
              </a:tblPr>
              <a:tblGrid>
                <a:gridCol w="3017525"/>
                <a:gridCol w="2377450"/>
                <a:gridCol w="2377450"/>
                <a:gridCol w="2926075"/>
              </a:tblGrid>
              <a:tr h="548650">
                <a:tc>
                  <a:txBody>
                    <a:bodyPr/>
                    <a:lstStyle/>
                    <a:p>
                      <a:pPr indent="0" lvl="0" marL="0" marR="0" rtl="0" algn="l">
                        <a:spcBef>
                          <a:spcPts val="0"/>
                        </a:spcBef>
                        <a:spcAft>
                          <a:spcPts val="0"/>
                        </a:spcAft>
                        <a:buNone/>
                      </a:pPr>
                      <a:r>
                        <a:rPr b="1" lang="en-US" sz="1150" u="none" cap="none" strike="noStrike">
                          <a:solidFill>
                            <a:srgbClr val="FFFFFF"/>
                          </a:solidFill>
                          <a:latin typeface="Quattrocento Sans"/>
                          <a:ea typeface="Quattrocento Sans"/>
                          <a:cs typeface="Quattrocento Sans"/>
                          <a:sym typeface="Quattrocento Sans"/>
                        </a:rPr>
                        <a:t>Dimensión</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50" u="none" cap="none" strike="noStrike">
                          <a:solidFill>
                            <a:srgbClr val="FFFFFF"/>
                          </a:solidFill>
                          <a:latin typeface="Quattrocento Sans"/>
                          <a:ea typeface="Quattrocento Sans"/>
                          <a:cs typeface="Quattrocento Sans"/>
                          <a:sym typeface="Quattrocento Sans"/>
                        </a:rPr>
                        <a:t>AS-IS</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50" u="none" cap="none" strike="noStrike">
                          <a:solidFill>
                            <a:srgbClr val="FFFFFF"/>
                          </a:solidFill>
                          <a:latin typeface="Quattrocento Sans"/>
                          <a:ea typeface="Quattrocento Sans"/>
                          <a:cs typeface="Quattrocento Sans"/>
                          <a:sym typeface="Quattrocento Sans"/>
                        </a:rPr>
                        <a:t>TO-BE</a:t>
                      </a:r>
                      <a:endParaRPr/>
                    </a:p>
                  </a:txBody>
                  <a:tcPr marT="50800" marB="50800" marR="76200" marL="76200" anchor="ctr">
                    <a:solidFill>
                      <a:srgbClr val="1B2559"/>
                    </a:solidFill>
                  </a:tcPr>
                </a:tc>
                <a:tc>
                  <a:txBody>
                    <a:bodyPr/>
                    <a:lstStyle/>
                    <a:p>
                      <a:pPr indent="0" lvl="0" marL="0" marR="0" rtl="0" algn="l">
                        <a:spcBef>
                          <a:spcPts val="0"/>
                        </a:spcBef>
                        <a:spcAft>
                          <a:spcPts val="0"/>
                        </a:spcAft>
                        <a:buNone/>
                      </a:pPr>
                      <a:r>
                        <a:rPr b="1" lang="en-US" sz="1150" u="none" cap="none" strike="noStrike">
                          <a:solidFill>
                            <a:srgbClr val="FFFFFF"/>
                          </a:solidFill>
                          <a:latin typeface="Quattrocento Sans"/>
                          <a:ea typeface="Quattrocento Sans"/>
                          <a:cs typeface="Quattrocento Sans"/>
                          <a:sym typeface="Quattrocento Sans"/>
                        </a:rPr>
                        <a:t>Mejora</a:t>
                      </a:r>
                      <a:endParaRPr/>
                    </a:p>
                  </a:txBody>
                  <a:tcPr marT="50800" marB="50800" marR="76200" marL="76200" anchor="ctr">
                    <a:solidFill>
                      <a:srgbClr val="1B2559"/>
                    </a:solidFill>
                  </a:tcPr>
                </a:tc>
              </a:tr>
              <a:tr h="548650">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Tiempo de confirmación</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Horas a días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Minutos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Reducción drástica de espera</a:t>
                      </a:r>
                      <a:endParaRPr/>
                    </a:p>
                  </a:txBody>
                  <a:tcPr marT="50800" marB="50800" marR="76200" marL="76200" anchor="ctr">
                    <a:solidFill>
                      <a:srgbClr val="FFFFFF"/>
                    </a:solidFill>
                  </a:tcPr>
                </a:tc>
              </a:tr>
              <a:tr h="548650">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Riesgo de sobre-cupo</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Real</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Eliminado</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Mejora de confiabilidad</a:t>
                      </a:r>
                      <a:endParaRPr/>
                    </a:p>
                  </a:txBody>
                  <a:tcPr marT="50800" marB="50800" marR="76200" marL="76200" anchor="ctr">
                    <a:solidFill>
                      <a:srgbClr val="FFFFFF"/>
                    </a:solidFill>
                  </a:tcPr>
                </a:tc>
              </a:tr>
              <a:tr h="548650">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Trazabilidad de pagos</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Desconectada</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Vinculada 1:1</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Mejora de auditoría</a:t>
                      </a:r>
                      <a:endParaRPr/>
                    </a:p>
                  </a:txBody>
                  <a:tcPr marT="50800" marB="50800" marR="76200" marL="76200" anchor="ctr">
                    <a:solidFill>
                      <a:srgbClr val="FFFFFF"/>
                    </a:solidFill>
                  </a:tcPr>
                </a:tc>
              </a:tr>
              <a:tr h="548650">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Confirmación al padre</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Ninguna formal</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Automática</a:t>
                      </a:r>
                      <a:endParaRPr/>
                    </a:p>
                  </a:txBody>
                  <a:tcPr marT="50800" marB="50800" marR="76200" marL="76200" anchor="ctr">
                    <a:solidFill>
                      <a:srgbClr val="FFFFFF"/>
                    </a:solidFill>
                  </a:tcPr>
                </a:tc>
                <a:tc>
                  <a:txBody>
                    <a:bodyPr/>
                    <a:lstStyle/>
                    <a:p>
                      <a:pPr indent="0" lvl="0" marL="0" marR="0" rtl="0" algn="l">
                        <a:spcBef>
                          <a:spcPts val="0"/>
                        </a:spcBef>
                        <a:spcAft>
                          <a:spcPts val="0"/>
                        </a:spcAft>
                        <a:buNone/>
                      </a:pPr>
                      <a:r>
                        <a:rPr b="0" lang="en-US" sz="1200" u="none" cap="none" strike="noStrike">
                          <a:solidFill>
                            <a:srgbClr val="1B2559"/>
                          </a:solidFill>
                          <a:latin typeface="Quattrocento Sans"/>
                          <a:ea typeface="Quattrocento Sans"/>
                          <a:cs typeface="Quattrocento Sans"/>
                          <a:sym typeface="Quattrocento Sans"/>
                        </a:rPr>
                        <a:t>Menos llamadas a secretaría</a:t>
                      </a:r>
                      <a:endParaRPr/>
                    </a:p>
                  </a:txBody>
                  <a:tcPr marT="50800" marB="50800" marR="76200" marL="76200" anchor="ctr">
                    <a:solidFill>
                      <a:srgbClr val="FFFFFF"/>
                    </a:solidFill>
                  </a:tcPr>
                </a:tc>
              </a:tr>
            </a:tbl>
          </a:graphicData>
        </a:graphic>
      </p:graphicFrame>
      <p:sp>
        <p:nvSpPr>
          <p:cNvPr id="531" name="Google Shape;531;p22"/>
          <p:cNvSpPr/>
          <p:nvPr/>
        </p:nvSpPr>
        <p:spPr>
          <a:xfrm>
            <a:off x="731520" y="4846320"/>
            <a:ext cx="3291840" cy="10515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2" name="Google Shape;532;p22"/>
          <p:cNvSpPr/>
          <p:nvPr/>
        </p:nvSpPr>
        <p:spPr>
          <a:xfrm>
            <a:off x="731520" y="4846320"/>
            <a:ext cx="54864" cy="105156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3" name="Google Shape;533;p22"/>
          <p:cNvSpPr txBox="1"/>
          <p:nvPr/>
        </p:nvSpPr>
        <p:spPr>
          <a:xfrm>
            <a:off x="896112" y="4956048"/>
            <a:ext cx="29626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META</a:t>
            </a:r>
            <a:endParaRPr/>
          </a:p>
        </p:txBody>
      </p:sp>
      <p:sp>
        <p:nvSpPr>
          <p:cNvPr id="534" name="Google Shape;534;p22"/>
          <p:cNvSpPr txBox="1"/>
          <p:nvPr/>
        </p:nvSpPr>
        <p:spPr>
          <a:xfrm>
            <a:off x="896112" y="5230368"/>
            <a:ext cx="2962656" cy="5486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400" u="none" cap="none" strike="noStrike">
                <a:solidFill>
                  <a:srgbClr val="1B2559"/>
                </a:solidFill>
                <a:latin typeface="Quattrocento Sans"/>
                <a:ea typeface="Quattrocento Sans"/>
                <a:cs typeface="Quattrocento Sans"/>
                <a:sym typeface="Quattrocento Sans"/>
              </a:rPr>
              <a:t>0 incidentes de sobre-cupo</a:t>
            </a:r>
            <a:endParaRPr/>
          </a:p>
        </p:txBody>
      </p:sp>
      <p:sp>
        <p:nvSpPr>
          <p:cNvPr id="535" name="Google Shape;535;p22"/>
          <p:cNvSpPr/>
          <p:nvPr/>
        </p:nvSpPr>
        <p:spPr>
          <a:xfrm>
            <a:off x="4206240" y="4846320"/>
            <a:ext cx="3291840" cy="1051560"/>
          </a:xfrm>
          <a:prstGeom prst="roundRect">
            <a:avLst>
              <a:gd fmla="val 4500" name="adj"/>
            </a:avLst>
          </a:prstGeom>
          <a:solidFill>
            <a:srgbClr val="FFFFFF"/>
          </a:solidFill>
          <a:ln cap="flat" cmpd="sng" w="9525">
            <a:solidFill>
              <a:srgbClr val="D8DCE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6" name="Google Shape;536;p22"/>
          <p:cNvSpPr/>
          <p:nvPr/>
        </p:nvSpPr>
        <p:spPr>
          <a:xfrm>
            <a:off x="4206240" y="4846320"/>
            <a:ext cx="54864" cy="1051560"/>
          </a:xfrm>
          <a:prstGeom prst="rect">
            <a:avLst/>
          </a:prstGeom>
          <a:solidFill>
            <a:srgbClr val="2F9E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7" name="Google Shape;537;p22"/>
          <p:cNvSpPr txBox="1"/>
          <p:nvPr/>
        </p:nvSpPr>
        <p:spPr>
          <a:xfrm>
            <a:off x="4370832" y="4956048"/>
            <a:ext cx="2962656"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454F78"/>
                </a:solidFill>
                <a:latin typeface="Quattrocento Sans"/>
                <a:ea typeface="Quattrocento Sans"/>
                <a:cs typeface="Quattrocento Sans"/>
                <a:sym typeface="Quattrocento Sans"/>
              </a:rPr>
              <a:t>ANTES VS. AHORA</a:t>
            </a:r>
            <a:endParaRPr/>
          </a:p>
        </p:txBody>
      </p:sp>
      <p:sp>
        <p:nvSpPr>
          <p:cNvPr id="538" name="Google Shape;538;p22"/>
          <p:cNvSpPr txBox="1"/>
          <p:nvPr/>
        </p:nvSpPr>
        <p:spPr>
          <a:xfrm>
            <a:off x="4370832" y="5230368"/>
            <a:ext cx="2962656" cy="5486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400" u="none" cap="none" strike="noStrike">
                <a:solidFill>
                  <a:srgbClr val="1B2559"/>
                </a:solidFill>
                <a:latin typeface="Quattrocento Sans"/>
                <a:ea typeface="Quattrocento Sans"/>
                <a:cs typeface="Quattrocento Sans"/>
                <a:sym typeface="Quattrocento Sans"/>
              </a:rPr>
              <a:t>Días → minutos, tiempo de aprobación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559"/>
        </a:solidFill>
      </p:bgPr>
    </p:bg>
    <p:spTree>
      <p:nvGrpSpPr>
        <p:cNvPr id="543" name="Shape 543"/>
        <p:cNvGrpSpPr/>
        <p:nvPr/>
      </p:nvGrpSpPr>
      <p:grpSpPr>
        <a:xfrm>
          <a:off x="0" y="0"/>
          <a:ext cx="0" cy="0"/>
          <a:chOff x="0" y="0"/>
          <a:chExt cx="0" cy="0"/>
        </a:xfrm>
      </p:grpSpPr>
      <p:sp>
        <p:nvSpPr>
          <p:cNvPr id="544" name="Google Shape;544;p23"/>
          <p:cNvSpPr txBox="1"/>
          <p:nvPr/>
        </p:nvSpPr>
        <p:spPr>
          <a:xfrm>
            <a:off x="731520" y="2103120"/>
            <a:ext cx="822960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AAB6FF"/>
                </a:solidFill>
                <a:latin typeface="Quattrocento Sans"/>
                <a:ea typeface="Quattrocento Sans"/>
                <a:cs typeface="Quattrocento Sans"/>
                <a:sym typeface="Quattrocento Sans"/>
              </a:rPr>
              <a:t>CIERRE · LÍNEA CE01</a:t>
            </a:r>
            <a:endParaRPr/>
          </a:p>
        </p:txBody>
      </p:sp>
      <p:sp>
        <p:nvSpPr>
          <p:cNvPr id="545" name="Google Shape;545;p23"/>
          <p:cNvSpPr txBox="1"/>
          <p:nvPr/>
        </p:nvSpPr>
        <p:spPr>
          <a:xfrm>
            <a:off x="731520" y="2514600"/>
            <a:ext cx="10058400" cy="11887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u="none" cap="none" strike="noStrike">
                <a:solidFill>
                  <a:srgbClr val="FFFFFF"/>
                </a:solidFill>
                <a:latin typeface="Quattrocento Sans"/>
                <a:ea typeface="Quattrocento Sans"/>
                <a:cs typeface="Quattrocento Sans"/>
                <a:sym typeface="Quattrocento Sans"/>
              </a:rPr>
              <a:t>De un diagnóstico honesto a un sistema que ya opera</a:t>
            </a:r>
            <a:endParaRPr/>
          </a:p>
        </p:txBody>
      </p:sp>
      <p:sp>
        <p:nvSpPr>
          <p:cNvPr id="546" name="Google Shape;546;p23"/>
          <p:cNvSpPr txBox="1"/>
          <p:nvPr/>
        </p:nvSpPr>
        <p:spPr>
          <a:xfrm>
            <a:off x="731520" y="3657600"/>
            <a:ext cx="9326880" cy="8229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u="none" cap="none" strike="noStrike">
                <a:solidFill>
                  <a:srgbClr val="9AA4DE"/>
                </a:solidFill>
                <a:latin typeface="Quattrocento Sans"/>
                <a:ea typeface="Quattrocento Sans"/>
                <a:cs typeface="Quattrocento Sans"/>
                <a:sym typeface="Quattrocento Sans"/>
              </a:rPr>
              <a:t>Diagnóstico, business case, plan de gestión y modelado de procesos: cuatro entregables que explican por qué se construyó la Plataforma CERMAT, no solo cómo.</a:t>
            </a:r>
            <a:endParaRPr/>
          </a:p>
        </p:txBody>
      </p:sp>
      <p:sp>
        <p:nvSpPr>
          <p:cNvPr id="547" name="Google Shape;547;p23"/>
          <p:cNvSpPr txBox="1"/>
          <p:nvPr/>
        </p:nvSpPr>
        <p:spPr>
          <a:xfrm>
            <a:off x="731520" y="4846320"/>
            <a:ext cx="91440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9AA4DE"/>
                </a:solidFill>
                <a:latin typeface="Quattrocento Sans"/>
                <a:ea typeface="Quattrocento Sans"/>
                <a:cs typeface="Quattrocento Sans"/>
                <a:sym typeface="Quattrocento Sans"/>
              </a:rPr>
              <a:t>Academia La Prepa Cermat · Azángaro, Perú · 9° ciclo · Perfil de Egreso 2026</a:t>
            </a:r>
            <a:endParaRPr/>
          </a:p>
        </p:txBody>
      </p:sp>
      <p:sp>
        <p:nvSpPr>
          <p:cNvPr id="548" name="Google Shape;548;p23"/>
          <p:cNvSpPr txBox="1"/>
          <p:nvPr/>
        </p:nvSpPr>
        <p:spPr>
          <a:xfrm>
            <a:off x="731520" y="5577840"/>
            <a:ext cx="73152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FFFFFF"/>
                </a:solidFill>
                <a:latin typeface="Quattrocento Sans"/>
                <a:ea typeface="Quattrocento Sans"/>
                <a:cs typeface="Quattrocento Sans"/>
                <a:sym typeface="Quattrocento Sans"/>
              </a:rPr>
              <a:t>Gracias. Quedamos atentos a sus preguntas.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